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4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95" r:id="rId17"/>
    <p:sldId id="296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9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8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181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78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79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 </a:t>
            </a:r>
          </a:p>
        </p:txBody>
      </p:sp>
      <p:sp>
        <p:nvSpPr>
          <p:cNvPr id="80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C7C2173C-2456-4E6E-A0EA-CF2198698655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pPr algn="r"/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http://win32assembly.programminghorizon.com/tutorials.html</a:t>
            </a:r>
          </a:p>
        </p:txBody>
      </p:sp>
      <p:sp>
        <p:nvSpPr>
          <p:cNvPr id="364" name="CustomShape 2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8597C3D6-B3F7-4036-9647-C4083FF6F165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3</a:t>
            </a:fld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Thanh ghi là một thành phần của CPU.</a:t>
            </a:r>
          </a:p>
        </p:txBody>
      </p:sp>
      <p:sp>
        <p:nvSpPr>
          <p:cNvPr id="366" name="CustomShape 2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72DDEACA-7813-45F0-A301-E7B8FD90FFE6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8</a:t>
            </a:fld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http://win32assembly.programminghorizon.com/tutorials.html</a:t>
            </a:r>
          </a:p>
        </p:txBody>
      </p:sp>
      <p:sp>
        <p:nvSpPr>
          <p:cNvPr id="368" name="CustomShape 2"/>
          <p:cNvSpPr/>
          <p:nvPr/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/>
          <a:lstStyle/>
          <a:p>
            <a:pPr algn="r">
              <a:lnSpc>
                <a:spcPct val="100000"/>
              </a:lnSpc>
            </a:pPr>
            <a:fld id="{279756A4-7F71-4B3F-B3B1-5EE51348DC74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+mn-lt"/>
                <a:ea typeface="+mn-ea"/>
              </a:rPr>
              <a:pPr algn="r">
                <a:lnSpc>
                  <a:spcPct val="100000"/>
                </a:lnSpc>
              </a:pPr>
              <a:t>11</a:t>
            </a:fld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648951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61614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96826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28598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57729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6878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845646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00734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2178115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781390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16979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160" cy="132480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/>
    <p:bodyStyle/>
    <p:otherStyle/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8C6C0-FA68-487D-B845-AC7BA33F8FFA}" type="datetimeFigureOut">
              <a:rPr lang="vi-VN" smtClean="0"/>
              <a:pPr/>
              <a:t>25/10/2024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26F4B-EF1E-4702-A67E-D10352F1FC4A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03868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?.@_$%25" TargetMode="Externa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ustomShape 1"/>
          <p:cNvSpPr/>
          <p:nvPr/>
        </p:nvSpPr>
        <p:spPr>
          <a:xfrm>
            <a:off x="307080" y="317160"/>
            <a:ext cx="8529120" cy="2386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rmAutofit fontScale="77500" lnSpcReduction="20000"/>
          </a:bodyPr>
          <a:lstStyle/>
          <a:p>
            <a:pPr algn="ctr">
              <a:lnSpc>
                <a:spcPct val="150000"/>
              </a:lnSpc>
            </a:pPr>
            <a:r>
              <a:rPr lang="en-US" sz="44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Công</a:t>
            </a:r>
            <a:r>
              <a:rPr lang="en-US" sz="44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ty </a:t>
            </a:r>
            <a:r>
              <a:rPr lang="en-US" sz="44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Bkav</a:t>
            </a:r>
            <a:r>
              <a:rPr lang="en-US" sz="44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Corporation</a:t>
            </a:r>
            <a:br>
              <a:rPr dirty="0"/>
            </a:br>
            <a:r>
              <a:rPr lang="en-US" sz="49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Phòng</a:t>
            </a:r>
            <a:r>
              <a:rPr lang="en-US" sz="49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9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nghiên</a:t>
            </a:r>
            <a:r>
              <a:rPr lang="en-US" sz="49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9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cứu</a:t>
            </a:r>
            <a:r>
              <a:rPr lang="en-US" sz="49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9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mã</a:t>
            </a:r>
            <a:r>
              <a:rPr lang="en-US" sz="4900" b="1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900" b="1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độc</a:t>
            </a:r>
            <a:r>
              <a:rPr lang="en-US" sz="4900" b="1" strike="noStrike" spc="-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AMC</a:t>
            </a:r>
            <a:endParaRPr lang="en-US" sz="4900" b="1" strike="noStrike" spc="-1" dirty="0">
              <a:solidFill>
                <a:srgbClr val="FF0000"/>
              </a:solidFill>
              <a:uFill>
                <a:solidFill>
                  <a:srgbClr val="FFFFFF"/>
                </a:solidFill>
              </a:uFill>
              <a:latin typeface="Calibri Light"/>
            </a:endParaRPr>
          </a:p>
          <a:p>
            <a:pPr algn="ctr">
              <a:lnSpc>
                <a:spcPct val="150000"/>
              </a:lnSpc>
            </a:pPr>
            <a:r>
              <a:rPr lang="en-US" sz="4900" b="1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Team Virus</a:t>
            </a:r>
            <a:endParaRPr lang="en-US" sz="49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2" name="CustomShape 2"/>
          <p:cNvSpPr/>
          <p:nvPr/>
        </p:nvSpPr>
        <p:spPr>
          <a:xfrm>
            <a:off x="992880" y="2704680"/>
            <a:ext cx="6857280" cy="3681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algn="ctr">
              <a:lnSpc>
                <a:spcPct val="200000"/>
              </a:lnSpc>
              <a:spcBef>
                <a:spcPts val="1001"/>
              </a:spcBef>
            </a:pPr>
            <a:r>
              <a:rPr lang="en-US" sz="4000" b="1" strike="noStrike" spc="-1">
                <a:solidFill>
                  <a:srgbClr val="2F5597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Chương trình đào tạo sinh viên</a:t>
            </a:r>
            <a:endParaRPr lang="en-US" sz="4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</a:pPr>
            <a:r>
              <a:rPr lang="en-US" sz="3200" b="1" strike="noStrike" spc="-1">
                <a:solidFill>
                  <a:srgbClr val="2F5597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Giai đoạn 1: Assemby 32 bit</a:t>
            </a:r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220000"/>
              </a:lnSpc>
              <a:spcBef>
                <a:spcPts val="1001"/>
              </a:spcBef>
            </a:pPr>
            <a:r>
              <a:rPr lang="en-US" sz="3600" b="0" strike="noStrike" spc="-1">
                <a:solidFill>
                  <a:srgbClr val="2F5597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Bài 1</a:t>
            </a:r>
            <a:endParaRPr lang="en-US" sz="3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609600" y="15240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Đặt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vấn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đề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609600" y="1219200"/>
            <a:ext cx="7886160" cy="4929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Assembly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là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gì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?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Tại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sao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phải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học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Assembly?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Học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xong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thì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có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làm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được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gì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?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Mục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tiêu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đào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tạo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assembly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của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AMC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là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gì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?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Là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ngôn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ngữ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lập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trình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bậc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thấp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Học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ASM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giúp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hiểu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rõ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hơn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về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cách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phần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cứng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máy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tính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hoạt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động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và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tương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tác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với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nhau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Có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thể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phân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tích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1 file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thực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mà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không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cần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có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mã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nguồn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gốc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-&gt;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xem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thuật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toán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hành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vi, crack, …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FF0000"/>
              </a:buClr>
              <a:buFont typeface="Wingdings" charset="2"/>
              <a:buChar char=""/>
            </a:pP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Hiểu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sâu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về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hệ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thống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,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phân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tích</a:t>
            </a:r>
            <a:r>
              <a:rPr lang="en-US" sz="2800" b="0" strike="noStrike" spc="-1" dirty="0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virus, ….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609480" y="365040"/>
            <a:ext cx="7904880" cy="103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Đặt vấn đề</a:t>
            </a:r>
            <a:br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609480" y="1523880"/>
            <a:ext cx="7904880" cy="465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7" name="CustomShape 3"/>
          <p:cNvSpPr/>
          <p:nvPr/>
        </p:nvSpPr>
        <p:spPr>
          <a:xfrm>
            <a:off x="609480" y="4830840"/>
            <a:ext cx="3123360" cy="608760"/>
          </a:xfrm>
          <a:prstGeom prst="rect">
            <a:avLst/>
          </a:prstGeom>
          <a:solidFill>
            <a:srgbClr val="CCECFF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Hardware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8" name="CustomShape 4"/>
          <p:cNvSpPr/>
          <p:nvPr/>
        </p:nvSpPr>
        <p:spPr>
          <a:xfrm>
            <a:off x="609480" y="3763800"/>
            <a:ext cx="3123360" cy="608760"/>
          </a:xfrm>
          <a:prstGeom prst="rect">
            <a:avLst/>
          </a:prstGeom>
          <a:solidFill>
            <a:srgbClr val="66FFCC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Machine language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9" name="CustomShape 5"/>
          <p:cNvSpPr/>
          <p:nvPr/>
        </p:nvSpPr>
        <p:spPr>
          <a:xfrm>
            <a:off x="609480" y="2620800"/>
            <a:ext cx="3123360" cy="608760"/>
          </a:xfrm>
          <a:prstGeom prst="rect">
            <a:avLst/>
          </a:prstGeom>
          <a:solidFill>
            <a:srgbClr val="0000FF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Assembly language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0" name="CustomShape 6"/>
          <p:cNvSpPr/>
          <p:nvPr/>
        </p:nvSpPr>
        <p:spPr>
          <a:xfrm>
            <a:off x="609480" y="1523880"/>
            <a:ext cx="3123360" cy="608760"/>
          </a:xfrm>
          <a:prstGeom prst="rect">
            <a:avLst/>
          </a:prstGeom>
          <a:solidFill>
            <a:srgbClr val="003366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High-level language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1" name="CustomShape 7"/>
          <p:cNvSpPr/>
          <p:nvPr/>
        </p:nvSpPr>
        <p:spPr>
          <a:xfrm>
            <a:off x="4476600" y="4830840"/>
            <a:ext cx="4037760" cy="531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Điều khiển vào ra, đọc ghi dữ liệu, 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thao tác với thanh ghi 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2" name="CustomShape 8"/>
          <p:cNvSpPr/>
          <p:nvPr/>
        </p:nvSpPr>
        <p:spPr>
          <a:xfrm>
            <a:off x="4476600" y="3763800"/>
            <a:ext cx="4037760" cy="79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10000100001000011110010101010011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11010100101001010010101010101010 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3" name="CustomShape 9"/>
          <p:cNvSpPr/>
          <p:nvPr/>
        </p:nvSpPr>
        <p:spPr>
          <a:xfrm>
            <a:off x="4476600" y="2527920"/>
            <a:ext cx="4037760" cy="79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xor	bx, bx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add	bx, 0Fh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4" name="CustomShape 10"/>
          <p:cNvSpPr/>
          <p:nvPr/>
        </p:nvSpPr>
        <p:spPr>
          <a:xfrm>
            <a:off x="4476600" y="1498320"/>
            <a:ext cx="4037760" cy="79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int i = 0;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i += 15;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Mục tiêu bài 1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Kiến trúc cơ bản của máy tính.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Các thành phần cơ bản của hợp ngữ: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Kiến trúc tập lệnh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Các lệnh cơ bản của hợp ngữ.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Cấu trúc lệnh rẽ nhánh, vòng lặp.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Cấu trúc một chương trình hợp ngữ cơ bản.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Wingdings" charset="2"/>
              <a:buChar char="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Sử dụng RadASM cơ bản.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Kiến trúc máy tính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Cấu trúc cơ bản của máy tính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99" name="Picture 3"/>
          <p:cNvPicPr/>
          <p:nvPr/>
        </p:nvPicPr>
        <p:blipFill>
          <a:blip r:embed="rId2"/>
          <a:stretch/>
        </p:blipFill>
        <p:spPr>
          <a:xfrm>
            <a:off x="940680" y="2902680"/>
            <a:ext cx="3085560" cy="2580480"/>
          </a:xfrm>
          <a:prstGeom prst="rect">
            <a:avLst/>
          </a:prstGeom>
          <a:ln>
            <a:noFill/>
          </a:ln>
        </p:spPr>
      </p:pic>
      <p:pic>
        <p:nvPicPr>
          <p:cNvPr id="100" name="Picture 4"/>
          <p:cNvPicPr/>
          <p:nvPr/>
        </p:nvPicPr>
        <p:blipFill>
          <a:blip r:embed="rId3"/>
          <a:stretch/>
        </p:blipFill>
        <p:spPr>
          <a:xfrm>
            <a:off x="4339080" y="2736000"/>
            <a:ext cx="4504680" cy="2913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Ví dụ: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628560" y="1825560"/>
            <a:ext cx="7886160" cy="4861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Yêu cầu: Nhập 2 số từ bàn phím, tính tổng và lưu kết quả vào file C:\a.txt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3" name="CustomShape 3"/>
          <p:cNvSpPr/>
          <p:nvPr/>
        </p:nvSpPr>
        <p:spPr>
          <a:xfrm>
            <a:off x="969120" y="2824920"/>
            <a:ext cx="2319480" cy="62712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Bàn phím nhập 1, 2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4" name="CustomShape 4"/>
          <p:cNvSpPr/>
          <p:nvPr/>
        </p:nvSpPr>
        <p:spPr>
          <a:xfrm>
            <a:off x="969120" y="3903120"/>
            <a:ext cx="2319480" cy="53172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Thực thiện 1 + 2 = 3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5" name="CustomShape 5"/>
          <p:cNvSpPr/>
          <p:nvPr/>
        </p:nvSpPr>
        <p:spPr>
          <a:xfrm>
            <a:off x="969120" y="4722120"/>
            <a:ext cx="2319480" cy="5997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Lưu kết quả là 3 vào bộ nhớ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6" name="CustomShape 6"/>
          <p:cNvSpPr/>
          <p:nvPr/>
        </p:nvSpPr>
        <p:spPr>
          <a:xfrm>
            <a:off x="969120" y="5772960"/>
            <a:ext cx="2319480" cy="61344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Ghi kết quả ra file C:\a.txt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7" name="CustomShape 7"/>
          <p:cNvSpPr/>
          <p:nvPr/>
        </p:nvSpPr>
        <p:spPr>
          <a:xfrm>
            <a:off x="5431680" y="2797920"/>
            <a:ext cx="2455920" cy="627120"/>
          </a:xfrm>
          <a:prstGeom prst="ellipse">
            <a:avLst/>
          </a:prstGeom>
          <a:solidFill>
            <a:srgbClr val="FF00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Thiết bị nhập xuất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8" name="CustomShape 8"/>
          <p:cNvSpPr/>
          <p:nvPr/>
        </p:nvSpPr>
        <p:spPr>
          <a:xfrm>
            <a:off x="5650200" y="3862440"/>
            <a:ext cx="2373840" cy="548280"/>
          </a:xfrm>
          <a:prstGeom prst="ellipse">
            <a:avLst/>
          </a:prstGeom>
          <a:solidFill>
            <a:srgbClr val="FF00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CPU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09" name="CustomShape 9"/>
          <p:cNvSpPr/>
          <p:nvPr/>
        </p:nvSpPr>
        <p:spPr>
          <a:xfrm>
            <a:off x="5772960" y="4803840"/>
            <a:ext cx="2114640" cy="586080"/>
          </a:xfrm>
          <a:prstGeom prst="ellipse">
            <a:avLst/>
          </a:prstGeom>
          <a:solidFill>
            <a:srgbClr val="FF00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Main Memory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0" name="CustomShape 10"/>
          <p:cNvSpPr/>
          <p:nvPr/>
        </p:nvSpPr>
        <p:spPr>
          <a:xfrm>
            <a:off x="5772960" y="5759280"/>
            <a:ext cx="1978200" cy="613440"/>
          </a:xfrm>
          <a:prstGeom prst="ellipse">
            <a:avLst/>
          </a:prstGeom>
          <a:solidFill>
            <a:srgbClr val="FF0000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Thiết bị nhập xuất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1" name="CustomShape 11"/>
          <p:cNvSpPr/>
          <p:nvPr/>
        </p:nvSpPr>
        <p:spPr>
          <a:xfrm>
            <a:off x="2129040" y="3452760"/>
            <a:ext cx="360" cy="449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CustomShape 12"/>
          <p:cNvSpPr/>
          <p:nvPr/>
        </p:nvSpPr>
        <p:spPr>
          <a:xfrm>
            <a:off x="2129040" y="4435560"/>
            <a:ext cx="360" cy="285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3" name="CustomShape 13"/>
          <p:cNvSpPr/>
          <p:nvPr/>
        </p:nvSpPr>
        <p:spPr>
          <a:xfrm>
            <a:off x="2129040" y="5322600"/>
            <a:ext cx="360" cy="449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4" name="CustomShape 14"/>
          <p:cNvSpPr/>
          <p:nvPr/>
        </p:nvSpPr>
        <p:spPr>
          <a:xfrm>
            <a:off x="4026240" y="2920680"/>
            <a:ext cx="1091160" cy="21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>
              <a:lumMod val="75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CustomShape 15"/>
          <p:cNvSpPr/>
          <p:nvPr/>
        </p:nvSpPr>
        <p:spPr>
          <a:xfrm>
            <a:off x="4026240" y="4040640"/>
            <a:ext cx="1091160" cy="2570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>
              <a:lumMod val="75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" name="CustomShape 16"/>
          <p:cNvSpPr/>
          <p:nvPr/>
        </p:nvSpPr>
        <p:spPr>
          <a:xfrm>
            <a:off x="3985200" y="4913280"/>
            <a:ext cx="1091160" cy="21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>
              <a:lumMod val="75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7" name="CustomShape 17"/>
          <p:cNvSpPr/>
          <p:nvPr/>
        </p:nvSpPr>
        <p:spPr>
          <a:xfrm>
            <a:off x="4026240" y="5970960"/>
            <a:ext cx="1091160" cy="217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>
              <a:lumMod val="75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3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Ví dụ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9" name="CustomShape 2"/>
          <p:cNvSpPr/>
          <p:nvPr/>
        </p:nvSpPr>
        <p:spPr>
          <a:xfrm>
            <a:off x="628560" y="1283040"/>
            <a:ext cx="7886160" cy="5458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aphicFrame>
        <p:nvGraphicFramePr>
          <p:cNvPr id="120" name="Table 3"/>
          <p:cNvGraphicFramePr/>
          <p:nvPr/>
        </p:nvGraphicFramePr>
        <p:xfrm>
          <a:off x="1523880" y="1397160"/>
          <a:ext cx="6095520" cy="1714680"/>
        </p:xfrm>
        <a:graphic>
          <a:graphicData uri="http://schemas.openxmlformats.org/drawingml/2006/table">
            <a:tbl>
              <a:tblPr/>
              <a:tblGrid>
                <a:gridCol w="213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468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840" indent="-285120">
                        <a:lnSpc>
                          <a:spcPct val="100000"/>
                        </a:lnSpc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2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Làm sao các thành phần phối hợp được vậy</a:t>
                      </a:r>
                      <a:endParaRPr lang="en-US" sz="2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1" name="Picture 6"/>
          <p:cNvPicPr/>
          <p:nvPr/>
        </p:nvPicPr>
        <p:blipFill>
          <a:blip r:embed="rId2"/>
          <a:stretch/>
        </p:blipFill>
        <p:spPr>
          <a:xfrm>
            <a:off x="894240" y="1382760"/>
            <a:ext cx="2228040" cy="1494720"/>
          </a:xfrm>
          <a:prstGeom prst="rect">
            <a:avLst/>
          </a:prstGeom>
          <a:ln>
            <a:noFill/>
          </a:ln>
        </p:spPr>
      </p:pic>
      <p:sp>
        <p:nvSpPr>
          <p:cNvPr id="122" name="CustomShape 4"/>
          <p:cNvSpPr/>
          <p:nvPr/>
        </p:nvSpPr>
        <p:spPr>
          <a:xfrm>
            <a:off x="1159920" y="3152520"/>
            <a:ext cx="2565000" cy="39492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Lấy số từ bàn phím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3" name="CustomShape 5"/>
          <p:cNvSpPr/>
          <p:nvPr/>
        </p:nvSpPr>
        <p:spPr>
          <a:xfrm>
            <a:off x="1159920" y="3794040"/>
            <a:ext cx="2565000" cy="35424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Số 1 và 2 nằm trong CPU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4" name="CustomShape 6"/>
          <p:cNvSpPr/>
          <p:nvPr/>
        </p:nvSpPr>
        <p:spPr>
          <a:xfrm>
            <a:off x="1159920" y="4462920"/>
            <a:ext cx="2565000" cy="35424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Ra lệnh cộng 1 và 2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5" name="CustomShape 7"/>
          <p:cNvSpPr/>
          <p:nvPr/>
        </p:nvSpPr>
        <p:spPr>
          <a:xfrm>
            <a:off x="1159920" y="5077080"/>
            <a:ext cx="2565000" cy="35424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Thực hiện công 1 và 2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6" name="CustomShape 8"/>
          <p:cNvSpPr/>
          <p:nvPr/>
        </p:nvSpPr>
        <p:spPr>
          <a:xfrm>
            <a:off x="1159920" y="5636520"/>
            <a:ext cx="2565000" cy="32688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Lưu kết quả ra RAM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7" name="CustomShape 9"/>
          <p:cNvSpPr/>
          <p:nvPr/>
        </p:nvSpPr>
        <p:spPr>
          <a:xfrm>
            <a:off x="1159920" y="6223320"/>
            <a:ext cx="2565000" cy="435960"/>
          </a:xfrm>
          <a:prstGeom prst="rect">
            <a:avLst/>
          </a:prstGeom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Đẩy kết quả ra file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8" name="CustomShape 10"/>
          <p:cNvSpPr/>
          <p:nvPr/>
        </p:nvSpPr>
        <p:spPr>
          <a:xfrm>
            <a:off x="5691240" y="3371040"/>
            <a:ext cx="2019240" cy="627120"/>
          </a:xfrm>
          <a:prstGeom prst="ellipse">
            <a:avLst/>
          </a:prstGeom>
          <a:solidFill>
            <a:schemeClr val="accent4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Register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9" name="CustomShape 11"/>
          <p:cNvSpPr/>
          <p:nvPr/>
        </p:nvSpPr>
        <p:spPr>
          <a:xfrm>
            <a:off x="5691240" y="4503600"/>
            <a:ext cx="2019240" cy="749880"/>
          </a:xfrm>
          <a:prstGeom prst="ellipse">
            <a:avLst/>
          </a:prstGeom>
          <a:solidFill>
            <a:schemeClr val="accent4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CU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0" name="CustomShape 12"/>
          <p:cNvSpPr/>
          <p:nvPr/>
        </p:nvSpPr>
        <p:spPr>
          <a:xfrm>
            <a:off x="5691240" y="5680800"/>
            <a:ext cx="1991880" cy="746640"/>
          </a:xfrm>
          <a:prstGeom prst="ellipse">
            <a:avLst/>
          </a:prstGeom>
          <a:solidFill>
            <a:schemeClr val="accent4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ALU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1" name="CustomShape 13"/>
          <p:cNvSpPr/>
          <p:nvPr/>
        </p:nvSpPr>
        <p:spPr>
          <a:xfrm>
            <a:off x="3726000" y="3350520"/>
            <a:ext cx="1964520" cy="1466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E4B48"/>
            </a:solidFill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32" name="CustomShape 14"/>
          <p:cNvSpPr/>
          <p:nvPr/>
        </p:nvSpPr>
        <p:spPr>
          <a:xfrm>
            <a:off x="3726000" y="4650480"/>
            <a:ext cx="1937160" cy="111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E4B48"/>
            </a:solidFill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33" name="CustomShape 15"/>
          <p:cNvSpPr/>
          <p:nvPr/>
        </p:nvSpPr>
        <p:spPr>
          <a:xfrm flipV="1">
            <a:off x="3726000" y="4888440"/>
            <a:ext cx="1937160" cy="910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E4B48"/>
            </a:solidFill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34" name="CustomShape 16"/>
          <p:cNvSpPr/>
          <p:nvPr/>
        </p:nvSpPr>
        <p:spPr>
          <a:xfrm flipV="1">
            <a:off x="3726000" y="4888440"/>
            <a:ext cx="1937160" cy="1587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E4B48"/>
            </a:solidFill>
            <a:round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/>
        </p:style>
      </p:sp>
      <p:sp>
        <p:nvSpPr>
          <p:cNvPr id="135" name="CustomShape 17"/>
          <p:cNvSpPr/>
          <p:nvPr/>
        </p:nvSpPr>
        <p:spPr>
          <a:xfrm flipV="1">
            <a:off x="3726000" y="3711600"/>
            <a:ext cx="1937160" cy="336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6" name="CustomShape 18"/>
          <p:cNvSpPr/>
          <p:nvPr/>
        </p:nvSpPr>
        <p:spPr>
          <a:xfrm>
            <a:off x="3726000" y="5264640"/>
            <a:ext cx="1964520" cy="739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5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4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5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6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CustomShape 1"/>
          <p:cNvSpPr/>
          <p:nvPr/>
        </p:nvSpPr>
        <p:spPr>
          <a:xfrm>
            <a:off x="628560" y="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Thanh ghi (Register)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8" name="CustomShape 2"/>
          <p:cNvSpPr/>
          <p:nvPr/>
        </p:nvSpPr>
        <p:spPr>
          <a:xfrm>
            <a:off x="628560" y="132552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Thành phần nằm trong CPU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Bộ nhớ dung lượng nhỏ và rất nhanh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Tăng tốc độ xử lý của các chương trình máy tính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Tốc độ xử lý nhanh hơn Main Memory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Không thể lưu trữ thông tin dài hạn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39" name="Picture 4"/>
          <p:cNvPicPr/>
          <p:nvPr/>
        </p:nvPicPr>
        <p:blipFill>
          <a:blip r:embed="rId3"/>
          <a:stretch/>
        </p:blipFill>
        <p:spPr>
          <a:xfrm>
            <a:off x="1762200" y="3644280"/>
            <a:ext cx="5618880" cy="2761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Kiến trúc tập lệnh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1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Có 2 loại kiến trúc tập lệnh 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42" name="Picture 3"/>
          <p:cNvPicPr/>
          <p:nvPr/>
        </p:nvPicPr>
        <p:blipFill>
          <a:blip r:embed="rId2"/>
          <a:stretch/>
        </p:blipFill>
        <p:spPr>
          <a:xfrm>
            <a:off x="1439640" y="2328480"/>
            <a:ext cx="5799960" cy="424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Shape 1"/>
          <p:cNvSpPr txBox="1"/>
          <p:nvPr/>
        </p:nvSpPr>
        <p:spPr>
          <a:xfrm>
            <a:off x="822960" y="548640"/>
            <a:ext cx="2120760" cy="64836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Hợp ngữ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4" name="TextShape 2"/>
          <p:cNvSpPr txBox="1"/>
          <p:nvPr/>
        </p:nvSpPr>
        <p:spPr>
          <a:xfrm>
            <a:off x="914400" y="1737360"/>
            <a:ext cx="7223760" cy="335052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Là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ngôn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ngữ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bậc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thấp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để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viết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các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chương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trình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Mỗi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kiến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trúc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CPU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khác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nhau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có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một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loại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hợp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ngữ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khác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nhau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- Ở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đây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chúng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ta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học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về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ngôn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ngữ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Assembly 32bit –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hợp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ngữ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cho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kiến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trúc</a:t>
            </a: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CPU Intel 32 bit.</a:t>
            </a:r>
            <a:endParaRPr lang="en-US" sz="2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609480" y="365040"/>
            <a:ext cx="7904880" cy="10360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Hợp ngữ</a:t>
            </a:r>
            <a:br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6" name="CustomShape 2"/>
          <p:cNvSpPr/>
          <p:nvPr/>
        </p:nvSpPr>
        <p:spPr>
          <a:xfrm>
            <a:off x="609480" y="1523880"/>
            <a:ext cx="7904880" cy="4652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7" name="CustomShape 3"/>
          <p:cNvSpPr/>
          <p:nvPr/>
        </p:nvSpPr>
        <p:spPr>
          <a:xfrm>
            <a:off x="609480" y="4830840"/>
            <a:ext cx="3123360" cy="608760"/>
          </a:xfrm>
          <a:prstGeom prst="rect">
            <a:avLst/>
          </a:prstGeom>
          <a:solidFill>
            <a:srgbClr val="CCECFF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Hardware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8" name="CustomShape 4"/>
          <p:cNvSpPr/>
          <p:nvPr/>
        </p:nvSpPr>
        <p:spPr>
          <a:xfrm>
            <a:off x="609480" y="3763800"/>
            <a:ext cx="3123360" cy="608760"/>
          </a:xfrm>
          <a:prstGeom prst="rect">
            <a:avLst/>
          </a:prstGeom>
          <a:solidFill>
            <a:srgbClr val="66FFCC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Machine language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9" name="CustomShape 5"/>
          <p:cNvSpPr/>
          <p:nvPr/>
        </p:nvSpPr>
        <p:spPr>
          <a:xfrm>
            <a:off x="609480" y="2620800"/>
            <a:ext cx="3123360" cy="608760"/>
          </a:xfrm>
          <a:prstGeom prst="rect">
            <a:avLst/>
          </a:prstGeom>
          <a:solidFill>
            <a:srgbClr val="0000FF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Assembly language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0" name="CustomShape 6"/>
          <p:cNvSpPr/>
          <p:nvPr/>
        </p:nvSpPr>
        <p:spPr>
          <a:xfrm>
            <a:off x="609480" y="1523880"/>
            <a:ext cx="3123360" cy="608760"/>
          </a:xfrm>
          <a:prstGeom prst="rect">
            <a:avLst/>
          </a:prstGeom>
          <a:solidFill>
            <a:srgbClr val="003366"/>
          </a:solidFill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High-level language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1" name="CustomShape 7"/>
          <p:cNvSpPr/>
          <p:nvPr/>
        </p:nvSpPr>
        <p:spPr>
          <a:xfrm>
            <a:off x="4476600" y="4830840"/>
            <a:ext cx="4037760" cy="5313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Điều khiển vào ra, đọc ghi dữ liệu, 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thao tác với thanh ghi 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2" name="CustomShape 8"/>
          <p:cNvSpPr/>
          <p:nvPr/>
        </p:nvSpPr>
        <p:spPr>
          <a:xfrm>
            <a:off x="4476600" y="3763800"/>
            <a:ext cx="4037760" cy="79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10000100001000011110010101010011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11010100101001010010101010101010 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Verdana"/>
                <a:ea typeface="DejaVu Sans"/>
              </a:rPr>
              <a:t>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3" name="CustomShape 9"/>
          <p:cNvSpPr/>
          <p:nvPr/>
        </p:nvSpPr>
        <p:spPr>
          <a:xfrm>
            <a:off x="4476600" y="2527920"/>
            <a:ext cx="4037760" cy="79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xor	bx, bx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add	bx, 0Fh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4" name="CustomShape 10"/>
          <p:cNvSpPr/>
          <p:nvPr/>
        </p:nvSpPr>
        <p:spPr>
          <a:xfrm>
            <a:off x="4476600" y="1498320"/>
            <a:ext cx="4037760" cy="79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int i = 0;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i += 15;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Tập lệnh ASM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6" name="CustomShape 2"/>
          <p:cNvSpPr/>
          <p:nvPr/>
        </p:nvSpPr>
        <p:spPr>
          <a:xfrm>
            <a:off x="628560" y="1825560"/>
            <a:ext cx="8429040" cy="4936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 lnSpcReduction="20000"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Cú pháp lệnh ASM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&lt;Tên lệnh&gt; &lt;Toán hạng đích&gt;, &lt;Toán hạng nguồn&gt; </a:t>
            </a:r>
            <a:r>
              <a:rPr lang="en-US" sz="24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; chú thích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Lệnh ASM không nhất thiết phải có đầy đủ cả 3 thành phần (có thể chỉ có tên lệnh hoặc tên lệnh + một toán hạng)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Các loại toán hạng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Thanh ghi: EAX, EBX, AL, AX…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Ô nhớ: [EAX], [EAX + 10], [1000]…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Hằng số: 6, 01001011b, 04Fh…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Ví dụ: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ADD EAX, EBX			</a:t>
            </a:r>
            <a:r>
              <a:rPr lang="en-US" sz="24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; Cộng thanh ghi EBX vào EAX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MOV [ECX], 100h			</a:t>
            </a:r>
            <a:r>
              <a:rPr lang="en-US" sz="24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; Đưa giá trị 100h vào vùng 						; nhớ [ECX]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MOV EBX, dword ptr [400000h]	</a:t>
            </a:r>
            <a:r>
              <a:rPr lang="en-US" sz="2400" b="0" strike="noStrike" spc="-1">
                <a:solidFill>
                  <a:srgbClr val="80808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; Đưa giá trị ở ô nhớ 400000h 						; vào EBX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156">
                                            <p:txEl>
                                              <p:p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0" dur="500"/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5" dur="500"/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0" dur="500"/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3" dur="500"/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6" dur="500"/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9" dur="500"/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4" dur="500"/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37" dur="500"/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0" dur="500"/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43" dur="500"/>
                                        <p:tgtEl>
                                          <p:spTgt spid="156">
                                            <p:txEl>
                                              <p:pRg st="489" end="48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Thanh ghi sử dụng trong hợp ngữ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58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Các thanh ghi đa năng (general-purpose registers):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EAX: Accumulator Register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EBX: Base Register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ECX: Counter Register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EDX: Destination Register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graphicFrame>
        <p:nvGraphicFramePr>
          <p:cNvPr id="159" name="Table 3"/>
          <p:cNvGraphicFramePr/>
          <p:nvPr/>
        </p:nvGraphicFramePr>
        <p:xfrm>
          <a:off x="672840" y="4397400"/>
          <a:ext cx="7797960" cy="428760"/>
        </p:xfrm>
        <a:graphic>
          <a:graphicData uri="http://schemas.openxmlformats.org/drawingml/2006/table">
            <a:tbl>
              <a:tblPr/>
              <a:tblGrid>
                <a:gridCol w="24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28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29"/>
                    </a:ext>
                  </a:extLst>
                </a:gridCol>
                <a:gridCol w="243360">
                  <a:extLst>
                    <a:ext uri="{9D8B030D-6E8A-4147-A177-3AD203B41FA5}">
                      <a16:colId xmlns:a16="http://schemas.microsoft.com/office/drawing/2014/main" val="20030"/>
                    </a:ext>
                  </a:extLst>
                </a:gridCol>
                <a:gridCol w="253800">
                  <a:extLst>
                    <a:ext uri="{9D8B030D-6E8A-4147-A177-3AD203B41FA5}">
                      <a16:colId xmlns:a16="http://schemas.microsoft.com/office/drawing/2014/main" val="20031"/>
                    </a:ext>
                  </a:extLst>
                </a:gridCol>
              </a:tblGrid>
              <a:tr h="428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66FFC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0" name="CustomShape 4"/>
          <p:cNvSpPr/>
          <p:nvPr/>
        </p:nvSpPr>
        <p:spPr>
          <a:xfrm flipH="1">
            <a:off x="4571280" y="4286160"/>
            <a:ext cx="1942200" cy="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1" name="CustomShape 5"/>
          <p:cNvSpPr/>
          <p:nvPr/>
        </p:nvSpPr>
        <p:spPr>
          <a:xfrm flipH="1">
            <a:off x="6543000" y="4276800"/>
            <a:ext cx="1942200" cy="8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2" name="CustomShape 6"/>
          <p:cNvSpPr/>
          <p:nvPr/>
        </p:nvSpPr>
        <p:spPr>
          <a:xfrm flipH="1">
            <a:off x="4549320" y="4864320"/>
            <a:ext cx="3913920" cy="10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3" name="CustomShape 7"/>
          <p:cNvSpPr/>
          <p:nvPr/>
        </p:nvSpPr>
        <p:spPr>
          <a:xfrm flipH="1">
            <a:off x="627840" y="5213520"/>
            <a:ext cx="7841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4" name="CustomShape 8"/>
          <p:cNvSpPr/>
          <p:nvPr/>
        </p:nvSpPr>
        <p:spPr>
          <a:xfrm>
            <a:off x="5303160" y="3907800"/>
            <a:ext cx="4802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AH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5" name="CustomShape 9"/>
          <p:cNvSpPr/>
          <p:nvPr/>
        </p:nvSpPr>
        <p:spPr>
          <a:xfrm>
            <a:off x="7274880" y="3909960"/>
            <a:ext cx="4802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AL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6" name="CustomShape 10"/>
          <p:cNvSpPr/>
          <p:nvPr/>
        </p:nvSpPr>
        <p:spPr>
          <a:xfrm>
            <a:off x="6303240" y="4821480"/>
            <a:ext cx="4802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AX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7" name="CustomShape 11"/>
          <p:cNvSpPr/>
          <p:nvPr/>
        </p:nvSpPr>
        <p:spPr>
          <a:xfrm>
            <a:off x="3774960" y="5256360"/>
            <a:ext cx="159336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EAX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(E – Extended)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(Register)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Stack ESP (Stack Pointer Register)</a:t>
            </a:r>
          </a:p>
          <a:p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sở</a:t>
            </a:r>
            <a:r>
              <a:rPr lang="en-US" dirty="0"/>
              <a:t> EBP (Base Pointer Register)</a:t>
            </a:r>
            <a:endParaRPr lang="vi-VN" dirty="0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3757026" y="4001294"/>
            <a:ext cx="2853324" cy="3057523"/>
            <a:chOff x="4176" y="2256"/>
            <a:chExt cx="1248" cy="1220"/>
          </a:xfrm>
        </p:grpSpPr>
        <p:sp>
          <p:nvSpPr>
            <p:cNvPr id="5" name="Line 32"/>
            <p:cNvSpPr>
              <a:spLocks noChangeShapeType="1"/>
            </p:cNvSpPr>
            <p:nvPr/>
          </p:nvSpPr>
          <p:spPr bwMode="auto">
            <a:xfrm>
              <a:off x="5040" y="2256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endParaRPr lang="vi-VN"/>
            </a:p>
          </p:txBody>
        </p:sp>
        <p:sp>
          <p:nvSpPr>
            <p:cNvPr id="6" name="Line 33"/>
            <p:cNvSpPr>
              <a:spLocks noChangeShapeType="1"/>
            </p:cNvSpPr>
            <p:nvPr/>
          </p:nvSpPr>
          <p:spPr bwMode="auto">
            <a:xfrm>
              <a:off x="4176" y="2256"/>
              <a:ext cx="0" cy="10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endParaRPr lang="vi-VN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4176" y="3072"/>
              <a:ext cx="864" cy="1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>
                  <a:solidFill>
                    <a:srgbClr val="FFFFFF"/>
                  </a:solidFill>
                </a:rPr>
                <a:t>Đáy stack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4176" y="2928"/>
              <a:ext cx="864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endParaRPr lang="vi-VN" altLang="vi-VN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4176" y="2784"/>
              <a:ext cx="864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endParaRPr lang="vi-VN" altLang="vi-VN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4176" y="2640"/>
              <a:ext cx="864" cy="144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endParaRPr lang="vi-VN" altLang="vi-VN"/>
            </a:p>
          </p:txBody>
        </p:sp>
        <p:sp>
          <p:nvSpPr>
            <p:cNvPr id="11" name="Text Box 38"/>
            <p:cNvSpPr txBox="1">
              <a:spLocks noChangeArrowheads="1"/>
            </p:cNvSpPr>
            <p:nvPr/>
          </p:nvSpPr>
          <p:spPr bwMode="auto">
            <a:xfrm>
              <a:off x="4320" y="3245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vi-VN" dirty="0">
                  <a:solidFill>
                    <a:schemeClr val="accent2"/>
                  </a:solidFill>
                </a:rPr>
                <a:t>stack</a:t>
              </a:r>
            </a:p>
          </p:txBody>
        </p:sp>
        <p:sp>
          <p:nvSpPr>
            <p:cNvPr id="12" name="Text Box 39"/>
            <p:cNvSpPr txBox="1">
              <a:spLocks noChangeArrowheads="1"/>
            </p:cNvSpPr>
            <p:nvPr/>
          </p:nvSpPr>
          <p:spPr bwMode="auto">
            <a:xfrm>
              <a:off x="5040" y="2928"/>
              <a:ext cx="38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vi-VN" sz="1000"/>
                <a:t>108h</a:t>
              </a:r>
            </a:p>
          </p:txBody>
        </p:sp>
        <p:sp>
          <p:nvSpPr>
            <p:cNvPr id="13" name="Text Box 40"/>
            <p:cNvSpPr txBox="1">
              <a:spLocks noChangeArrowheads="1"/>
            </p:cNvSpPr>
            <p:nvPr/>
          </p:nvSpPr>
          <p:spPr bwMode="auto">
            <a:xfrm>
              <a:off x="5040" y="2784"/>
              <a:ext cx="38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vi-VN" sz="1000"/>
                <a:t>106h</a:t>
              </a:r>
            </a:p>
          </p:txBody>
        </p:sp>
        <p:sp>
          <p:nvSpPr>
            <p:cNvPr id="14" name="Text Box 41"/>
            <p:cNvSpPr txBox="1">
              <a:spLocks noChangeArrowheads="1"/>
            </p:cNvSpPr>
            <p:nvPr/>
          </p:nvSpPr>
          <p:spPr bwMode="auto">
            <a:xfrm>
              <a:off x="5040" y="2640"/>
              <a:ext cx="38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vi-VN" sz="1000"/>
                <a:t>104h</a:t>
              </a:r>
            </a:p>
          </p:txBody>
        </p:sp>
        <p:sp>
          <p:nvSpPr>
            <p:cNvPr id="15" name="Text Box 42"/>
            <p:cNvSpPr txBox="1">
              <a:spLocks noChangeArrowheads="1"/>
            </p:cNvSpPr>
            <p:nvPr/>
          </p:nvSpPr>
          <p:spPr bwMode="auto">
            <a:xfrm>
              <a:off x="5040" y="2486"/>
              <a:ext cx="38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vi-VN" sz="1000"/>
                <a:t>102h</a:t>
              </a:r>
            </a:p>
          </p:txBody>
        </p:sp>
        <p:sp>
          <p:nvSpPr>
            <p:cNvPr id="16" name="Line 43"/>
            <p:cNvSpPr>
              <a:spLocks noChangeShapeType="1"/>
            </p:cNvSpPr>
            <p:nvPr/>
          </p:nvSpPr>
          <p:spPr bwMode="auto">
            <a:xfrm>
              <a:off x="4176" y="2496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endParaRPr lang="vi-VN"/>
            </a:p>
          </p:txBody>
        </p:sp>
        <p:sp>
          <p:nvSpPr>
            <p:cNvPr id="17" name="Line 44"/>
            <p:cNvSpPr>
              <a:spLocks noChangeShapeType="1"/>
            </p:cNvSpPr>
            <p:nvPr/>
          </p:nvSpPr>
          <p:spPr bwMode="auto">
            <a:xfrm>
              <a:off x="4176" y="2352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endParaRPr lang="vi-VN"/>
            </a:p>
          </p:txBody>
        </p:sp>
        <p:sp>
          <p:nvSpPr>
            <p:cNvPr id="18" name="Text Box 45"/>
            <p:cNvSpPr txBox="1">
              <a:spLocks noChangeArrowheads="1"/>
            </p:cNvSpPr>
            <p:nvPr/>
          </p:nvSpPr>
          <p:spPr bwMode="auto">
            <a:xfrm>
              <a:off x="5040" y="2352"/>
              <a:ext cx="384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vi-VN" sz="1000"/>
                <a:t>100h</a:t>
              </a:r>
            </a:p>
          </p:txBody>
        </p:sp>
      </p:grp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3757026" y="3410155"/>
            <a:ext cx="1975378" cy="360888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endParaRPr lang="vi-VN" altLang="vi-VN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744715" y="3114675"/>
            <a:ext cx="0" cy="295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26358" y="2819818"/>
            <a:ext cx="63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Push</a:t>
            </a:r>
            <a:endParaRPr lang="vi-VN" dirty="0"/>
          </a:p>
        </p:txBody>
      </p:sp>
      <p:sp>
        <p:nvSpPr>
          <p:cNvPr id="31" name="TextBox 30"/>
          <p:cNvSpPr txBox="1"/>
          <p:nvPr/>
        </p:nvSpPr>
        <p:spPr>
          <a:xfrm>
            <a:off x="2624844" y="4983892"/>
            <a:ext cx="519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ESP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3219450" y="5168558"/>
            <a:ext cx="3238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rot="10800000">
            <a:off x="4744715" y="3095088"/>
            <a:ext cx="0" cy="295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473551" y="2800231"/>
            <a:ext cx="542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Pop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4251425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3.7037E-7 L -3.61111E-6 0.1726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634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22222E-6 L -0.00035 -0.06041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3032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7037E-6 L 0.00035 -0.05555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2778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0.17268 L -3.61111E-6 -2.59259E-6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935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5 -0.06041 L -5.55556E-7 -3.7037E-6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32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5 -0.05555 L 2.5E-6 -3.7037E-6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6" y="27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0" grpId="2" animBg="1"/>
      <p:bldP spid="30" grpId="0"/>
      <p:bldP spid="30" grpId="1"/>
      <p:bldP spid="31" grpId="0"/>
      <p:bldP spid="31" grpId="1"/>
      <p:bldP spid="31" grpId="2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88132"/>
            <a:ext cx="7886700" cy="1073149"/>
          </a:xfrm>
        </p:spPr>
        <p:txBody>
          <a:bodyPr/>
          <a:lstStyle/>
          <a:p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1281"/>
            <a:ext cx="7886700" cy="4738688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(Index Registers):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ESI: Source Index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EDI: Destination Index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(Segment Registers):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CS: Code Segment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DS: Data Segment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SS: Stack Segment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dirty="0"/>
              <a:t>ES: Extra Segment</a:t>
            </a:r>
          </a:p>
          <a:p>
            <a:pPr>
              <a:lnSpc>
                <a:spcPct val="100000"/>
              </a:lnSpc>
            </a:pPr>
            <a:r>
              <a:rPr lang="en-US" dirty="0"/>
              <a:t>Con </a:t>
            </a:r>
            <a:r>
              <a:rPr lang="en-US" dirty="0" err="1"/>
              <a:t>trỏ</a:t>
            </a:r>
            <a:r>
              <a:rPr lang="en-US" dirty="0"/>
              <a:t> </a:t>
            </a:r>
            <a:r>
              <a:rPr lang="en-US" dirty="0" err="1"/>
              <a:t>lệnh</a:t>
            </a:r>
            <a:r>
              <a:rPr lang="en-US" dirty="0"/>
              <a:t> (Instruction Pointer)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Thanh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cờ</a:t>
            </a:r>
            <a:r>
              <a:rPr lang="en-US" dirty="0"/>
              <a:t> (Flag Register)</a:t>
            </a:r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962150" y="5813425"/>
            <a:ext cx="5219700" cy="422276"/>
            <a:chOff x="1200" y="2496"/>
            <a:chExt cx="3072" cy="192"/>
          </a:xfrm>
        </p:grpSpPr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1584" y="2496"/>
              <a:ext cx="384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/>
                <a:t>IOPL</a:t>
              </a:r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1200" y="2496"/>
              <a:ext cx="192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vi-VN" altLang="vi-VN" sz="1200"/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392" y="2496"/>
              <a:ext cx="192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/>
                <a:t>NT</a:t>
              </a: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2544" y="2496"/>
              <a:ext cx="192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/>
                <a:t>TP</a:t>
              </a: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968" y="2496"/>
              <a:ext cx="192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/>
                <a:t>OF</a:t>
              </a: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160" y="2496"/>
              <a:ext cx="192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 dirty="0"/>
                <a:t>DF</a:t>
              </a: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352" y="2496"/>
              <a:ext cx="192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/>
                <a:t>IF</a:t>
              </a: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3312" y="2496"/>
              <a:ext cx="192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/>
                <a:t>AF</a:t>
              </a: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736" y="2496"/>
              <a:ext cx="192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 dirty="0"/>
                <a:t>SF</a:t>
              </a: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928" y="2496"/>
              <a:ext cx="192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/>
                <a:t>ZF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120" y="2496"/>
              <a:ext cx="192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vi-VN" altLang="vi-VN" sz="1200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4080" y="2496"/>
              <a:ext cx="192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 dirty="0"/>
                <a:t>CF</a:t>
              </a: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3504" y="2496"/>
              <a:ext cx="192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vi-VN" altLang="vi-VN" sz="1200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3696" y="2496"/>
              <a:ext cx="192" cy="192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vi-VN" sz="1200"/>
                <a:t>PF</a:t>
              </a:r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3888" y="2496"/>
              <a:ext cx="192" cy="19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Verdana" panose="020B0604030504040204" pitchFamily="34" charset="0"/>
                  <a:ea typeface="+mn-ea"/>
                  <a:cs typeface="+mn-cs"/>
                </a:defRPr>
              </a:lvl9pPr>
            </a:lstStyle>
            <a:p>
              <a:pPr algn="ctr"/>
              <a:endParaRPr lang="vi-VN" altLang="vi-VN" sz="1200"/>
            </a:p>
          </p:txBody>
        </p:sp>
      </p:grpSp>
    </p:spTree>
    <p:extLst>
      <p:ext uri="{BB962C8B-B14F-4D97-AF65-F5344CB8AC3E}">
        <p14:creationId xmlns:p14="http://schemas.microsoft.com/office/powerpoint/2010/main" val="5711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Vùng nhớ (Memory)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9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Nằm trên RAM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Mỗi vùng nhớ được đánh địa chỉ riêng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Giá trị địa chỉ vùng nhớ tùy thuộc vào kiến trúc CPU (16 bit, 32 bit, 64 bit…)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VD: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[400000h]  -&gt; vùng nhớ có địa chỉ 400000h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[ECX] với ecx = 100000h -&gt; vùng nhớ có địa chỉ 100000h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Tập lệnh ASM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1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Các lệnh tính toán tương tác bộ nhớ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ADD, SUB, INC, DEC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MUL, IMUL, DIV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AND, OR, XOR, NOT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SHR, SHL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MOV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…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VD: 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SHL EAX, 3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AND EAX, 1000h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Tập lệnh ASM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3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 lnSpcReduction="10000"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Lệnh điều hướng và lặp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CALL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JMP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JE, JZ, JNZ, JNE…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RET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LOOP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Ví dụ: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Call 401000h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JMP EAX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JE 401234h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Jmp </a:t>
            </a:r>
            <a:r>
              <a:rPr lang="en-US" sz="2400" b="0" strike="noStrike" spc="-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Label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Tập lệnh ASM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5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Các lệnh về so sánh, tác động đến thanh ghi cờ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CMP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TEST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CMPS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BTR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…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Ví dụ: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CMP EAX, 1000h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TEST EAX, EAX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Khai báo biến trong ASM 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7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Khai báo biến đơn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&lt;Tên biến &gt; &lt;Kiểu biến&gt;  &lt;Giá trị khởi tạo&gt;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Tên biến: Có chiều dài từ 1 đến 31 ký tự, có thể có chữ cái, chữ số, ký tự đặc biệt (</a:t>
            </a:r>
            <a:r>
              <a:rPr lang="en-US" sz="2400" b="0" u="sng" strike="noStrike" spc="-1">
                <a:solidFill>
                  <a:srgbClr val="0000FF"/>
                </a:solidFill>
                <a:uFill>
                  <a:solidFill>
                    <a:srgbClr val="FFFFFF"/>
                  </a:solidFill>
                </a:uFill>
                <a:latin typeface="Calibri"/>
                <a:hlinkClick r:id="rId2"/>
              </a:rPr>
              <a:t>?.@_$%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), không được bắt đầu bằng số, không được có dấu cách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Kiểu biến: dword (dd), word (dw), byte (db)…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Giá trị khởi tạo: kiểu thập phân, hex, nhị phân…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Ví dụ: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TestVar db 1	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CountVar dw 00001001b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sumVar	dd 100h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Khai báo biến trong ASM 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9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 lnSpcReduction="10000"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Khai báo mảng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&lt;Tên mảng &gt; &lt;Kiểu biến&gt;  &lt;gt1&gt;,&lt;gt2&gt;,&lt;gt3&gt;…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Ví dụ: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	ArrayVar db 1,2,3,4,5,6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Khai báo nhiều biến có cùng giá trị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&lt;Tên mảng &gt; &lt;Kiểu biến&gt;  &lt;Số phần tử&gt;  dup (&lt;giá trị&gt;)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Ví dụ: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	DupArray dd 100 dup (10)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Khai báo mảng ký tự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&lt;Tên mảng &gt; &lt;Kiểu biến&gt;  “&lt;xâu ký tự&gt;”, 0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Ví dụ: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	FileName db “HelloWorld.cpp”,0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Khai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báo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biến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trong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ASM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1" name="CustomShape 2"/>
          <p:cNvSpPr/>
          <p:nvPr/>
        </p:nvSpPr>
        <p:spPr>
          <a:xfrm>
            <a:off x="628560" y="1825560"/>
            <a:ext cx="7886160" cy="4724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 lnSpcReduction="10000"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Hằng số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&lt;Tên hằng số &gt; EQU  &lt;Giá trị&gt;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VD: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Key 	EQU “Type.cpp”,0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	Cons	EQU	0123Ah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Nhãn (label) – </a:t>
            </a:r>
            <a:r>
              <a:rPr lang="en-US" sz="26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là một điểm đánh dấu trong code, dùng chủ yếu cho các lệnh điều hướng.</a:t>
            </a:r>
            <a:endParaRPr lang="en-US" sz="26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&lt;Tên nhãn&gt;: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 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VD: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       	</a:t>
            </a: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Lable: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		add eax, 1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		jmp Lable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Truy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cập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biến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trong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ASM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1" name="CustomShape 2"/>
          <p:cNvSpPr/>
          <p:nvPr/>
        </p:nvSpPr>
        <p:spPr>
          <a:xfrm>
            <a:off x="628560" y="1825560"/>
            <a:ext cx="7886160" cy="4724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Giá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trị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Địa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chỉ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vùng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nhớ</a:t>
            </a:r>
            <a:endParaRPr lang="en-US" sz="28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Con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trỏ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8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trong</a:t>
            </a:r>
            <a:r>
              <a:rPr lang="en-US" sz="28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ASM</a:t>
            </a: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VD:</a:t>
            </a: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.data</a:t>
            </a:r>
            <a:endParaRPr lang="en-US" sz="20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>
              <a:lnSpc>
                <a:spcPct val="90000"/>
              </a:lnSpc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dwVar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db 401234h	 ;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Giả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sử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dwVar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có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					 ;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địa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chỉ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400000h</a:t>
            </a:r>
          </a:p>
          <a:p>
            <a:pPr>
              <a:lnSpc>
                <a:spcPct val="90000"/>
              </a:lnSpc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.code</a:t>
            </a:r>
            <a:endParaRPr lang="en-US" sz="20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</a:endParaRPr>
          </a:p>
          <a:p>
            <a:pPr>
              <a:lnSpc>
                <a:spcPct val="90000"/>
              </a:lnSpc>
            </a:pP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mov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eax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dwVar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	 ;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eax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401234h</a:t>
            </a:r>
          </a:p>
          <a:p>
            <a:pPr>
              <a:lnSpc>
                <a:spcPct val="90000"/>
              </a:lnSpc>
            </a:pP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	</a:t>
            </a:r>
            <a:r>
              <a:rPr lang="en-US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mov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ebx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offset </a:t>
            </a:r>
            <a:r>
              <a:rPr lang="en-US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dwVar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	; </a:t>
            </a:r>
            <a:r>
              <a:rPr lang="en-US" sz="2000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ebx</a:t>
            </a:r>
            <a:r>
              <a:rPr lang="en-US" sz="2000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400000h</a:t>
            </a:r>
          </a:p>
          <a:p>
            <a:pPr>
              <a:lnSpc>
                <a:spcPct val="90000"/>
              </a:lnSpc>
            </a:pP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	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mov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ecx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,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dword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ptr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[400000] ; </a:t>
            </a:r>
            <a:r>
              <a:rPr lang="en-US" sz="20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ecx</a:t>
            </a:r>
            <a:r>
              <a:rPr lang="en-US" sz="20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</a:rPr>
              <a:t> = 401234h</a:t>
            </a: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en-US" sz="2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Cấu trúc một chương trình ASM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23" name="Content Placeholder 3"/>
          <p:cNvPicPr/>
          <p:nvPr/>
        </p:nvPicPr>
        <p:blipFill>
          <a:blip r:embed="rId2"/>
          <a:stretch/>
        </p:blipFill>
        <p:spPr>
          <a:xfrm>
            <a:off x="540360" y="2457360"/>
            <a:ext cx="8062920" cy="27331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25" name="Content Placeholder 4"/>
          <p:cNvPicPr/>
          <p:nvPr/>
        </p:nvPicPr>
        <p:blipFill>
          <a:blip r:embed="rId2"/>
          <a:stretch/>
        </p:blipFill>
        <p:spPr>
          <a:xfrm>
            <a:off x="0" y="365040"/>
            <a:ext cx="9020520" cy="64922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Câu hỏi?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7" name="CustomShape 2"/>
          <p:cNvSpPr/>
          <p:nvPr/>
        </p:nvSpPr>
        <p:spPr>
          <a:xfrm>
            <a:off x="628560" y="1825560"/>
            <a:ext cx="7886160" cy="4902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.data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4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 db 0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4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array db 1, 2, 3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400" b="0" i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FileName db “A.txt”,0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400" b="0" i="1" strike="noStrike" spc="-1">
                <a:solidFill>
                  <a:srgbClr val="FF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Bộ nhớ các biến thực tế sẽ thế nào?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Gán biến ở vị trí [a + 2] bằng 5?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  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graphicFrame>
        <p:nvGraphicFramePr>
          <p:cNvPr id="228" name="Table 3"/>
          <p:cNvGraphicFramePr/>
          <p:nvPr/>
        </p:nvGraphicFramePr>
        <p:xfrm>
          <a:off x="1009800" y="4326480"/>
          <a:ext cx="7601400" cy="635040"/>
        </p:xfrm>
        <a:graphic>
          <a:graphicData uri="http://schemas.openxmlformats.org/drawingml/2006/table">
            <a:tbl>
              <a:tblPr/>
              <a:tblGrid>
                <a:gridCol w="84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1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2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48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3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6350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2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3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A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.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x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9" name="Table 4"/>
          <p:cNvGraphicFramePr/>
          <p:nvPr/>
        </p:nvGraphicFramePr>
        <p:xfrm>
          <a:off x="1005480" y="5805360"/>
          <a:ext cx="7509600" cy="370080"/>
        </p:xfrm>
        <a:graphic>
          <a:graphicData uri="http://schemas.openxmlformats.org/drawingml/2006/table">
            <a:tbl>
              <a:tblPr/>
              <a:tblGrid>
                <a:gridCol w="86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3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3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2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50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85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61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u="sng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5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3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A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.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x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t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1" strike="noStrike" spc="-1">
                          <a:solidFill>
                            <a:srgbClr val="FFFFFF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29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27">
                                            <p:txEl>
                                              <p:pRg st="129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29" end="1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227">
                                            <p:txEl>
                                              <p:pRg st="129" end="12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Lệnh if else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1" name="CustomShape 2"/>
          <p:cNvSpPr/>
          <p:nvPr/>
        </p:nvSpPr>
        <p:spPr>
          <a:xfrm>
            <a:off x="5370480" y="2952000"/>
            <a:ext cx="4037760" cy="1307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if (sum == 100)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	sum += 100;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else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	sum++;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2" name="CustomShape 3"/>
          <p:cNvSpPr/>
          <p:nvPr/>
        </p:nvSpPr>
        <p:spPr>
          <a:xfrm>
            <a:off x="1911600" y="1626480"/>
            <a:ext cx="11422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ASM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3" name="CustomShape 4"/>
          <p:cNvSpPr/>
          <p:nvPr/>
        </p:nvSpPr>
        <p:spPr>
          <a:xfrm>
            <a:off x="6149160" y="1626480"/>
            <a:ext cx="8316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C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4" name="Line 5"/>
          <p:cNvSpPr/>
          <p:nvPr/>
        </p:nvSpPr>
        <p:spPr>
          <a:xfrm>
            <a:off x="4981320" y="1810800"/>
            <a:ext cx="360" cy="4151520"/>
          </a:xfrm>
          <a:prstGeom prst="line">
            <a:avLst/>
          </a:prstGeom>
          <a:ln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35" name="Picture 2"/>
          <p:cNvPicPr/>
          <p:nvPr/>
        </p:nvPicPr>
        <p:blipFill>
          <a:blip r:embed="rId2"/>
          <a:stretch/>
        </p:blipFill>
        <p:spPr>
          <a:xfrm>
            <a:off x="1704960" y="2611080"/>
            <a:ext cx="2113920" cy="2066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Vòng lặp for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237" name="Content Placeholder 3"/>
          <p:cNvPicPr/>
          <p:nvPr/>
        </p:nvPicPr>
        <p:blipFill>
          <a:blip r:embed="rId2"/>
          <a:stretch/>
        </p:blipFill>
        <p:spPr>
          <a:xfrm>
            <a:off x="343080" y="2670120"/>
            <a:ext cx="4438080" cy="2104200"/>
          </a:xfrm>
          <a:prstGeom prst="rect">
            <a:avLst/>
          </a:prstGeom>
          <a:ln>
            <a:noFill/>
          </a:ln>
        </p:spPr>
      </p:pic>
      <p:sp>
        <p:nvSpPr>
          <p:cNvPr id="238" name="CustomShape 2"/>
          <p:cNvSpPr/>
          <p:nvPr/>
        </p:nvSpPr>
        <p:spPr>
          <a:xfrm>
            <a:off x="5381640" y="3168000"/>
            <a:ext cx="4037760" cy="7902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for (int i = 0; i &lt; 100; i++)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	sum += i;	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39" name="CustomShape 3"/>
          <p:cNvSpPr/>
          <p:nvPr/>
        </p:nvSpPr>
        <p:spPr>
          <a:xfrm>
            <a:off x="1911600" y="1626480"/>
            <a:ext cx="11422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ASM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0" name="CustomShape 4"/>
          <p:cNvSpPr/>
          <p:nvPr/>
        </p:nvSpPr>
        <p:spPr>
          <a:xfrm>
            <a:off x="6149160" y="1626480"/>
            <a:ext cx="8316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C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1" name="Line 5"/>
          <p:cNvSpPr/>
          <p:nvPr/>
        </p:nvSpPr>
        <p:spPr>
          <a:xfrm>
            <a:off x="4981320" y="1810800"/>
            <a:ext cx="360" cy="4151520"/>
          </a:xfrm>
          <a:prstGeom prst="line">
            <a:avLst/>
          </a:prstGeom>
          <a:ln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Vòng lặp while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3" name="CustomShape 2"/>
          <p:cNvSpPr/>
          <p:nvPr/>
        </p:nvSpPr>
        <p:spPr>
          <a:xfrm>
            <a:off x="5437080" y="3029400"/>
            <a:ext cx="4037760" cy="1049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Sum = 0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while (sum &lt; 100)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	sum++;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4" name="CustomShape 3"/>
          <p:cNvSpPr/>
          <p:nvPr/>
        </p:nvSpPr>
        <p:spPr>
          <a:xfrm>
            <a:off x="1911600" y="1626480"/>
            <a:ext cx="11422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ASM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5" name="CustomShape 4"/>
          <p:cNvSpPr/>
          <p:nvPr/>
        </p:nvSpPr>
        <p:spPr>
          <a:xfrm>
            <a:off x="6149160" y="1626480"/>
            <a:ext cx="8316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C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6" name="Line 5"/>
          <p:cNvSpPr/>
          <p:nvPr/>
        </p:nvSpPr>
        <p:spPr>
          <a:xfrm>
            <a:off x="4981320" y="1810800"/>
            <a:ext cx="360" cy="4151520"/>
          </a:xfrm>
          <a:prstGeom prst="line">
            <a:avLst/>
          </a:prstGeom>
          <a:ln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47" name="Picture 9"/>
          <p:cNvPicPr/>
          <p:nvPr/>
        </p:nvPicPr>
        <p:blipFill>
          <a:blip r:embed="rId2"/>
          <a:stretch/>
        </p:blipFill>
        <p:spPr>
          <a:xfrm>
            <a:off x="1568520" y="2688120"/>
            <a:ext cx="1828080" cy="1789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Vòng lặp do while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9" name="CustomShape 2"/>
          <p:cNvSpPr/>
          <p:nvPr/>
        </p:nvSpPr>
        <p:spPr>
          <a:xfrm>
            <a:off x="5694120" y="2613960"/>
            <a:ext cx="4037760" cy="1825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Sum = 0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do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{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	sum++;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}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while (sum != 100)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r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ourier New"/>
                <a:ea typeface="DejaVu Sans"/>
              </a:rPr>
              <a:t>...</a:t>
            </a:r>
            <a:endParaRPr lang="en-US" sz="1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0" name="CustomShape 3"/>
          <p:cNvSpPr/>
          <p:nvPr/>
        </p:nvSpPr>
        <p:spPr>
          <a:xfrm>
            <a:off x="1911600" y="1626480"/>
            <a:ext cx="11422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ASM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1" name="CustomShape 4"/>
          <p:cNvSpPr/>
          <p:nvPr/>
        </p:nvSpPr>
        <p:spPr>
          <a:xfrm>
            <a:off x="6149160" y="1626480"/>
            <a:ext cx="8316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Code C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2" name="Line 5"/>
          <p:cNvSpPr/>
          <p:nvPr/>
        </p:nvSpPr>
        <p:spPr>
          <a:xfrm>
            <a:off x="4981320" y="1810800"/>
            <a:ext cx="360" cy="4151520"/>
          </a:xfrm>
          <a:prstGeom prst="line">
            <a:avLst/>
          </a:prstGeom>
          <a:ln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53" name="Picture 2"/>
          <p:cNvPicPr/>
          <p:nvPr/>
        </p:nvPicPr>
        <p:blipFill>
          <a:blip r:embed="rId2"/>
          <a:stretch/>
        </p:blipFill>
        <p:spPr>
          <a:xfrm>
            <a:off x="1467000" y="2778480"/>
            <a:ext cx="2208960" cy="16088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Hợp ngữ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5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77500" lnSpcReduction="20000"/>
          </a:bodyPr>
          <a:lstStyle/>
          <a:p>
            <a:pPr marL="228600" indent="-2278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Ưu điểm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Cú pháp đơn giản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Tự do trong lập trình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Tác động sâu hệ thống (gọi ngắt, tác động thanh ghi…)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Nhược điểm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Code dài, khó có thể lập trình được những phần mềm phức tạp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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Khó sửa lỗi, khó tìm lỗi về thuật toán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15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Tài liệu tham khảo: http://win32assembly.programminghorizon.com/tutorials.html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CustomShape 1"/>
          <p:cNvSpPr/>
          <p:nvPr/>
        </p:nvSpPr>
        <p:spPr>
          <a:xfrm>
            <a:off x="1666800" y="4092480"/>
            <a:ext cx="980280" cy="304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7" name="CustomShape 2"/>
          <p:cNvSpPr/>
          <p:nvPr/>
        </p:nvSpPr>
        <p:spPr>
          <a:xfrm>
            <a:off x="6094440" y="3399120"/>
            <a:ext cx="1524600" cy="6922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8" name="CustomShape 3"/>
          <p:cNvSpPr/>
          <p:nvPr/>
        </p:nvSpPr>
        <p:spPr>
          <a:xfrm>
            <a:off x="4572000" y="4045680"/>
            <a:ext cx="1521720" cy="64332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59" name="CustomShape 4"/>
          <p:cNvSpPr/>
          <p:nvPr/>
        </p:nvSpPr>
        <p:spPr>
          <a:xfrm>
            <a:off x="4194360" y="3544920"/>
            <a:ext cx="352080" cy="528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0" name="CustomShape 5"/>
          <p:cNvSpPr/>
          <p:nvPr/>
        </p:nvSpPr>
        <p:spPr>
          <a:xfrm>
            <a:off x="3818520" y="4045680"/>
            <a:ext cx="358920" cy="47808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1" name="CustomShape 6"/>
          <p:cNvSpPr/>
          <p:nvPr/>
        </p:nvSpPr>
        <p:spPr>
          <a:xfrm>
            <a:off x="3042360" y="2986560"/>
            <a:ext cx="768960" cy="1058400"/>
          </a:xfrm>
          <a:prstGeom prst="rect">
            <a:avLst/>
          </a:prstGeom>
          <a:solidFill>
            <a:srgbClr val="FF99FF"/>
          </a:solidFill>
          <a:ln>
            <a:solidFill>
              <a:srgbClr val="FF99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62" name="CustomShape 7"/>
          <p:cNvSpPr/>
          <p:nvPr/>
        </p:nvSpPr>
        <p:spPr>
          <a:xfrm>
            <a:off x="622080" y="-824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Tập lệnh ASM (Mở rộng - option)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3" name="CustomShape 8"/>
          <p:cNvSpPr/>
          <p:nvPr/>
        </p:nvSpPr>
        <p:spPr>
          <a:xfrm>
            <a:off x="628560" y="94752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Cấu trúc lệnh ASM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685800" lvl="1" indent="-22788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Kích thước lệnh có độ dài không cố định, không nhất thiết lệnh nào cũng phải đủ 16 bytes</a:t>
            </a:r>
            <a:endParaRPr lang="en-US" sz="2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	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graphicFrame>
        <p:nvGraphicFramePr>
          <p:cNvPr id="264" name="Table 9"/>
          <p:cNvGraphicFramePr/>
          <p:nvPr/>
        </p:nvGraphicFramePr>
        <p:xfrm>
          <a:off x="1523880" y="3860280"/>
          <a:ext cx="6095520" cy="428760"/>
        </p:xfrm>
        <a:graphic>
          <a:graphicData uri="http://schemas.openxmlformats.org/drawingml/2006/table">
            <a:tbl>
              <a:tblPr/>
              <a:tblGrid>
                <a:gridCol w="38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23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2876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5" name="CustomShape 10"/>
          <p:cNvSpPr/>
          <p:nvPr/>
        </p:nvSpPr>
        <p:spPr>
          <a:xfrm>
            <a:off x="1507680" y="4397400"/>
            <a:ext cx="1276200" cy="201024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Prefix Byte: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Từ 0 đến 4 bytes ảnh hưởng đến hoạt động của lệnh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6" name="CustomShape 11"/>
          <p:cNvSpPr/>
          <p:nvPr/>
        </p:nvSpPr>
        <p:spPr>
          <a:xfrm>
            <a:off x="2026800" y="2340360"/>
            <a:ext cx="1897560" cy="912960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Opcode: Mã lệnh có kích thước 1 hoặc 2 bytes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7" name="CustomShape 12"/>
          <p:cNvSpPr/>
          <p:nvPr/>
        </p:nvSpPr>
        <p:spPr>
          <a:xfrm>
            <a:off x="3042360" y="4397400"/>
            <a:ext cx="1307160" cy="173592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Mod-Reg-RM xác định kiểu địa chỉ và kích thước toán hạng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8" name="CustomShape 13"/>
          <p:cNvSpPr/>
          <p:nvPr/>
        </p:nvSpPr>
        <p:spPr>
          <a:xfrm>
            <a:off x="4037760" y="2386440"/>
            <a:ext cx="1768320" cy="1187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Optional Scaled Indexed Bytes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Xác định kiểu định vị bộ nhớ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69" name="CustomShape 14"/>
          <p:cNvSpPr/>
          <p:nvPr/>
        </p:nvSpPr>
        <p:spPr>
          <a:xfrm>
            <a:off x="4489560" y="4573800"/>
            <a:ext cx="1882080" cy="14616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Displacement: Độ lệch, từ 0 đến 4 bytes xác định độ lệch địa chỉ vùng nhớ 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0" name="CustomShape 15"/>
          <p:cNvSpPr/>
          <p:nvPr/>
        </p:nvSpPr>
        <p:spPr>
          <a:xfrm>
            <a:off x="5997960" y="2476080"/>
            <a:ext cx="2707920" cy="11872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Immediate data: Hằng số, từ 0 đến 4 bytes trong trường hợp lệnh có toán hạng là hằng số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CustomShape 1"/>
          <p:cNvSpPr/>
          <p:nvPr/>
        </p:nvSpPr>
        <p:spPr>
          <a:xfrm>
            <a:off x="1171440" y="1913400"/>
            <a:ext cx="3121920" cy="4543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2" name="CustomShape 2"/>
          <p:cNvSpPr/>
          <p:nvPr/>
        </p:nvSpPr>
        <p:spPr>
          <a:xfrm>
            <a:off x="1429920" y="3822480"/>
            <a:ext cx="2037960" cy="447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3" name="CustomShape 3"/>
          <p:cNvSpPr/>
          <p:nvPr/>
        </p:nvSpPr>
        <p:spPr>
          <a:xfrm>
            <a:off x="4316400" y="1913400"/>
            <a:ext cx="4394880" cy="4543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74" name="CustomShape 4"/>
          <p:cNvSpPr/>
          <p:nvPr/>
        </p:nvSpPr>
        <p:spPr>
          <a:xfrm>
            <a:off x="5220000" y="2935800"/>
            <a:ext cx="859320" cy="859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5" name="CustomShape 5"/>
          <p:cNvSpPr/>
          <p:nvPr/>
        </p:nvSpPr>
        <p:spPr>
          <a:xfrm>
            <a:off x="628560" y="-7956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Tập lệnh ASM (Mở rộng - option)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6" name="CustomShape 6"/>
          <p:cNvSpPr/>
          <p:nvPr/>
        </p:nvSpPr>
        <p:spPr>
          <a:xfrm>
            <a:off x="628560" y="95832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ADD ECX, EAX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7" name="CustomShape 7"/>
          <p:cNvSpPr/>
          <p:nvPr/>
        </p:nvSpPr>
        <p:spPr>
          <a:xfrm>
            <a:off x="6309360" y="3943440"/>
            <a:ext cx="1032120" cy="4334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R/M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8" name="CustomShape 8"/>
          <p:cNvSpPr/>
          <p:nvPr/>
        </p:nvSpPr>
        <p:spPr>
          <a:xfrm>
            <a:off x="4294080" y="3786120"/>
            <a:ext cx="737280" cy="64332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MOD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9" name="CustomShape 9"/>
          <p:cNvSpPr/>
          <p:nvPr/>
        </p:nvSpPr>
        <p:spPr>
          <a:xfrm>
            <a:off x="3540600" y="3786120"/>
            <a:ext cx="350280" cy="96876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0" name="CustomShape 10"/>
          <p:cNvSpPr/>
          <p:nvPr/>
        </p:nvSpPr>
        <p:spPr>
          <a:xfrm>
            <a:off x="3914280" y="2959920"/>
            <a:ext cx="372240" cy="861840"/>
          </a:xfrm>
          <a:prstGeom prst="rect">
            <a:avLst/>
          </a:prstGeom>
          <a:solidFill>
            <a:srgbClr val="FF99FF"/>
          </a:solidFill>
          <a:ln>
            <a:solidFill>
              <a:srgbClr val="FF99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graphicFrame>
        <p:nvGraphicFramePr>
          <p:cNvPr id="281" name="Table 11"/>
          <p:cNvGraphicFramePr/>
          <p:nvPr/>
        </p:nvGraphicFramePr>
        <p:xfrm>
          <a:off x="1246320" y="3600720"/>
          <a:ext cx="6095520" cy="370080"/>
        </p:xfrm>
        <a:graphic>
          <a:graphicData uri="http://schemas.openxmlformats.org/drawingml/2006/table">
            <a:tbl>
              <a:tblPr/>
              <a:tblGrid>
                <a:gridCol w="38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23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2" name="CustomShape 12"/>
          <p:cNvSpPr/>
          <p:nvPr/>
        </p:nvSpPr>
        <p:spPr>
          <a:xfrm>
            <a:off x="1353600" y="4149720"/>
            <a:ext cx="1276200" cy="1187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000000 là opcode của lệnh ADD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3" name="CustomShape 13"/>
          <p:cNvSpPr/>
          <p:nvPr/>
        </p:nvSpPr>
        <p:spPr>
          <a:xfrm>
            <a:off x="2519280" y="1992600"/>
            <a:ext cx="1897560" cy="1187280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1 chỉ ra rằng lệnh sẽ được thực hiện với các toán hạng 32 bit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4" name="CustomShape 14"/>
          <p:cNvSpPr/>
          <p:nvPr/>
        </p:nvSpPr>
        <p:spPr>
          <a:xfrm>
            <a:off x="2706840" y="4386240"/>
            <a:ext cx="1307160" cy="20102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Byte 0 chỉ ra rằng lệnh Add sẽ thực hiện cộng trường Reg vào trường R/M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5" name="CustomShape 15"/>
          <p:cNvSpPr/>
          <p:nvPr/>
        </p:nvSpPr>
        <p:spPr>
          <a:xfrm>
            <a:off x="4698360" y="1913400"/>
            <a:ext cx="2811600" cy="1187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Giá trị 000 kết hợp với trường d = 0 cho biết toán hạng nguồn là thanh ghi EAX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6" name="CustomShape 16"/>
          <p:cNvSpPr/>
          <p:nvPr/>
        </p:nvSpPr>
        <p:spPr>
          <a:xfrm>
            <a:off x="4211640" y="4314240"/>
            <a:ext cx="1681920" cy="118728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11 chỉ ra rằng đối tượng R/M là thanh ghi Register (R)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7" name="CustomShape 17"/>
          <p:cNvSpPr/>
          <p:nvPr/>
        </p:nvSpPr>
        <p:spPr>
          <a:xfrm>
            <a:off x="6156000" y="4386240"/>
            <a:ext cx="2358360" cy="9129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001 kết hợp với trường d = 0 cho biết toán hạng đích là ECX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8" name="CustomShape 18"/>
          <p:cNvSpPr/>
          <p:nvPr/>
        </p:nvSpPr>
        <p:spPr>
          <a:xfrm>
            <a:off x="1171440" y="1758600"/>
            <a:ext cx="31442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89" name="CustomShape 19"/>
          <p:cNvSpPr/>
          <p:nvPr/>
        </p:nvSpPr>
        <p:spPr>
          <a:xfrm>
            <a:off x="4316400" y="1758600"/>
            <a:ext cx="43948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0" name="CustomShape 20"/>
          <p:cNvSpPr/>
          <p:nvPr/>
        </p:nvSpPr>
        <p:spPr>
          <a:xfrm>
            <a:off x="2117520" y="1408320"/>
            <a:ext cx="17737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Bytes Opcode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1" name="CustomShape 21"/>
          <p:cNvSpPr/>
          <p:nvPr/>
        </p:nvSpPr>
        <p:spPr>
          <a:xfrm>
            <a:off x="5566680" y="1430640"/>
            <a:ext cx="19432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Byte MOD-Reg-RM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CustomShape 1"/>
          <p:cNvSpPr/>
          <p:nvPr/>
        </p:nvSpPr>
        <p:spPr>
          <a:xfrm>
            <a:off x="6469200" y="1922760"/>
            <a:ext cx="1481400" cy="454392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3" name="CustomShape 2"/>
          <p:cNvSpPr/>
          <p:nvPr/>
        </p:nvSpPr>
        <p:spPr>
          <a:xfrm>
            <a:off x="6816240" y="3981240"/>
            <a:ext cx="1032120" cy="4334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4" name="CustomShape 3"/>
          <p:cNvSpPr/>
          <p:nvPr/>
        </p:nvSpPr>
        <p:spPr>
          <a:xfrm>
            <a:off x="628560" y="-21600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Tập lệnh ASM (Mở rộng - option)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5" name="CustomShape 4"/>
          <p:cNvSpPr/>
          <p:nvPr/>
        </p:nvSpPr>
        <p:spPr>
          <a:xfrm>
            <a:off x="628560" y="87588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ADD EDX, DISP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6" name="CustomShape 5"/>
          <p:cNvSpPr/>
          <p:nvPr/>
        </p:nvSpPr>
        <p:spPr>
          <a:xfrm>
            <a:off x="276120" y="1922760"/>
            <a:ext cx="3121920" cy="45439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7" name="CustomShape 6"/>
          <p:cNvSpPr/>
          <p:nvPr/>
        </p:nvSpPr>
        <p:spPr>
          <a:xfrm>
            <a:off x="534600" y="3832200"/>
            <a:ext cx="2037960" cy="447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8" name="CustomShape 7"/>
          <p:cNvSpPr/>
          <p:nvPr/>
        </p:nvSpPr>
        <p:spPr>
          <a:xfrm>
            <a:off x="3421080" y="1922760"/>
            <a:ext cx="3047400" cy="4543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99" name="CustomShape 8"/>
          <p:cNvSpPr/>
          <p:nvPr/>
        </p:nvSpPr>
        <p:spPr>
          <a:xfrm>
            <a:off x="4324680" y="2945160"/>
            <a:ext cx="859320" cy="859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REG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0" name="CustomShape 9"/>
          <p:cNvSpPr/>
          <p:nvPr/>
        </p:nvSpPr>
        <p:spPr>
          <a:xfrm>
            <a:off x="5414040" y="3953160"/>
            <a:ext cx="1032120" cy="433440"/>
          </a:xfrm>
          <a:prstGeom prst="rect">
            <a:avLst/>
          </a:prstGeom>
          <a:solidFill>
            <a:srgbClr val="92D050"/>
          </a:solidFill>
          <a:ln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R/M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1" name="CustomShape 10"/>
          <p:cNvSpPr/>
          <p:nvPr/>
        </p:nvSpPr>
        <p:spPr>
          <a:xfrm>
            <a:off x="3398760" y="3795840"/>
            <a:ext cx="737280" cy="643320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MOD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2" name="CustomShape 11"/>
          <p:cNvSpPr/>
          <p:nvPr/>
        </p:nvSpPr>
        <p:spPr>
          <a:xfrm>
            <a:off x="2645280" y="3795840"/>
            <a:ext cx="350280" cy="96876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3" name="CustomShape 12"/>
          <p:cNvSpPr/>
          <p:nvPr/>
        </p:nvSpPr>
        <p:spPr>
          <a:xfrm>
            <a:off x="3018960" y="2969640"/>
            <a:ext cx="372240" cy="861840"/>
          </a:xfrm>
          <a:prstGeom prst="rect">
            <a:avLst/>
          </a:prstGeom>
          <a:solidFill>
            <a:srgbClr val="FF99FF"/>
          </a:solidFill>
          <a:ln>
            <a:solidFill>
              <a:srgbClr val="FF99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graphicFrame>
        <p:nvGraphicFramePr>
          <p:cNvPr id="304" name="Table 13"/>
          <p:cNvGraphicFramePr/>
          <p:nvPr/>
        </p:nvGraphicFramePr>
        <p:xfrm>
          <a:off x="351000" y="3610440"/>
          <a:ext cx="6095520" cy="370080"/>
        </p:xfrm>
        <a:graphic>
          <a:graphicData uri="http://schemas.openxmlformats.org/drawingml/2006/table">
            <a:tbl>
              <a:tblPr/>
              <a:tblGrid>
                <a:gridCol w="38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8088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8232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7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0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5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1</a:t>
                      </a:r>
                      <a:endParaRPr lang="en-US" sz="15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5" name="CustomShape 14"/>
          <p:cNvSpPr/>
          <p:nvPr/>
        </p:nvSpPr>
        <p:spPr>
          <a:xfrm>
            <a:off x="458280" y="4159440"/>
            <a:ext cx="1276200" cy="11872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000000 là opcode của lệnh ADD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6" name="CustomShape 15"/>
          <p:cNvSpPr/>
          <p:nvPr/>
        </p:nvSpPr>
        <p:spPr>
          <a:xfrm>
            <a:off x="1623960" y="2001960"/>
            <a:ext cx="1897560" cy="1187280"/>
          </a:xfrm>
          <a:prstGeom prst="rect">
            <a:avLst/>
          </a:prstGeom>
          <a:solidFill>
            <a:srgbClr val="FF99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1 chỉ ra rằng lệnh sẽ được thực hiện với các toán hạng 32 bit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7" name="CustomShape 16"/>
          <p:cNvSpPr/>
          <p:nvPr/>
        </p:nvSpPr>
        <p:spPr>
          <a:xfrm>
            <a:off x="1811520" y="4395960"/>
            <a:ext cx="1307160" cy="201024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Byte 1 chỉ ra rằng lệnh Add sẽ thực hiện cộng trường R/M vào trường Reg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8" name="CustomShape 17"/>
          <p:cNvSpPr/>
          <p:nvPr/>
        </p:nvSpPr>
        <p:spPr>
          <a:xfrm>
            <a:off x="3800160" y="1989360"/>
            <a:ext cx="2492280" cy="118728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Giá trị 011 kết hợp với trường d = 1 cho biết toán hạng đích là thanh ghi EDX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9" name="CustomShape 18"/>
          <p:cNvSpPr/>
          <p:nvPr/>
        </p:nvSpPr>
        <p:spPr>
          <a:xfrm>
            <a:off x="3398760" y="4323960"/>
            <a:ext cx="3047400" cy="9129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Kết hợp giữa MOD = 00 và R/M = 101 chỉ ra rằng định vị bộ nhớ theo độ lệch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0" name="CustomShape 19"/>
          <p:cNvSpPr/>
          <p:nvPr/>
        </p:nvSpPr>
        <p:spPr>
          <a:xfrm>
            <a:off x="276120" y="1767960"/>
            <a:ext cx="31442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1" name="CustomShape 20"/>
          <p:cNvSpPr/>
          <p:nvPr/>
        </p:nvSpPr>
        <p:spPr>
          <a:xfrm>
            <a:off x="3421080" y="1767960"/>
            <a:ext cx="303948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graphicFrame>
        <p:nvGraphicFramePr>
          <p:cNvPr id="312" name="Table 21"/>
          <p:cNvGraphicFramePr/>
          <p:nvPr/>
        </p:nvGraphicFramePr>
        <p:xfrm>
          <a:off x="6461640" y="3610440"/>
          <a:ext cx="1463040" cy="3708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uFill>
                            <a:solidFill>
                              <a:srgbClr val="FFFFFF"/>
                            </a:solidFill>
                          </a:uFill>
                          <a:latin typeface="Calibri"/>
                        </a:rPr>
                        <a:t>DISP32</a:t>
                      </a:r>
                      <a:endParaRPr lang="en-US" sz="1800" b="0" strike="noStrike" spc="-1">
                        <a:solidFill>
                          <a:srgbClr val="000000"/>
                        </a:solidFill>
                        <a:uFill>
                          <a:solidFill>
                            <a:srgbClr val="FFFFFF"/>
                          </a:solidFill>
                        </a:u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3" name="CustomShape 22"/>
          <p:cNvSpPr/>
          <p:nvPr/>
        </p:nvSpPr>
        <p:spPr>
          <a:xfrm>
            <a:off x="6446880" y="1767960"/>
            <a:ext cx="150372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A7EBB"/>
            </a:solidFill>
            <a:round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14" name="CustomShape 23"/>
          <p:cNvSpPr/>
          <p:nvPr/>
        </p:nvSpPr>
        <p:spPr>
          <a:xfrm>
            <a:off x="6750720" y="4280400"/>
            <a:ext cx="1477440" cy="9129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Sử dụng 4 bytes để xác định độ lệch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5" name="CustomShape 24"/>
          <p:cNvSpPr/>
          <p:nvPr/>
        </p:nvSpPr>
        <p:spPr>
          <a:xfrm>
            <a:off x="1222200" y="1385280"/>
            <a:ext cx="177372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Bytes Opcode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6" name="CustomShape 25"/>
          <p:cNvSpPr/>
          <p:nvPr/>
        </p:nvSpPr>
        <p:spPr>
          <a:xfrm>
            <a:off x="3874680" y="1360440"/>
            <a:ext cx="21470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Byte MOD-Reg-RM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17" name="CustomShape 26"/>
          <p:cNvSpPr/>
          <p:nvPr/>
        </p:nvSpPr>
        <p:spPr>
          <a:xfrm>
            <a:off x="6529320" y="1180800"/>
            <a:ext cx="177372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4 bytes độ lệch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(Displacement)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/>
          <a:lstStyle/>
          <a:p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Bảng mã ASCII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19" name="Picture 318"/>
          <p:cNvPicPr/>
          <p:nvPr/>
        </p:nvPicPr>
        <p:blipFill>
          <a:blip r:embed="rId2"/>
          <a:stretch/>
        </p:blipFill>
        <p:spPr>
          <a:xfrm>
            <a:off x="548640" y="1282320"/>
            <a:ext cx="3657240" cy="5301000"/>
          </a:xfrm>
          <a:prstGeom prst="rect">
            <a:avLst/>
          </a:prstGeom>
          <a:ln>
            <a:noFill/>
          </a:ln>
        </p:spPr>
      </p:pic>
      <p:pic>
        <p:nvPicPr>
          <p:cNvPr id="320" name="Picture 319"/>
          <p:cNvPicPr/>
          <p:nvPr/>
        </p:nvPicPr>
        <p:blipFill>
          <a:blip r:embed="rId3"/>
          <a:stretch/>
        </p:blipFill>
        <p:spPr>
          <a:xfrm>
            <a:off x="4480560" y="1280520"/>
            <a:ext cx="4205880" cy="5302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628560" y="-19692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Lập trình ASM cơ bản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2" name="CustomShape 2"/>
          <p:cNvSpPr/>
          <p:nvPr/>
        </p:nvSpPr>
        <p:spPr>
          <a:xfrm>
            <a:off x="628560" y="86184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Code Editor(Trình soạn thảo): RadASM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Assembler (Trình biên dịch): Masm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marL="228600" indent="-2278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Debugger (Trình gỡ lỗi) : OllyDbg</a:t>
            </a: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23" name="Picture 3"/>
          <p:cNvPicPr/>
          <p:nvPr/>
        </p:nvPicPr>
        <p:blipFill>
          <a:blip r:embed="rId2"/>
          <a:stretch/>
        </p:blipFill>
        <p:spPr>
          <a:xfrm>
            <a:off x="2297520" y="2524320"/>
            <a:ext cx="4893120" cy="3682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Picture 5"/>
          <p:cNvPicPr/>
          <p:nvPr/>
        </p:nvPicPr>
        <p:blipFill>
          <a:blip r:embed="rId2"/>
          <a:stretch/>
        </p:blipFill>
        <p:spPr>
          <a:xfrm>
            <a:off x="841680" y="1177560"/>
            <a:ext cx="7437240" cy="5165280"/>
          </a:xfrm>
          <a:prstGeom prst="rect">
            <a:avLst/>
          </a:prstGeom>
          <a:ln>
            <a:noFill/>
          </a:ln>
        </p:spPr>
      </p:pic>
      <p:pic>
        <p:nvPicPr>
          <p:cNvPr id="325" name="Content Placeholder 3"/>
          <p:cNvPicPr/>
          <p:nvPr/>
        </p:nvPicPr>
        <p:blipFill>
          <a:blip r:embed="rId3"/>
          <a:stretch/>
        </p:blipFill>
        <p:spPr>
          <a:xfrm>
            <a:off x="841680" y="1164960"/>
            <a:ext cx="7414920" cy="5155560"/>
          </a:xfrm>
          <a:prstGeom prst="rect">
            <a:avLst/>
          </a:prstGeom>
          <a:ln>
            <a:noFill/>
          </a:ln>
        </p:spPr>
      </p:pic>
      <p:sp>
        <p:nvSpPr>
          <p:cNvPr id="326" name="CustomShape 1"/>
          <p:cNvSpPr/>
          <p:nvPr/>
        </p:nvSpPr>
        <p:spPr>
          <a:xfrm>
            <a:off x="628560" y="-257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Lập trình ASM cơ bản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27" name="Picture 6"/>
          <p:cNvPicPr/>
          <p:nvPr/>
        </p:nvPicPr>
        <p:blipFill>
          <a:blip r:embed="rId4"/>
          <a:stretch/>
        </p:blipFill>
        <p:spPr>
          <a:xfrm>
            <a:off x="841680" y="1169280"/>
            <a:ext cx="7414920" cy="5161320"/>
          </a:xfrm>
          <a:prstGeom prst="rect">
            <a:avLst/>
          </a:prstGeom>
          <a:ln>
            <a:noFill/>
          </a:ln>
        </p:spPr>
      </p:pic>
      <p:pic>
        <p:nvPicPr>
          <p:cNvPr id="328" name="Picture 7"/>
          <p:cNvPicPr/>
          <p:nvPr/>
        </p:nvPicPr>
        <p:blipFill>
          <a:blip r:embed="rId5"/>
          <a:stretch/>
        </p:blipFill>
        <p:spPr>
          <a:xfrm>
            <a:off x="841680" y="1152720"/>
            <a:ext cx="7401600" cy="5151960"/>
          </a:xfrm>
          <a:prstGeom prst="rect">
            <a:avLst/>
          </a:prstGeom>
          <a:ln>
            <a:noFill/>
          </a:ln>
        </p:spPr>
      </p:pic>
      <p:pic>
        <p:nvPicPr>
          <p:cNvPr id="329" name="Picture 8"/>
          <p:cNvPicPr/>
          <p:nvPr/>
        </p:nvPicPr>
        <p:blipFill>
          <a:blip r:embed="rId6"/>
          <a:stretch/>
        </p:blipFill>
        <p:spPr>
          <a:xfrm>
            <a:off x="841680" y="1164960"/>
            <a:ext cx="7479000" cy="5205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2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27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CustomShape 1"/>
          <p:cNvSpPr/>
          <p:nvPr/>
        </p:nvSpPr>
        <p:spPr>
          <a:xfrm>
            <a:off x="628560" y="-3524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Lập trình ASM cơ bản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1" name="CustomShape 2"/>
          <p:cNvSpPr/>
          <p:nvPr/>
        </p:nvSpPr>
        <p:spPr>
          <a:xfrm>
            <a:off x="628560" y="1825560"/>
            <a:ext cx="7886160" cy="4350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32" name="Picture 3"/>
          <p:cNvPicPr/>
          <p:nvPr/>
        </p:nvPicPr>
        <p:blipFill>
          <a:blip r:embed="rId2"/>
          <a:stretch/>
        </p:blipFill>
        <p:spPr>
          <a:xfrm>
            <a:off x="628560" y="1190880"/>
            <a:ext cx="7886160" cy="5489280"/>
          </a:xfrm>
          <a:prstGeom prst="rect">
            <a:avLst/>
          </a:prstGeom>
          <a:ln>
            <a:noFill/>
          </a:ln>
        </p:spPr>
      </p:pic>
      <p:sp>
        <p:nvSpPr>
          <p:cNvPr id="333" name="CustomShape 3"/>
          <p:cNvSpPr/>
          <p:nvPr/>
        </p:nvSpPr>
        <p:spPr>
          <a:xfrm flipH="1">
            <a:off x="1170720" y="1095480"/>
            <a:ext cx="951840" cy="729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4" name="CustomShape 4"/>
          <p:cNvSpPr/>
          <p:nvPr/>
        </p:nvSpPr>
        <p:spPr>
          <a:xfrm flipH="1">
            <a:off x="3714120" y="1190880"/>
            <a:ext cx="856440" cy="757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5" name="CustomShape 5"/>
          <p:cNvSpPr/>
          <p:nvPr/>
        </p:nvSpPr>
        <p:spPr>
          <a:xfrm>
            <a:off x="2073240" y="855720"/>
            <a:ext cx="1127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Bộ vi xử lý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6" name="CustomShape 6"/>
          <p:cNvSpPr/>
          <p:nvPr/>
        </p:nvSpPr>
        <p:spPr>
          <a:xfrm>
            <a:off x="4587120" y="858960"/>
            <a:ext cx="23418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Kiểu kích thước bộ nhớ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7" name="CustomShape 7"/>
          <p:cNvSpPr/>
          <p:nvPr/>
        </p:nvSpPr>
        <p:spPr>
          <a:xfrm flipH="1">
            <a:off x="1647000" y="1747080"/>
            <a:ext cx="475560" cy="3261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8" name="CustomShape 8"/>
          <p:cNvSpPr/>
          <p:nvPr/>
        </p:nvSpPr>
        <p:spPr>
          <a:xfrm>
            <a:off x="2135160" y="1534680"/>
            <a:ext cx="170316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Kích thước stack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9" name="CustomShape 9"/>
          <p:cNvSpPr/>
          <p:nvPr/>
        </p:nvSpPr>
        <p:spPr>
          <a:xfrm flipH="1">
            <a:off x="1285200" y="2996280"/>
            <a:ext cx="2348280" cy="19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0" name="CustomShape 10"/>
          <p:cNvSpPr/>
          <p:nvPr/>
        </p:nvSpPr>
        <p:spPr>
          <a:xfrm>
            <a:off x="3634920" y="2717640"/>
            <a:ext cx="298620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Trường data, khai báo các biến toàn cục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1" name="CustomShape 11"/>
          <p:cNvSpPr/>
          <p:nvPr/>
        </p:nvSpPr>
        <p:spPr>
          <a:xfrm flipH="1">
            <a:off x="1285200" y="3651480"/>
            <a:ext cx="2348280" cy="198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2" name="CustomShape 12"/>
          <p:cNvSpPr/>
          <p:nvPr/>
        </p:nvSpPr>
        <p:spPr>
          <a:xfrm>
            <a:off x="3654000" y="3396960"/>
            <a:ext cx="350604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Trường code, sẽ bắt đầu code ở đây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3" name="Line 13"/>
          <p:cNvSpPr/>
          <p:nvPr/>
        </p:nvSpPr>
        <p:spPr>
          <a:xfrm>
            <a:off x="3714480" y="5036760"/>
            <a:ext cx="360" cy="708480"/>
          </a:xfrm>
          <a:prstGeom prst="line">
            <a:avLst/>
          </a:prstGeom>
          <a:ln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44" name="CustomShape 14"/>
          <p:cNvSpPr/>
          <p:nvPr/>
        </p:nvSpPr>
        <p:spPr>
          <a:xfrm>
            <a:off x="3850200" y="5014800"/>
            <a:ext cx="173664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Vòng lặp for ở code asm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5" name="CustomShape 15"/>
          <p:cNvSpPr/>
          <p:nvPr/>
        </p:nvSpPr>
        <p:spPr>
          <a:xfrm>
            <a:off x="2735640" y="5756760"/>
            <a:ext cx="348912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Gọi hàm function với hai tham số đầu vào là sum và sumString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46" name="Line 16"/>
          <p:cNvSpPr/>
          <p:nvPr/>
        </p:nvSpPr>
        <p:spPr>
          <a:xfrm>
            <a:off x="2637360" y="5867280"/>
            <a:ext cx="360" cy="464760"/>
          </a:xfrm>
          <a:prstGeom prst="line">
            <a:avLst/>
          </a:prstGeom>
          <a:ln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Lập trình ASM cơ bản</a:t>
            </a:r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8" name="Content Placeholder 3"/>
          <p:cNvPicPr/>
          <p:nvPr/>
        </p:nvPicPr>
        <p:blipFill>
          <a:blip r:embed="rId2"/>
          <a:stretch/>
        </p:blipFill>
        <p:spPr>
          <a:xfrm>
            <a:off x="748800" y="1362240"/>
            <a:ext cx="7211880" cy="5014080"/>
          </a:xfrm>
          <a:prstGeom prst="rect">
            <a:avLst/>
          </a:prstGeom>
          <a:ln>
            <a:noFill/>
          </a:ln>
        </p:spPr>
      </p:pic>
      <p:sp>
        <p:nvSpPr>
          <p:cNvPr id="349" name="CustomShape 2"/>
          <p:cNvSpPr/>
          <p:nvPr/>
        </p:nvSpPr>
        <p:spPr>
          <a:xfrm flipH="1">
            <a:off x="1948680" y="2184480"/>
            <a:ext cx="6915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0" name="CustomShape 3"/>
          <p:cNvSpPr/>
          <p:nvPr/>
        </p:nvSpPr>
        <p:spPr>
          <a:xfrm>
            <a:off x="2656080" y="1999800"/>
            <a:ext cx="250488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Khai báo hàm IntToString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1" name="CustomShape 4"/>
          <p:cNvSpPr/>
          <p:nvPr/>
        </p:nvSpPr>
        <p:spPr>
          <a:xfrm flipH="1">
            <a:off x="1951920" y="5848200"/>
            <a:ext cx="6915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2" name="CustomShape 5"/>
          <p:cNvSpPr/>
          <p:nvPr/>
        </p:nvSpPr>
        <p:spPr>
          <a:xfrm>
            <a:off x="2595960" y="5663520"/>
            <a:ext cx="2469600" cy="364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Kết thúc hàm IntToString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3" name="CustomShape 6"/>
          <p:cNvSpPr/>
          <p:nvPr/>
        </p:nvSpPr>
        <p:spPr>
          <a:xfrm flipH="1">
            <a:off x="3117240" y="2546280"/>
            <a:ext cx="6915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4" name="CustomShape 7"/>
          <p:cNvSpPr/>
          <p:nvPr/>
        </p:nvSpPr>
        <p:spPr>
          <a:xfrm>
            <a:off x="3798360" y="2361600"/>
            <a:ext cx="245592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Tham số sum truyền từ bên ngoài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55" name="CustomShape 8"/>
          <p:cNvSpPr/>
          <p:nvPr/>
        </p:nvSpPr>
        <p:spPr>
          <a:xfrm flipH="1">
            <a:off x="3521160" y="4560840"/>
            <a:ext cx="6915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56" name="CustomShape 9"/>
          <p:cNvSpPr/>
          <p:nvPr/>
        </p:nvSpPr>
        <p:spPr>
          <a:xfrm>
            <a:off x="4201920" y="4376160"/>
            <a:ext cx="245592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Tham số sumString truyền từ bên ngoài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CustomShape 1"/>
          <p:cNvSpPr/>
          <p:nvPr/>
        </p:nvSpPr>
        <p:spPr>
          <a:xfrm>
            <a:off x="628560" y="365040"/>
            <a:ext cx="788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>
              <a:lnSpc>
                <a:spcPct val="90000"/>
              </a:lnSpc>
            </a:pP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Lập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trình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ASM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cơ</a:t>
            </a:r>
            <a:r>
              <a:rPr lang="en-US" sz="4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 </a:t>
            </a:r>
            <a:r>
              <a:rPr lang="en-US" sz="44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</a:rPr>
              <a:t>bản</a:t>
            </a:r>
            <a:endParaRPr lang="en-US" sz="44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58" name="Content Placeholder 3"/>
          <p:cNvPicPr/>
          <p:nvPr/>
        </p:nvPicPr>
        <p:blipFill>
          <a:blip r:embed="rId2"/>
          <a:stretch/>
        </p:blipFill>
        <p:spPr>
          <a:xfrm>
            <a:off x="628560" y="1690560"/>
            <a:ext cx="7489080" cy="3135600"/>
          </a:xfrm>
          <a:prstGeom prst="rect">
            <a:avLst/>
          </a:prstGeom>
          <a:ln>
            <a:noFill/>
          </a:ln>
        </p:spPr>
      </p:pic>
      <p:sp>
        <p:nvSpPr>
          <p:cNvPr id="359" name="CustomShape 2"/>
          <p:cNvSpPr/>
          <p:nvPr/>
        </p:nvSpPr>
        <p:spPr>
          <a:xfrm flipH="1">
            <a:off x="2104200" y="3809880"/>
            <a:ext cx="1051920" cy="442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0" name="CustomShape 3"/>
          <p:cNvSpPr/>
          <p:nvPr/>
        </p:nvSpPr>
        <p:spPr>
          <a:xfrm>
            <a:off x="3157560" y="3486960"/>
            <a:ext cx="271872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Sử dụng Windows API để hiện ra cửa sổ ghi kết quả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61" name="CustomShape 4"/>
          <p:cNvSpPr/>
          <p:nvPr/>
        </p:nvSpPr>
        <p:spPr>
          <a:xfrm flipH="1">
            <a:off x="2127960" y="4629240"/>
            <a:ext cx="10040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F0000"/>
            </a:solidFill>
            <a:rou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62" name="CustomShape 5"/>
          <p:cNvSpPr/>
          <p:nvPr/>
        </p:nvSpPr>
        <p:spPr>
          <a:xfrm>
            <a:off x="3254400" y="4450680"/>
            <a:ext cx="3787200" cy="638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Gọi API ExitProcess kết thúc chương trình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A38A-4E93-9F52-EAD9-E3178443A11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l" rtl="0">
              <a:lnSpc>
                <a:spcPct val="90000"/>
              </a:lnSpc>
            </a:pPr>
            <a:r>
              <a:rPr lang="en-US" sz="4400" kern="1200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 Light"/>
                <a:ea typeface="+mn-ea"/>
                <a:cs typeface="+mn-cs"/>
              </a:rPr>
              <a:t>Bài tập</a:t>
            </a:r>
            <a:endParaRPr lang="en-US" sz="4400" kern="1200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Calibri Light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33DDA5-BED7-C469-33CA-14E6870507E7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4491480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 err="1"/>
              <a:t>Bài</a:t>
            </a:r>
            <a:r>
              <a:rPr lang="en-US" dirty="0"/>
              <a:t> 1:</a:t>
            </a:r>
          </a:p>
          <a:p>
            <a:pPr algn="l"/>
            <a:r>
              <a:rPr lang="vi-VN" dirty="0"/>
              <a:t>Viết chương trình tỉnh tổng hai số thập phân.</a:t>
            </a:r>
          </a:p>
          <a:p>
            <a:pPr algn="l"/>
            <a:r>
              <a:rPr lang="vi-VN" dirty="0"/>
              <a:t>2 số được đọc từ file đầu vào Input.txt</a:t>
            </a:r>
          </a:p>
          <a:p>
            <a:pPr algn="l"/>
            <a:r>
              <a:rPr lang="vi-VN" dirty="0"/>
              <a:t>Kết quả ghi vào file Output.txt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-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  <a:p>
            <a:pPr algn="l"/>
            <a:r>
              <a:rPr lang="en-US" dirty="0"/>
              <a:t>-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tỉ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lên</a:t>
            </a:r>
            <a:endParaRPr lang="en-US" dirty="0"/>
          </a:p>
          <a:p>
            <a:pPr algn="l"/>
            <a:endParaRPr lang="en-US" dirty="0"/>
          </a:p>
          <a:p>
            <a:pPr algn="l"/>
            <a:r>
              <a:rPr lang="en-US" dirty="0" err="1"/>
              <a:t>Bài</a:t>
            </a:r>
            <a:r>
              <a:rPr lang="en-US" dirty="0"/>
              <a:t> 2:</a:t>
            </a:r>
          </a:p>
          <a:p>
            <a:pPr algn="l"/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file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endParaRPr lang="en-US" dirty="0"/>
          </a:p>
          <a:p>
            <a:pPr algn="l"/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đọc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file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Input.txt</a:t>
            </a:r>
          </a:p>
          <a:p>
            <a:pPr algn="l"/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ghi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file output.txt</a:t>
            </a:r>
          </a:p>
          <a:p>
            <a:pPr algn="l"/>
            <a:endParaRPr lang="en-US" dirty="0"/>
          </a:p>
          <a:p>
            <a:pPr algn="l"/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:</a:t>
            </a:r>
          </a:p>
          <a:p>
            <a:pPr algn="l"/>
            <a:r>
              <a:rPr lang="en-US" dirty="0"/>
              <a:t>-</a:t>
            </a:r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file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pPr algn="l"/>
            <a:r>
              <a:rPr lang="en-US" dirty="0"/>
              <a:t>-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: </a:t>
            </a:r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file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con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liệt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đuôi</a:t>
            </a:r>
            <a:r>
              <a:rPr lang="en-US" dirty="0"/>
              <a:t> file (</a:t>
            </a:r>
            <a:r>
              <a:rPr lang="en-US" dirty="0" err="1"/>
              <a:t>dòng</a:t>
            </a:r>
            <a:r>
              <a:rPr lang="en-US" dirty="0"/>
              <a:t> 2 </a:t>
            </a:r>
            <a:r>
              <a:rPr lang="en-US" dirty="0" err="1"/>
              <a:t>trong</a:t>
            </a:r>
            <a:r>
              <a:rPr lang="en-US" dirty="0"/>
              <a:t> file </a:t>
            </a:r>
            <a:r>
              <a:rPr lang="en-US"/>
              <a:t>Input.txt)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135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2471</TotalTime>
  <Words>2286</Words>
  <Application>Microsoft Office PowerPoint</Application>
  <PresentationFormat>On-screen Show (4:3)</PresentationFormat>
  <Paragraphs>429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Arial</vt:lpstr>
      <vt:lpstr>Calibri</vt:lpstr>
      <vt:lpstr>Calibri Light</vt:lpstr>
      <vt:lpstr>Courier New</vt:lpstr>
      <vt:lpstr>Symbol</vt:lpstr>
      <vt:lpstr>Times New Roman</vt:lpstr>
      <vt:lpstr>Verdana</vt:lpstr>
      <vt:lpstr>Wingdings</vt:lpstr>
      <vt:lpstr>Office Theme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Thanh ghi (Register)</vt:lpstr>
      <vt:lpstr>Thanh ghi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Bài tập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Windows User</dc:creator>
  <dc:description/>
  <cp:lastModifiedBy>HieuLM</cp:lastModifiedBy>
  <cp:revision>336</cp:revision>
  <dcterms:created xsi:type="dcterms:W3CDTF">2019-03-14T03:20:55Z</dcterms:created>
  <dcterms:modified xsi:type="dcterms:W3CDTF">2024-10-25T02:40:19Z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3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37</vt:i4>
  </property>
</Properties>
</file>