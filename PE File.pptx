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7"/>
  </p:notesMasterIdLst>
  <p:sldIdLst>
    <p:sldId id="256" r:id="rId2"/>
    <p:sldId id="267" r:id="rId3"/>
    <p:sldId id="266" r:id="rId4"/>
    <p:sldId id="269" r:id="rId5"/>
    <p:sldId id="268" r:id="rId6"/>
    <p:sldId id="265" r:id="rId7"/>
    <p:sldId id="258" r:id="rId8"/>
    <p:sldId id="264" r:id="rId9"/>
    <p:sldId id="260" r:id="rId10"/>
    <p:sldId id="261" r:id="rId11"/>
    <p:sldId id="276" r:id="rId12"/>
    <p:sldId id="263" r:id="rId13"/>
    <p:sldId id="262" r:id="rId14"/>
    <p:sldId id="270" r:id="rId15"/>
    <p:sldId id="271" r:id="rId16"/>
    <p:sldId id="272" r:id="rId17"/>
    <p:sldId id="259" r:id="rId18"/>
    <p:sldId id="273" r:id="rId19"/>
    <p:sldId id="274" r:id="rId20"/>
    <p:sldId id="275" r:id="rId21"/>
    <p:sldId id="277" r:id="rId22"/>
    <p:sldId id="278" r:id="rId23"/>
    <p:sldId id="279" r:id="rId24"/>
    <p:sldId id="280" r:id="rId25"/>
    <p:sldId id="288" r:id="rId26"/>
    <p:sldId id="284" r:id="rId27"/>
    <p:sldId id="317" r:id="rId28"/>
    <p:sldId id="315" r:id="rId29"/>
    <p:sldId id="316" r:id="rId30"/>
    <p:sldId id="313" r:id="rId31"/>
    <p:sldId id="314" r:id="rId32"/>
    <p:sldId id="296" r:id="rId33"/>
    <p:sldId id="297" r:id="rId34"/>
    <p:sldId id="319" r:id="rId35"/>
    <p:sldId id="294"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y Lê Quang" initials="HL" lastIdx="1" clrIdx="0">
    <p:extLst>
      <p:ext uri="{19B8F6BF-5375-455C-9EA6-DF929625EA0E}">
        <p15:presenceInfo xmlns:p15="http://schemas.microsoft.com/office/powerpoint/2012/main" userId="4a53c653990d3cd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81" autoAdjust="0"/>
    <p:restoredTop sz="92865" autoAdjust="0"/>
  </p:normalViewPr>
  <p:slideViewPr>
    <p:cSldViewPr snapToGrid="0">
      <p:cViewPr varScale="1">
        <p:scale>
          <a:sx n="121" d="100"/>
          <a:sy n="121" d="100"/>
        </p:scale>
        <p:origin x="29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ABB73-6679-4182-9C73-2A01201DB03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E11484E-2E06-4C0D-97A9-34CD0C66FFB2}">
      <dgm:prSet/>
      <dgm:spPr/>
      <dgm:t>
        <a:bodyPr/>
        <a:lstStyle/>
        <a:p>
          <a:pPr>
            <a:defRPr cap="all"/>
          </a:pPr>
          <a:r>
            <a:rPr lang="en-US" dirty="0"/>
            <a:t>RVA =&gt; File Offset</a:t>
          </a:r>
        </a:p>
      </dgm:t>
    </dgm:pt>
    <dgm:pt modelId="{6AA61717-F794-44ED-B444-4672A923E196}" type="parTrans" cxnId="{10B0A243-7AD0-49D6-AC78-7EF0B026C490}">
      <dgm:prSet/>
      <dgm:spPr/>
      <dgm:t>
        <a:bodyPr/>
        <a:lstStyle/>
        <a:p>
          <a:endParaRPr lang="en-US"/>
        </a:p>
      </dgm:t>
    </dgm:pt>
    <dgm:pt modelId="{2812AA53-6E6B-465D-B81E-3C2D4A39CFAA}" type="sibTrans" cxnId="{10B0A243-7AD0-49D6-AC78-7EF0B026C490}">
      <dgm:prSet/>
      <dgm:spPr/>
      <dgm:t>
        <a:bodyPr/>
        <a:lstStyle/>
        <a:p>
          <a:endParaRPr lang="en-US"/>
        </a:p>
      </dgm:t>
    </dgm:pt>
    <dgm:pt modelId="{9A5E2510-3BFC-4C22-9D3C-F49DBE8AADAD}">
      <dgm:prSet/>
      <dgm:spPr/>
      <dgm:t>
        <a:bodyPr/>
        <a:lstStyle/>
        <a:p>
          <a:pPr>
            <a:defRPr cap="all"/>
          </a:pPr>
          <a:r>
            <a:rPr lang="en-US"/>
            <a:t>File Offset =&gt; RVA</a:t>
          </a:r>
        </a:p>
      </dgm:t>
    </dgm:pt>
    <dgm:pt modelId="{A086510F-CB8E-4C64-AD7F-8B030E1722A6}" type="parTrans" cxnId="{ABD57C8F-C10D-401B-AFC3-401D175D7EC7}">
      <dgm:prSet/>
      <dgm:spPr/>
      <dgm:t>
        <a:bodyPr/>
        <a:lstStyle/>
        <a:p>
          <a:endParaRPr lang="en-US"/>
        </a:p>
      </dgm:t>
    </dgm:pt>
    <dgm:pt modelId="{89B98B0E-0A85-47D5-B505-57B4DEF64DE5}" type="sibTrans" cxnId="{ABD57C8F-C10D-401B-AFC3-401D175D7EC7}">
      <dgm:prSet/>
      <dgm:spPr/>
      <dgm:t>
        <a:bodyPr/>
        <a:lstStyle/>
        <a:p>
          <a:endParaRPr lang="en-US"/>
        </a:p>
      </dgm:t>
    </dgm:pt>
    <dgm:pt modelId="{C47F4429-D8BD-48DC-918B-A69E70F1D0E9}">
      <dgm:prSet/>
      <dgm:spPr/>
      <dgm:t>
        <a:bodyPr/>
        <a:lstStyle/>
        <a:p>
          <a:pPr>
            <a:defRPr cap="all"/>
          </a:pPr>
          <a:r>
            <a:rPr lang="en-US"/>
            <a:t>VA = ?</a:t>
          </a:r>
        </a:p>
      </dgm:t>
    </dgm:pt>
    <dgm:pt modelId="{2150F113-2F52-4490-A1C5-34DE936F30EA}" type="parTrans" cxnId="{F870FD26-413E-481D-BDBD-5C8BB7662E8C}">
      <dgm:prSet/>
      <dgm:spPr/>
      <dgm:t>
        <a:bodyPr/>
        <a:lstStyle/>
        <a:p>
          <a:endParaRPr lang="en-US"/>
        </a:p>
      </dgm:t>
    </dgm:pt>
    <dgm:pt modelId="{0EF1EC5C-9B8E-4341-8D76-05B61A55568A}" type="sibTrans" cxnId="{F870FD26-413E-481D-BDBD-5C8BB7662E8C}">
      <dgm:prSet/>
      <dgm:spPr/>
      <dgm:t>
        <a:bodyPr/>
        <a:lstStyle/>
        <a:p>
          <a:endParaRPr lang="en-US"/>
        </a:p>
      </dgm:t>
    </dgm:pt>
    <dgm:pt modelId="{013C9B88-35B1-475C-A54E-0C605D448A81}" type="pres">
      <dgm:prSet presAssocID="{3C9ABB73-6679-4182-9C73-2A01201DB03E}" presName="root" presStyleCnt="0">
        <dgm:presLayoutVars>
          <dgm:dir/>
          <dgm:resizeHandles val="exact"/>
        </dgm:presLayoutVars>
      </dgm:prSet>
      <dgm:spPr/>
    </dgm:pt>
    <dgm:pt modelId="{C65ECAD7-5623-4515-8C24-666AA8002121}" type="pres">
      <dgm:prSet presAssocID="{0E11484E-2E06-4C0D-97A9-34CD0C66FFB2}" presName="compNode" presStyleCnt="0"/>
      <dgm:spPr/>
    </dgm:pt>
    <dgm:pt modelId="{7BBAB8C9-3672-4D3A-B8F6-85B92C5C764B}" type="pres">
      <dgm:prSet presAssocID="{0E11484E-2E06-4C0D-97A9-34CD0C66FFB2}" presName="iconBgRect" presStyleLbl="bgShp" presStyleIdx="0" presStyleCnt="3"/>
      <dgm:spPr/>
    </dgm:pt>
    <dgm:pt modelId="{33B2D46F-9FE2-4C5F-87B4-1CCA2FB712BF}" type="pres">
      <dgm:prSet presAssocID="{0E11484E-2E06-4C0D-97A9-34CD0C66FFB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97ED74FC-422F-413D-A872-ED11A2C1B4E3}" type="pres">
      <dgm:prSet presAssocID="{0E11484E-2E06-4C0D-97A9-34CD0C66FFB2}" presName="spaceRect" presStyleCnt="0"/>
      <dgm:spPr/>
    </dgm:pt>
    <dgm:pt modelId="{9E8E315C-7749-4CC6-A2AE-E211AFBE76B8}" type="pres">
      <dgm:prSet presAssocID="{0E11484E-2E06-4C0D-97A9-34CD0C66FFB2}" presName="textRect" presStyleLbl="revTx" presStyleIdx="0" presStyleCnt="3">
        <dgm:presLayoutVars>
          <dgm:chMax val="1"/>
          <dgm:chPref val="1"/>
        </dgm:presLayoutVars>
      </dgm:prSet>
      <dgm:spPr/>
    </dgm:pt>
    <dgm:pt modelId="{8E054C53-BEAC-46F3-9805-BC500F0C2A04}" type="pres">
      <dgm:prSet presAssocID="{2812AA53-6E6B-465D-B81E-3C2D4A39CFAA}" presName="sibTrans" presStyleCnt="0"/>
      <dgm:spPr/>
    </dgm:pt>
    <dgm:pt modelId="{BD4115BB-09BD-4BDD-A9F9-B38E68940783}" type="pres">
      <dgm:prSet presAssocID="{9A5E2510-3BFC-4C22-9D3C-F49DBE8AADAD}" presName="compNode" presStyleCnt="0"/>
      <dgm:spPr/>
    </dgm:pt>
    <dgm:pt modelId="{543F033B-E0EF-4D9F-ACDF-A929C3570A99}" type="pres">
      <dgm:prSet presAssocID="{9A5E2510-3BFC-4C22-9D3C-F49DBE8AADAD}" presName="iconBgRect" presStyleLbl="bgShp" presStyleIdx="1" presStyleCnt="3"/>
      <dgm:spPr/>
    </dgm:pt>
    <dgm:pt modelId="{AFACE075-E9D9-46D4-B0D4-FB64950245CB}" type="pres">
      <dgm:prSet presAssocID="{9A5E2510-3BFC-4C22-9D3C-F49DBE8AADAD}" presName="iconRect" presStyleLbl="node1" presStyleIdx="1" presStyleCnt="3"/>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C1859B0B-B4EB-4F48-B42A-5AABD0E345F2}" type="pres">
      <dgm:prSet presAssocID="{9A5E2510-3BFC-4C22-9D3C-F49DBE8AADAD}" presName="spaceRect" presStyleCnt="0"/>
      <dgm:spPr/>
    </dgm:pt>
    <dgm:pt modelId="{509D5852-A398-4A1C-8C89-ABDC66084F1A}" type="pres">
      <dgm:prSet presAssocID="{9A5E2510-3BFC-4C22-9D3C-F49DBE8AADAD}" presName="textRect" presStyleLbl="revTx" presStyleIdx="1" presStyleCnt="3">
        <dgm:presLayoutVars>
          <dgm:chMax val="1"/>
          <dgm:chPref val="1"/>
        </dgm:presLayoutVars>
      </dgm:prSet>
      <dgm:spPr/>
    </dgm:pt>
    <dgm:pt modelId="{8C5C990D-3715-4F80-B5DF-E5C568C2F98E}" type="pres">
      <dgm:prSet presAssocID="{89B98B0E-0A85-47D5-B505-57B4DEF64DE5}" presName="sibTrans" presStyleCnt="0"/>
      <dgm:spPr/>
    </dgm:pt>
    <dgm:pt modelId="{C4584245-55BA-416F-AEDB-325ADAA6BF29}" type="pres">
      <dgm:prSet presAssocID="{C47F4429-D8BD-48DC-918B-A69E70F1D0E9}" presName="compNode" presStyleCnt="0"/>
      <dgm:spPr/>
    </dgm:pt>
    <dgm:pt modelId="{5F24D171-FF99-443C-AF9B-557EF09FF2B1}" type="pres">
      <dgm:prSet presAssocID="{C47F4429-D8BD-48DC-918B-A69E70F1D0E9}" presName="iconBgRect" presStyleLbl="bgShp" presStyleIdx="2" presStyleCnt="3"/>
      <dgm:spPr/>
    </dgm:pt>
    <dgm:pt modelId="{806F891E-732E-4F62-BA66-25F7BB3CD1E0}" type="pres">
      <dgm:prSet presAssocID="{C47F4429-D8BD-48DC-918B-A69E70F1D0E9}" presName="iconRect" presStyleLbl="node1" presStyleIdx="2" presStyleCnt="3"/>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edle"/>
        </a:ext>
      </dgm:extLst>
    </dgm:pt>
    <dgm:pt modelId="{558E226C-21EE-4816-90E6-967E6724E9A6}" type="pres">
      <dgm:prSet presAssocID="{C47F4429-D8BD-48DC-918B-A69E70F1D0E9}" presName="spaceRect" presStyleCnt="0"/>
      <dgm:spPr/>
    </dgm:pt>
    <dgm:pt modelId="{B0E143CB-A6B9-4A20-AA57-4CDA17B2FEC9}" type="pres">
      <dgm:prSet presAssocID="{C47F4429-D8BD-48DC-918B-A69E70F1D0E9}" presName="textRect" presStyleLbl="revTx" presStyleIdx="2" presStyleCnt="3">
        <dgm:presLayoutVars>
          <dgm:chMax val="1"/>
          <dgm:chPref val="1"/>
        </dgm:presLayoutVars>
      </dgm:prSet>
      <dgm:spPr/>
    </dgm:pt>
  </dgm:ptLst>
  <dgm:cxnLst>
    <dgm:cxn modelId="{16265505-D961-4EA1-9419-F26E680D3AF2}" type="presOf" srcId="{0E11484E-2E06-4C0D-97A9-34CD0C66FFB2}" destId="{9E8E315C-7749-4CC6-A2AE-E211AFBE76B8}" srcOrd="0" destOrd="0" presId="urn:microsoft.com/office/officeart/2018/5/layout/IconCircleLabelList"/>
    <dgm:cxn modelId="{F870FD26-413E-481D-BDBD-5C8BB7662E8C}" srcId="{3C9ABB73-6679-4182-9C73-2A01201DB03E}" destId="{C47F4429-D8BD-48DC-918B-A69E70F1D0E9}" srcOrd="2" destOrd="0" parTransId="{2150F113-2F52-4490-A1C5-34DE936F30EA}" sibTransId="{0EF1EC5C-9B8E-4341-8D76-05B61A55568A}"/>
    <dgm:cxn modelId="{10B0A243-7AD0-49D6-AC78-7EF0B026C490}" srcId="{3C9ABB73-6679-4182-9C73-2A01201DB03E}" destId="{0E11484E-2E06-4C0D-97A9-34CD0C66FFB2}" srcOrd="0" destOrd="0" parTransId="{6AA61717-F794-44ED-B444-4672A923E196}" sibTransId="{2812AA53-6E6B-465D-B81E-3C2D4A39CFAA}"/>
    <dgm:cxn modelId="{502BC84F-D9D1-4045-9E08-926ECCDFCEAA}" type="presOf" srcId="{3C9ABB73-6679-4182-9C73-2A01201DB03E}" destId="{013C9B88-35B1-475C-A54E-0C605D448A81}" srcOrd="0" destOrd="0" presId="urn:microsoft.com/office/officeart/2018/5/layout/IconCircleLabelList"/>
    <dgm:cxn modelId="{ABD57C8F-C10D-401B-AFC3-401D175D7EC7}" srcId="{3C9ABB73-6679-4182-9C73-2A01201DB03E}" destId="{9A5E2510-3BFC-4C22-9D3C-F49DBE8AADAD}" srcOrd="1" destOrd="0" parTransId="{A086510F-CB8E-4C64-AD7F-8B030E1722A6}" sibTransId="{89B98B0E-0A85-47D5-B505-57B4DEF64DE5}"/>
    <dgm:cxn modelId="{094BF796-F9EC-4BB5-B078-A287F12199C7}" type="presOf" srcId="{9A5E2510-3BFC-4C22-9D3C-F49DBE8AADAD}" destId="{509D5852-A398-4A1C-8C89-ABDC66084F1A}" srcOrd="0" destOrd="0" presId="urn:microsoft.com/office/officeart/2018/5/layout/IconCircleLabelList"/>
    <dgm:cxn modelId="{4C7372B5-0B20-4796-8BF9-E7449EB28CD1}" type="presOf" srcId="{C47F4429-D8BD-48DC-918B-A69E70F1D0E9}" destId="{B0E143CB-A6B9-4A20-AA57-4CDA17B2FEC9}" srcOrd="0" destOrd="0" presId="urn:microsoft.com/office/officeart/2018/5/layout/IconCircleLabelList"/>
    <dgm:cxn modelId="{2FC0D69E-0B33-4E68-82A9-0DBEDEC49BDA}" type="presParOf" srcId="{013C9B88-35B1-475C-A54E-0C605D448A81}" destId="{C65ECAD7-5623-4515-8C24-666AA8002121}" srcOrd="0" destOrd="0" presId="urn:microsoft.com/office/officeart/2018/5/layout/IconCircleLabelList"/>
    <dgm:cxn modelId="{E20C6429-3071-4D83-84F9-0347158F4449}" type="presParOf" srcId="{C65ECAD7-5623-4515-8C24-666AA8002121}" destId="{7BBAB8C9-3672-4D3A-B8F6-85B92C5C764B}" srcOrd="0" destOrd="0" presId="urn:microsoft.com/office/officeart/2018/5/layout/IconCircleLabelList"/>
    <dgm:cxn modelId="{9E04C190-D6C0-4E20-BB01-739524BF1A52}" type="presParOf" srcId="{C65ECAD7-5623-4515-8C24-666AA8002121}" destId="{33B2D46F-9FE2-4C5F-87B4-1CCA2FB712BF}" srcOrd="1" destOrd="0" presId="urn:microsoft.com/office/officeart/2018/5/layout/IconCircleLabelList"/>
    <dgm:cxn modelId="{D79619EF-5F66-4769-B93A-153EBF659288}" type="presParOf" srcId="{C65ECAD7-5623-4515-8C24-666AA8002121}" destId="{97ED74FC-422F-413D-A872-ED11A2C1B4E3}" srcOrd="2" destOrd="0" presId="urn:microsoft.com/office/officeart/2018/5/layout/IconCircleLabelList"/>
    <dgm:cxn modelId="{228C70D7-BF1F-4226-94FF-E439A0C7D367}" type="presParOf" srcId="{C65ECAD7-5623-4515-8C24-666AA8002121}" destId="{9E8E315C-7749-4CC6-A2AE-E211AFBE76B8}" srcOrd="3" destOrd="0" presId="urn:microsoft.com/office/officeart/2018/5/layout/IconCircleLabelList"/>
    <dgm:cxn modelId="{61D12809-977C-4597-A0F8-6119AE51CEDD}" type="presParOf" srcId="{013C9B88-35B1-475C-A54E-0C605D448A81}" destId="{8E054C53-BEAC-46F3-9805-BC500F0C2A04}" srcOrd="1" destOrd="0" presId="urn:microsoft.com/office/officeart/2018/5/layout/IconCircleLabelList"/>
    <dgm:cxn modelId="{2D35C93D-83B3-43A2-AAD1-A91E6EFCCBD4}" type="presParOf" srcId="{013C9B88-35B1-475C-A54E-0C605D448A81}" destId="{BD4115BB-09BD-4BDD-A9F9-B38E68940783}" srcOrd="2" destOrd="0" presId="urn:microsoft.com/office/officeart/2018/5/layout/IconCircleLabelList"/>
    <dgm:cxn modelId="{FAB28FC5-5E7D-4B29-AC50-700A137F4C47}" type="presParOf" srcId="{BD4115BB-09BD-4BDD-A9F9-B38E68940783}" destId="{543F033B-E0EF-4D9F-ACDF-A929C3570A99}" srcOrd="0" destOrd="0" presId="urn:microsoft.com/office/officeart/2018/5/layout/IconCircleLabelList"/>
    <dgm:cxn modelId="{296231B1-0CB6-440C-9EA5-EC1516A77083}" type="presParOf" srcId="{BD4115BB-09BD-4BDD-A9F9-B38E68940783}" destId="{AFACE075-E9D9-46D4-B0D4-FB64950245CB}" srcOrd="1" destOrd="0" presId="urn:microsoft.com/office/officeart/2018/5/layout/IconCircleLabelList"/>
    <dgm:cxn modelId="{1C1E5A22-2525-4537-A8B4-891B91C64F74}" type="presParOf" srcId="{BD4115BB-09BD-4BDD-A9F9-B38E68940783}" destId="{C1859B0B-B4EB-4F48-B42A-5AABD0E345F2}" srcOrd="2" destOrd="0" presId="urn:microsoft.com/office/officeart/2018/5/layout/IconCircleLabelList"/>
    <dgm:cxn modelId="{39640752-B3B8-445E-96CB-6114534EA6FD}" type="presParOf" srcId="{BD4115BB-09BD-4BDD-A9F9-B38E68940783}" destId="{509D5852-A398-4A1C-8C89-ABDC66084F1A}" srcOrd="3" destOrd="0" presId="urn:microsoft.com/office/officeart/2018/5/layout/IconCircleLabelList"/>
    <dgm:cxn modelId="{6C6457F2-051E-45EA-8140-24AE7E9EE494}" type="presParOf" srcId="{013C9B88-35B1-475C-A54E-0C605D448A81}" destId="{8C5C990D-3715-4F80-B5DF-E5C568C2F98E}" srcOrd="3" destOrd="0" presId="urn:microsoft.com/office/officeart/2018/5/layout/IconCircleLabelList"/>
    <dgm:cxn modelId="{B6B06174-DA4B-4B24-A404-941413DB84D0}" type="presParOf" srcId="{013C9B88-35B1-475C-A54E-0C605D448A81}" destId="{C4584245-55BA-416F-AEDB-325ADAA6BF29}" srcOrd="4" destOrd="0" presId="urn:microsoft.com/office/officeart/2018/5/layout/IconCircleLabelList"/>
    <dgm:cxn modelId="{71408B0B-1D7C-40AF-991D-6A2ABF877597}" type="presParOf" srcId="{C4584245-55BA-416F-AEDB-325ADAA6BF29}" destId="{5F24D171-FF99-443C-AF9B-557EF09FF2B1}" srcOrd="0" destOrd="0" presId="urn:microsoft.com/office/officeart/2018/5/layout/IconCircleLabelList"/>
    <dgm:cxn modelId="{6D1BBF80-6FD1-4402-906D-BB528D53FAAF}" type="presParOf" srcId="{C4584245-55BA-416F-AEDB-325ADAA6BF29}" destId="{806F891E-732E-4F62-BA66-25F7BB3CD1E0}" srcOrd="1" destOrd="0" presId="urn:microsoft.com/office/officeart/2018/5/layout/IconCircleLabelList"/>
    <dgm:cxn modelId="{46E148FF-6312-4792-B8F5-08B6284A0831}" type="presParOf" srcId="{C4584245-55BA-416F-AEDB-325ADAA6BF29}" destId="{558E226C-21EE-4816-90E6-967E6724E9A6}" srcOrd="2" destOrd="0" presId="urn:microsoft.com/office/officeart/2018/5/layout/IconCircleLabelList"/>
    <dgm:cxn modelId="{606123A7-6904-47EE-85AC-5EEF2C13E756}" type="presParOf" srcId="{C4584245-55BA-416F-AEDB-325ADAA6BF29}" destId="{B0E143CB-A6B9-4A20-AA57-4CDA17B2FEC9}"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AB8C9-3672-4D3A-B8F6-85B92C5C764B}">
      <dsp:nvSpPr>
        <dsp:cNvPr id="0" name=""/>
        <dsp:cNvSpPr/>
      </dsp:nvSpPr>
      <dsp:spPr>
        <a:xfrm>
          <a:off x="616949" y="256422"/>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B2D46F-9FE2-4C5F-87B4-1CCA2FB712BF}">
      <dsp:nvSpPr>
        <dsp:cNvPr id="0" name=""/>
        <dsp:cNvSpPr/>
      </dsp:nvSpPr>
      <dsp:spPr>
        <a:xfrm>
          <a:off x="1004512" y="643984"/>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8E315C-7749-4CC6-A2AE-E211AFBE76B8}">
      <dsp:nvSpPr>
        <dsp:cNvPr id="0" name=""/>
        <dsp:cNvSpPr/>
      </dsp:nvSpPr>
      <dsp:spPr>
        <a:xfrm>
          <a:off x="35606"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dirty="0"/>
            <a:t>RVA =&gt; File Offset</a:t>
          </a:r>
        </a:p>
      </dsp:txBody>
      <dsp:txXfrm>
        <a:off x="35606" y="2641422"/>
        <a:ext cx="2981250" cy="720000"/>
      </dsp:txXfrm>
    </dsp:sp>
    <dsp:sp modelId="{543F033B-E0EF-4D9F-ACDF-A929C3570A99}">
      <dsp:nvSpPr>
        <dsp:cNvPr id="0" name=""/>
        <dsp:cNvSpPr/>
      </dsp:nvSpPr>
      <dsp:spPr>
        <a:xfrm>
          <a:off x="4119918" y="256422"/>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ACE075-E9D9-46D4-B0D4-FB64950245CB}">
      <dsp:nvSpPr>
        <dsp:cNvPr id="0" name=""/>
        <dsp:cNvSpPr/>
      </dsp:nvSpPr>
      <dsp:spPr>
        <a:xfrm>
          <a:off x="4507481" y="643984"/>
          <a:ext cx="1043437" cy="1043437"/>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9D5852-A398-4A1C-8C89-ABDC66084F1A}">
      <dsp:nvSpPr>
        <dsp:cNvPr id="0" name=""/>
        <dsp:cNvSpPr/>
      </dsp:nvSpPr>
      <dsp:spPr>
        <a:xfrm>
          <a:off x="3538574"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File Offset =&gt; RVA</a:t>
          </a:r>
        </a:p>
      </dsp:txBody>
      <dsp:txXfrm>
        <a:off x="3538574" y="2641422"/>
        <a:ext cx="2981250" cy="720000"/>
      </dsp:txXfrm>
    </dsp:sp>
    <dsp:sp modelId="{5F24D171-FF99-443C-AF9B-557EF09FF2B1}">
      <dsp:nvSpPr>
        <dsp:cNvPr id="0" name=""/>
        <dsp:cNvSpPr/>
      </dsp:nvSpPr>
      <dsp:spPr>
        <a:xfrm>
          <a:off x="7622887" y="256422"/>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6F891E-732E-4F62-BA66-25F7BB3CD1E0}">
      <dsp:nvSpPr>
        <dsp:cNvPr id="0" name=""/>
        <dsp:cNvSpPr/>
      </dsp:nvSpPr>
      <dsp:spPr>
        <a:xfrm>
          <a:off x="8010450" y="643984"/>
          <a:ext cx="1043437" cy="1043437"/>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E143CB-A6B9-4A20-AA57-4CDA17B2FEC9}">
      <dsp:nvSpPr>
        <dsp:cNvPr id="0" name=""/>
        <dsp:cNvSpPr/>
      </dsp:nvSpPr>
      <dsp:spPr>
        <a:xfrm>
          <a:off x="7041543" y="2641422"/>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US" sz="2600" kern="1200"/>
            <a:t>VA = ?</a:t>
          </a:r>
        </a:p>
      </dsp:txBody>
      <dsp:txXfrm>
        <a:off x="7041543" y="2641422"/>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AE62C-FB2E-4861-826E-1DE357C56988}" type="datetimeFigureOut">
              <a:rPr lang="en-US" smtClean="0"/>
              <a:t>11/8/2024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38A244-45E8-4B08-B0B6-D5125B30D59A}" type="slidenum">
              <a:rPr lang="en-US" smtClean="0"/>
              <a:t>‹#›</a:t>
            </a:fld>
            <a:endParaRPr lang="en-US"/>
          </a:p>
        </p:txBody>
      </p:sp>
    </p:spTree>
    <p:extLst>
      <p:ext uri="{BB962C8B-B14F-4D97-AF65-F5344CB8AC3E}">
        <p14:creationId xmlns:p14="http://schemas.microsoft.com/office/powerpoint/2010/main" val="434130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microsoft.com/en-us/windows/desktop/debug/pe-format#overview"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Header, section</a:t>
            </a:r>
          </a:p>
        </p:txBody>
      </p:sp>
      <p:sp>
        <p:nvSpPr>
          <p:cNvPr id="4" name="Slide Number Placeholder 3"/>
          <p:cNvSpPr>
            <a:spLocks noGrp="1"/>
          </p:cNvSpPr>
          <p:nvPr>
            <p:ph type="sldNum" sz="quarter" idx="5"/>
          </p:nvPr>
        </p:nvSpPr>
        <p:spPr/>
        <p:txBody>
          <a:bodyPr/>
          <a:lstStyle/>
          <a:p>
            <a:fld id="{DF38A244-45E8-4B08-B0B6-D5125B30D59A}" type="slidenum">
              <a:rPr lang="en-US" smtClean="0"/>
              <a:t>3</a:t>
            </a:fld>
            <a:endParaRPr lang="en-US"/>
          </a:p>
        </p:txBody>
      </p:sp>
    </p:spTree>
    <p:extLst>
      <p:ext uri="{BB962C8B-B14F-4D97-AF65-F5344CB8AC3E}">
        <p14:creationId xmlns:p14="http://schemas.microsoft.com/office/powerpoint/2010/main" val="2889279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https://docs.microsoft.com/en-us/windows/desktop/debug/pe-format#overview</a:t>
            </a:r>
            <a:endParaRPr lang="en-US" dirty="0"/>
          </a:p>
        </p:txBody>
      </p:sp>
      <p:sp>
        <p:nvSpPr>
          <p:cNvPr id="4" name="Slide Number Placeholder 3"/>
          <p:cNvSpPr>
            <a:spLocks noGrp="1"/>
          </p:cNvSpPr>
          <p:nvPr>
            <p:ph type="sldNum" sz="quarter" idx="5"/>
          </p:nvPr>
        </p:nvSpPr>
        <p:spPr/>
        <p:txBody>
          <a:bodyPr/>
          <a:lstStyle/>
          <a:p>
            <a:fld id="{DF38A244-45E8-4B08-B0B6-D5125B30D59A}" type="slidenum">
              <a:rPr lang="en-US" smtClean="0"/>
              <a:t>11</a:t>
            </a:fld>
            <a:endParaRPr lang="en-US"/>
          </a:p>
        </p:txBody>
      </p:sp>
    </p:spTree>
    <p:extLst>
      <p:ext uri="{BB962C8B-B14F-4D97-AF65-F5344CB8AC3E}">
        <p14:creationId xmlns:p14="http://schemas.microsoft.com/office/powerpoint/2010/main" val="2775637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DataDirectory</a:t>
            </a:r>
            <a:r>
              <a:rPr lang="en-US" sz="1200" b="0" i="0" kern="1200" dirty="0">
                <a:solidFill>
                  <a:schemeClr val="tx1"/>
                </a:solidFill>
                <a:effectLst/>
                <a:latin typeface="+mn-lt"/>
                <a:ea typeface="+mn-ea"/>
                <a:cs typeface="+mn-cs"/>
              </a:rPr>
              <a:t>. The data directory indicates where to find other important components of executable information in the file. It is really nothing more than an array of </a:t>
            </a:r>
            <a:r>
              <a:rPr lang="en-US" sz="1200" b="1" i="0" kern="1200" dirty="0" err="1">
                <a:solidFill>
                  <a:schemeClr val="tx1"/>
                </a:solidFill>
                <a:effectLst/>
                <a:latin typeface="+mn-lt"/>
                <a:ea typeface="+mn-ea"/>
                <a:cs typeface="+mn-cs"/>
              </a:rPr>
              <a:t>IMAGE_DATA_DIRECTORY</a:t>
            </a:r>
            <a:r>
              <a:rPr lang="en-US" sz="1200" b="0" i="0" kern="1200" dirty="0" err="1">
                <a:solidFill>
                  <a:schemeClr val="tx1"/>
                </a:solidFill>
                <a:effectLst/>
                <a:latin typeface="+mn-lt"/>
                <a:ea typeface="+mn-ea"/>
                <a:cs typeface="+mn-cs"/>
              </a:rPr>
              <a:t>structures</a:t>
            </a:r>
            <a:r>
              <a:rPr lang="en-US" sz="1200" b="0" i="0" kern="1200" dirty="0">
                <a:solidFill>
                  <a:schemeClr val="tx1"/>
                </a:solidFill>
                <a:effectLst/>
                <a:latin typeface="+mn-lt"/>
                <a:ea typeface="+mn-ea"/>
                <a:cs typeface="+mn-cs"/>
              </a:rPr>
              <a:t> that are located at the end of the optional header structure. The current PE file format defines 16 possible data directories, 11 of which are now being used.</a:t>
            </a:r>
          </a:p>
          <a:p>
            <a:endParaRPr lang="en-US" dirty="0"/>
          </a:p>
        </p:txBody>
      </p:sp>
      <p:sp>
        <p:nvSpPr>
          <p:cNvPr id="4" name="Slide Number Placeholder 3"/>
          <p:cNvSpPr>
            <a:spLocks noGrp="1"/>
          </p:cNvSpPr>
          <p:nvPr>
            <p:ph type="sldNum" sz="quarter" idx="5"/>
          </p:nvPr>
        </p:nvSpPr>
        <p:spPr/>
        <p:txBody>
          <a:bodyPr/>
          <a:lstStyle/>
          <a:p>
            <a:fld id="{DF38A244-45E8-4B08-B0B6-D5125B30D59A}" type="slidenum">
              <a:rPr lang="en-US" smtClean="0"/>
              <a:t>15</a:t>
            </a:fld>
            <a:endParaRPr lang="en-US"/>
          </a:p>
        </p:txBody>
      </p:sp>
    </p:spTree>
    <p:extLst>
      <p:ext uri="{BB962C8B-B14F-4D97-AF65-F5344CB8AC3E}">
        <p14:creationId xmlns:p14="http://schemas.microsoft.com/office/powerpoint/2010/main" val="3678035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B172F2A-5F98-4A46-8D97-E8537F6C2099}"/>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BC2CCF92-5710-47F7-8E8E-97F953D402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panose="020B0604020202020204" pitchFamily="34" charset="0"/>
              </a:rPr>
              <a:t>Khái</a:t>
            </a:r>
            <a:r>
              <a:rPr lang="en-US" altLang="en-US" dirty="0">
                <a:latin typeface="Arial" panose="020B0604020202020204" pitchFamily="34" charset="0"/>
              </a:rPr>
              <a:t> </a:t>
            </a:r>
            <a:r>
              <a:rPr lang="en-US" altLang="en-US" dirty="0" err="1">
                <a:latin typeface="Arial" panose="020B0604020202020204" pitchFamily="34" charset="0"/>
              </a:rPr>
              <a:t>niệm</a:t>
            </a:r>
            <a:r>
              <a:rPr lang="en-US" altLang="en-US" dirty="0">
                <a:latin typeface="Arial" panose="020B0604020202020204" pitchFamily="34" charset="0"/>
              </a:rPr>
              <a:t> ***</a:t>
            </a:r>
          </a:p>
          <a:p>
            <a:endParaRPr lang="en-US" altLang="en-US" dirty="0">
              <a:latin typeface="Arial" panose="020B0604020202020204" pitchFamily="34" charset="0"/>
            </a:endParaRPr>
          </a:p>
        </p:txBody>
      </p:sp>
      <p:sp>
        <p:nvSpPr>
          <p:cNvPr id="32772" name="Slide Number Placeholder 3">
            <a:extLst>
              <a:ext uri="{FF2B5EF4-FFF2-40B4-BE49-F238E27FC236}">
                <a16:creationId xmlns:a16="http://schemas.microsoft.com/office/drawing/2014/main" id="{5B8857A0-A9DC-4B37-9905-31472AFE97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defRPr>
            </a:lvl1pPr>
            <a:lvl2pPr marL="742950" indent="-285750" eaLnBrk="0" hangingPunct="0">
              <a:defRPr>
                <a:solidFill>
                  <a:schemeClr val="tx1"/>
                </a:solidFill>
                <a:latin typeface="Verdana" panose="020B0604030504040204" pitchFamily="34" charset="0"/>
              </a:defRPr>
            </a:lvl2pPr>
            <a:lvl3pPr marL="1143000" indent="-228600" eaLnBrk="0" hangingPunct="0">
              <a:defRPr>
                <a:solidFill>
                  <a:schemeClr val="tx1"/>
                </a:solidFill>
                <a:latin typeface="Verdana" panose="020B0604030504040204" pitchFamily="34" charset="0"/>
              </a:defRPr>
            </a:lvl3pPr>
            <a:lvl4pPr marL="1600200" indent="-228600" eaLnBrk="0" hangingPunct="0">
              <a:defRPr>
                <a:solidFill>
                  <a:schemeClr val="tx1"/>
                </a:solidFill>
                <a:latin typeface="Verdana" panose="020B0604030504040204" pitchFamily="34" charset="0"/>
              </a:defRPr>
            </a:lvl4pPr>
            <a:lvl5pPr marL="2057400" indent="-228600" eaLnBrk="0" hangingPunct="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fld id="{254D0AE6-6CEF-442D-AC01-18E29590BCF0}" type="slidenum">
              <a:rPr lang="en-US" altLang="en-US">
                <a:latin typeface="Arial" panose="020B0604020202020204" pitchFamily="34" charset="0"/>
              </a:rPr>
              <a:pPr eaLnBrk="1" hangingPunct="1"/>
              <a:t>32</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1EEEBC-20C9-4ACC-B451-7D43108CB807}" type="datetime1">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CF095D-95D3-4D62-8AE4-65EEC2B0C6D5}" type="datetime1">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0B064DA6-13C2-4276-B759-2AC337042DE0}" type="datetime1">
              <a:rPr lang="en-US" smtClean="0"/>
              <a:t>11/8/2024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AB87C7-F9F6-43A5-A5CD-A835D63738C1}" type="datetime1">
              <a:rPr lang="en-US" smtClean="0"/>
              <a:t>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4ACE82-961D-4063-BBDD-A98084E9A1F8}" type="datetime1">
              <a:rPr lang="en-US" smtClean="0"/>
              <a:t>11/8/2024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7F1F58-5F95-4153-B904-355F2A94907F}" type="datetime1">
              <a:rPr lang="en-US" smtClean="0"/>
              <a:t>11/8/2024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3DBC5B-7240-49B1-8EF1-ABEB9AF9FA26}" type="datetime1">
              <a:rPr lang="en-US" smtClean="0"/>
              <a:t>11/8/2024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A2AC60-6F75-4F82-8ECD-95B8E22152DA}" type="datetime1">
              <a:rPr lang="en-US" smtClean="0"/>
              <a:t>11/8/2024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D8C313-9C0F-4128-AE69-2675EDDC90EC}" type="datetime1">
              <a:rPr lang="en-US" smtClean="0"/>
              <a:t>11/8/2024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2C3B66-C7F9-4BBA-AC6E-868F8E81F0B4}" type="datetime1">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032A82-1A9D-4BA5-A357-D0629E554180}" type="datetime1">
              <a:rPr lang="en-US" smtClean="0"/>
              <a:t>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vi-VN" sz="4400" b="0" strike="noStrike" spc="-1">
              <a:latin typeface="Arial"/>
            </a:endParaRPr>
          </a:p>
        </p:txBody>
      </p:sp>
      <p:sp>
        <p:nvSpPr>
          <p:cNvPr id="14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vi-VN" sz="3200" b="0" strike="noStrike" spc="-1">
              <a:latin typeface="Arial"/>
            </a:endParaRPr>
          </a:p>
        </p:txBody>
      </p:sp>
      <p:sp>
        <p:nvSpPr>
          <p:cNvPr id="14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vi-VN" sz="3200" b="0" strike="noStrike" spc="-1">
              <a:latin typeface="Arial"/>
            </a:endParaRPr>
          </a:p>
        </p:txBody>
      </p:sp>
    </p:spTree>
    <p:extLst>
      <p:ext uri="{BB962C8B-B14F-4D97-AF65-F5344CB8AC3E}">
        <p14:creationId xmlns:p14="http://schemas.microsoft.com/office/powerpoint/2010/main" val="3695204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7E7D4AE-12C2-42FD-9D9A-7E1A22C27D46}" type="datetime1">
              <a:rPr lang="en-US" smtClean="0"/>
              <a:t>11/8/2024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5.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2.xml"/><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Layout" Target="../slideLayouts/slideLayout2.xml"/><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2.wdp"/><Relationship Id="rId9" Type="http://schemas.microsoft.com/office/2007/relationships/diagramDrawing" Target="../diagrams/drawing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hyperlink" Target="https://docs.microsoft.com/en-us/windows/desktop/debug/pe-format" TargetMode="External"/><Relationship Id="rId3" Type="http://schemas.openxmlformats.org/officeDocument/2006/relationships/hyperlink" Target="https://rootbiez.blogspot.com/2009/08/system-info.html" TargetMode="External"/><Relationship Id="rId7" Type="http://schemas.openxmlformats.org/officeDocument/2006/relationships/hyperlink" Target="http://www.conmaz.net/kien-thuc/kien-thuc-co-ban-ve-dinh-dang-file-thuc-thi-trong-dieu-hanh-windows-32bit-phan-1.html" TargetMode="External"/><Relationship Id="rId2" Type="http://schemas.openxmlformats.org/officeDocument/2006/relationships/hyperlink" Target="https://lttqstudy.wordpress.com/2012/04/19/qu%E1%BA%A3n-ly-b%E1%BB%99-nh%E1%BB%9B-tren-windows/" TargetMode="External"/><Relationship Id="rId1" Type="http://schemas.openxmlformats.org/officeDocument/2006/relationships/slideLayout" Target="../slideLayouts/slideLayout2.xml"/><Relationship Id="rId6" Type="http://schemas.openxmlformats.org/officeDocument/2006/relationships/hyperlink" Target="https://securitydaily.net/tim-hieu-ve-cau-truc-pe-file/" TargetMode="External"/><Relationship Id="rId5" Type="http://schemas.openxmlformats.org/officeDocument/2006/relationships/hyperlink" Target="http://www.cse.hcmut.edu.vn/~hiep/SlideHDH/Slides/Chuong05.pdf" TargetMode="External"/><Relationship Id="rId4" Type="http://schemas.openxmlformats.org/officeDocument/2006/relationships/hyperlink" Target="https://vimentor.com/vi/lesson/bo-nho-ao-virtual-memory" TargetMode="External"/><Relationship Id="rId9" Type="http://schemas.openxmlformats.org/officeDocument/2006/relationships/hyperlink" Target="https://blog.kowalczyk.info/articles/pefileforma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C3645-E7E1-4FE2-B7F3-E5E2BB7D8542}"/>
              </a:ext>
            </a:extLst>
          </p:cNvPr>
          <p:cNvSpPr>
            <a:spLocks noGrp="1"/>
          </p:cNvSpPr>
          <p:nvPr>
            <p:ph type="ctrTitle"/>
          </p:nvPr>
        </p:nvSpPr>
        <p:spPr>
          <a:xfrm>
            <a:off x="1051560" y="1432223"/>
            <a:ext cx="9966960" cy="3035808"/>
          </a:xfrm>
        </p:spPr>
        <p:txBody>
          <a:bodyPr/>
          <a:lstStyle/>
          <a:p>
            <a:r>
              <a:rPr lang="en-US" dirty="0">
                <a:solidFill>
                  <a:srgbClr val="0070C0"/>
                </a:solidFill>
              </a:rPr>
              <a:t>PE File Format</a:t>
            </a:r>
          </a:p>
        </p:txBody>
      </p:sp>
      <p:sp>
        <p:nvSpPr>
          <p:cNvPr id="3" name="Subtitle 2">
            <a:extLst>
              <a:ext uri="{FF2B5EF4-FFF2-40B4-BE49-F238E27FC236}">
                <a16:creationId xmlns:a16="http://schemas.microsoft.com/office/drawing/2014/main" id="{ADBDBBAA-7BA8-4936-BC24-21051D037A81}"/>
              </a:ext>
            </a:extLst>
          </p:cNvPr>
          <p:cNvSpPr>
            <a:spLocks noGrp="1"/>
          </p:cNvSpPr>
          <p:nvPr>
            <p:ph type="subTitle" idx="1"/>
          </p:nvPr>
        </p:nvSpPr>
        <p:spPr/>
        <p:txBody>
          <a:bodyPr/>
          <a:lstStyle/>
          <a:p>
            <a:r>
              <a:rPr lang="en-US" dirty="0"/>
              <a:t>Học </a:t>
            </a:r>
            <a:r>
              <a:rPr lang="en-US" dirty="0" err="1"/>
              <a:t>cái</a:t>
            </a:r>
            <a:r>
              <a:rPr lang="en-US" dirty="0"/>
              <a:t> này </a:t>
            </a:r>
            <a:r>
              <a:rPr lang="en-US" dirty="0" err="1"/>
              <a:t>làm</a:t>
            </a:r>
            <a:r>
              <a:rPr lang="en-US" dirty="0"/>
              <a:t> </a:t>
            </a:r>
            <a:r>
              <a:rPr lang="en-US" dirty="0" err="1"/>
              <a:t>gì</a:t>
            </a:r>
            <a:r>
              <a:rPr lang="en-US" dirty="0"/>
              <a:t> </a:t>
            </a:r>
            <a:r>
              <a:rPr lang="en-US" dirty="0" err="1"/>
              <a:t>nhỉ</a:t>
            </a:r>
            <a:r>
              <a:rPr lang="en-US" dirty="0"/>
              <a:t> ?? </a:t>
            </a:r>
          </a:p>
        </p:txBody>
      </p:sp>
      <p:sp>
        <p:nvSpPr>
          <p:cNvPr id="4" name="Slide Number Placeholder 3">
            <a:extLst>
              <a:ext uri="{FF2B5EF4-FFF2-40B4-BE49-F238E27FC236}">
                <a16:creationId xmlns:a16="http://schemas.microsoft.com/office/drawing/2014/main" id="{B6661678-9783-4F6E-9D37-9D72E2EE2989}"/>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3958237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63F435D-C369-44F9-BA2E-3DC72EAD6E27}"/>
              </a:ext>
            </a:extLst>
          </p:cNvPr>
          <p:cNvSpPr>
            <a:spLocks noGrp="1"/>
          </p:cNvSpPr>
          <p:nvPr>
            <p:ph type="title"/>
          </p:nvPr>
        </p:nvSpPr>
        <p:spPr>
          <a:xfrm>
            <a:off x="1069848" y="484632"/>
            <a:ext cx="10058400" cy="1609344"/>
          </a:xfrm>
        </p:spPr>
        <p:txBody>
          <a:bodyPr>
            <a:normAutofit/>
          </a:bodyPr>
          <a:lstStyle/>
          <a:p>
            <a:r>
              <a:rPr lang="en-US" dirty="0">
                <a:solidFill>
                  <a:srgbClr val="0070C0"/>
                </a:solidFill>
              </a:rPr>
              <a:t>II.1: </a:t>
            </a:r>
            <a:r>
              <a:rPr lang="en-US" dirty="0" err="1">
                <a:solidFill>
                  <a:srgbClr val="0070C0"/>
                </a:solidFill>
              </a:rPr>
              <a:t>Giới</a:t>
            </a:r>
            <a:r>
              <a:rPr lang="en-US" dirty="0">
                <a:solidFill>
                  <a:srgbClr val="0070C0"/>
                </a:solidFill>
              </a:rPr>
              <a:t> </a:t>
            </a:r>
            <a:r>
              <a:rPr lang="en-US" dirty="0" err="1">
                <a:solidFill>
                  <a:srgbClr val="0070C0"/>
                </a:solidFill>
              </a:rPr>
              <a:t>thiệu</a:t>
            </a:r>
            <a:r>
              <a:rPr lang="en-US" dirty="0">
                <a:solidFill>
                  <a:srgbClr val="0070C0"/>
                </a:solidFill>
              </a:rPr>
              <a:t> PE File</a:t>
            </a:r>
          </a:p>
        </p:txBody>
      </p:sp>
      <p:sp>
        <p:nvSpPr>
          <p:cNvPr id="3" name="Content Placeholder 2">
            <a:extLst>
              <a:ext uri="{FF2B5EF4-FFF2-40B4-BE49-F238E27FC236}">
                <a16:creationId xmlns:a16="http://schemas.microsoft.com/office/drawing/2014/main" id="{595E0761-7794-4383-8D9B-D737B115C83F}"/>
              </a:ext>
            </a:extLst>
          </p:cNvPr>
          <p:cNvSpPr>
            <a:spLocks noGrp="1"/>
          </p:cNvSpPr>
          <p:nvPr>
            <p:ph idx="1"/>
          </p:nvPr>
        </p:nvSpPr>
        <p:spPr>
          <a:xfrm>
            <a:off x="1069848" y="2320412"/>
            <a:ext cx="10058400" cy="3851787"/>
          </a:xfrm>
        </p:spPr>
        <p:txBody>
          <a:bodyPr>
            <a:normAutofit/>
          </a:bodyPr>
          <a:lstStyle/>
          <a:p>
            <a:r>
              <a:rPr lang="vi-VN" b="1" dirty="0"/>
              <a:t>PE File Format</a:t>
            </a:r>
            <a:r>
              <a:rPr lang="vi-VN" dirty="0"/>
              <a:t> – định dạng file thực thi cơ bản trong hệ điều hành Window 32bit.</a:t>
            </a:r>
            <a:endParaRPr lang="en-US" dirty="0"/>
          </a:p>
          <a:p>
            <a:r>
              <a:rPr lang="vi-VN" dirty="0"/>
              <a:t>PE File Format (Portable Executable File Format): là định dạng file riêng của Win32. Tất cả các file có thể thực thi được trên Win32 như: *.EXE, *.DLL (32 bit),*.COM,*.NET, *.CPL,… đều là định dạng PE; ngoại trừ các tập tin VxDs và *.DLL (16 bit).</a:t>
            </a:r>
            <a:endParaRPr lang="en-US" dirty="0"/>
          </a:p>
          <a:p>
            <a:r>
              <a:rPr lang="en-US" dirty="0" err="1"/>
              <a:t>Các</a:t>
            </a:r>
            <a:r>
              <a:rPr lang="en-US" dirty="0"/>
              <a:t> </a:t>
            </a:r>
            <a:r>
              <a:rPr lang="en-US" dirty="0" err="1"/>
              <a:t>chương</a:t>
            </a:r>
            <a:r>
              <a:rPr lang="en-US" dirty="0"/>
              <a:t> </a:t>
            </a:r>
            <a:r>
              <a:rPr lang="en-US" dirty="0" err="1"/>
              <a:t>trình</a:t>
            </a:r>
            <a:r>
              <a:rPr lang="en-US" dirty="0"/>
              <a:t> </a:t>
            </a:r>
            <a:r>
              <a:rPr lang="en-US" dirty="0" err="1"/>
              <a:t>hỗ</a:t>
            </a:r>
            <a:r>
              <a:rPr lang="en-US" dirty="0"/>
              <a:t> </a:t>
            </a:r>
            <a:r>
              <a:rPr lang="en-US" dirty="0" err="1"/>
              <a:t>trợ</a:t>
            </a:r>
            <a:r>
              <a:rPr lang="en-US" dirty="0"/>
              <a:t> view PE File: CFF Explorer, </a:t>
            </a:r>
            <a:r>
              <a:rPr lang="en-US" dirty="0" err="1"/>
              <a:t>Imhex</a:t>
            </a:r>
            <a:r>
              <a:rPr lang="en-US" dirty="0"/>
              <a:t>, </a:t>
            </a:r>
            <a:r>
              <a:rPr lang="en-US" dirty="0" err="1"/>
              <a:t>PeID</a:t>
            </a:r>
            <a:r>
              <a:rPr lang="en-US" dirty="0"/>
              <a:t>,…</a:t>
            </a:r>
          </a:p>
          <a:p>
            <a:r>
              <a:rPr lang="en-US" dirty="0" err="1"/>
              <a:t>Tại</a:t>
            </a:r>
            <a:r>
              <a:rPr lang="en-US" dirty="0"/>
              <a:t> </a:t>
            </a:r>
            <a:r>
              <a:rPr lang="en-US" dirty="0" err="1"/>
              <a:t>sao</a:t>
            </a:r>
            <a:r>
              <a:rPr lang="en-US" dirty="0"/>
              <a:t> </a:t>
            </a:r>
            <a:r>
              <a:rPr lang="en-US" dirty="0" err="1"/>
              <a:t>lại</a:t>
            </a:r>
            <a:r>
              <a:rPr lang="en-US" dirty="0"/>
              <a:t> </a:t>
            </a:r>
            <a:r>
              <a:rPr lang="en-US" dirty="0" err="1"/>
              <a:t>học</a:t>
            </a:r>
            <a:r>
              <a:rPr lang="en-US" dirty="0"/>
              <a:t> </a:t>
            </a:r>
            <a:r>
              <a:rPr lang="en-US" dirty="0" err="1"/>
              <a:t>về</a:t>
            </a:r>
            <a:r>
              <a:rPr lang="en-US" dirty="0"/>
              <a:t> PE File:</a:t>
            </a:r>
          </a:p>
          <a:p>
            <a:pPr lvl="1"/>
            <a:r>
              <a:rPr lang="en-US" dirty="0">
                <a:latin typeface="Times New Roman" panose="02020603050405020304" pitchFamily="18" charset="0"/>
                <a:cs typeface="Times New Roman" panose="02020603050405020304" pitchFamily="18" charset="0"/>
              </a:rPr>
              <a:t>S</a:t>
            </a:r>
            <a:r>
              <a:rPr lang="vi-VN" dirty="0"/>
              <a:t>ẽ hiểu được cơ chế thực thi của một chương trình, tổ chức</a:t>
            </a:r>
            <a:r>
              <a:rPr lang="en-US" dirty="0"/>
              <a:t>, </a:t>
            </a:r>
            <a:r>
              <a:rPr lang="vi-VN" dirty="0"/>
              <a:t>load lên bộ nhớ, các tài nguyên sử dụng, ….</a:t>
            </a:r>
            <a:endParaRPr lang="en-US" dirty="0"/>
          </a:p>
          <a:p>
            <a:pPr lvl="1"/>
            <a:r>
              <a:rPr lang="en-US" dirty="0"/>
              <a:t>Đ</a:t>
            </a:r>
            <a:r>
              <a:rPr lang="vi-VN" dirty="0"/>
              <a:t>em lại những gợi ý đáng kể về kiến trúc của chương trình đó.</a:t>
            </a:r>
            <a:r>
              <a:rPr lang="en-US" dirty="0"/>
              <a:t> </a:t>
            </a:r>
            <a:r>
              <a:rPr lang="en-US" dirty="0">
                <a:sym typeface="Wingdings" panose="05000000000000000000" pitchFamily="2" charset="2"/>
              </a:rPr>
              <a:t></a:t>
            </a: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rất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RE.</a:t>
            </a:r>
          </a:p>
          <a:p>
            <a:pPr marL="274320" lvl="1"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01823B5-9D71-43A5-9A2C-96859F658A46}"/>
              </a:ext>
            </a:extLst>
          </p:cNvPr>
          <p:cNvSpPr>
            <a:spLocks noGrp="1"/>
          </p:cNvSpPr>
          <p:nvPr>
            <p:ph type="sldNum" sz="quarter" idx="12"/>
          </p:nvPr>
        </p:nvSpPr>
        <p:spPr/>
        <p:txBody>
          <a:bodyPr/>
          <a:lstStyle/>
          <a:p>
            <a:fld id="{4FAB73BC-B049-4115-A692-8D63A059BFB8}" type="slidenum">
              <a:rPr lang="en-US" smtClean="0"/>
              <a:t>2</a:t>
            </a:fld>
            <a:endParaRPr lang="en-US" dirty="0"/>
          </a:p>
        </p:txBody>
      </p:sp>
    </p:spTree>
    <p:extLst>
      <p:ext uri="{BB962C8B-B14F-4D97-AF65-F5344CB8AC3E}">
        <p14:creationId xmlns:p14="http://schemas.microsoft.com/office/powerpoint/2010/main" val="12301187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wipe(down)">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wipe(down)">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3">
                                            <p:txEl>
                                              <p:pRg st="3" end="3"/>
                                            </p:txEl>
                                          </p:spTgt>
                                        </p:tgtEl>
                                      </p:cBhvr>
                                    </p:animEffect>
                                  </p:childTnLst>
                                </p:cTn>
                              </p:par>
                              <p:par>
                                <p:cTn id="31" presetID="53" presetClass="entr" presetSubtype="16"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4"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5" dur="500"/>
                                        <p:tgtEl>
                                          <p:spTgt spid="3">
                                            <p:txEl>
                                              <p:pRg st="4" end="4"/>
                                            </p:txEl>
                                          </p:spTgt>
                                        </p:tgtEl>
                                      </p:cBhvr>
                                    </p:animEffect>
                                  </p:childTnLst>
                                </p:cTn>
                              </p:par>
                              <p:par>
                                <p:cTn id="36" presetID="53" presetClass="entr" presetSubtype="16"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p:cTn id="38"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9"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9" name="Group 78">
            <a:extLst>
              <a:ext uri="{FF2B5EF4-FFF2-40B4-BE49-F238E27FC236}">
                <a16:creationId xmlns:a16="http://schemas.microsoft.com/office/drawing/2014/main" id="{6C3F9269-B51E-4556-9221-44C750789B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80" name="Oval 79">
              <a:extLst>
                <a:ext uri="{FF2B5EF4-FFF2-40B4-BE49-F238E27FC236}">
                  <a16:creationId xmlns:a16="http://schemas.microsoft.com/office/drawing/2014/main" id="{FC6015A4-B230-407A-A119-C7CEF83D15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81" name="Oval 80">
              <a:extLst>
                <a:ext uri="{FF2B5EF4-FFF2-40B4-BE49-F238E27FC236}">
                  <a16:creationId xmlns:a16="http://schemas.microsoft.com/office/drawing/2014/main" id="{DFD343FD-1A4D-4EB5-A19C-877ECC71A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3" name="Rectangle 82">
            <a:extLst>
              <a:ext uri="{FF2B5EF4-FFF2-40B4-BE49-F238E27FC236}">
                <a16:creationId xmlns:a16="http://schemas.microsoft.com/office/drawing/2014/main" id="{5B057BAA-CAD8-42D7-8DDF-E2075435D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6502" y="0"/>
            <a:ext cx="6125497" cy="6857999"/>
          </a:xfrm>
          <a:prstGeom prst="rect">
            <a:avLst/>
          </a:prstGeom>
          <a:blipFill dpi="0" rotWithShape="1">
            <a:blip r:embed="rId5">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A160C1-5180-4A42-8375-F4A7201CE444}"/>
              </a:ext>
            </a:extLst>
          </p:cNvPr>
          <p:cNvSpPr>
            <a:spLocks noGrp="1"/>
          </p:cNvSpPr>
          <p:nvPr>
            <p:ph type="title"/>
          </p:nvPr>
        </p:nvSpPr>
        <p:spPr>
          <a:xfrm>
            <a:off x="6400800" y="484632"/>
            <a:ext cx="5299586" cy="1609344"/>
          </a:xfrm>
          <a:ln>
            <a:noFill/>
          </a:ln>
        </p:spPr>
        <p:txBody>
          <a:bodyPr vert="horz" lIns="91440" tIns="45720" rIns="91440" bIns="45720" rtlCol="0" anchor="ctr">
            <a:normAutofit/>
          </a:bodyPr>
          <a:lstStyle/>
          <a:p>
            <a:r>
              <a:rPr lang="en-US" sz="2500" dirty="0">
                <a:solidFill>
                  <a:srgbClr val="0070C0"/>
                </a:solidFill>
              </a:rPr>
              <a:t>II.2: </a:t>
            </a:r>
            <a:r>
              <a:rPr lang="en-US" sz="2500" dirty="0" err="1">
                <a:solidFill>
                  <a:srgbClr val="0070C0"/>
                </a:solidFill>
              </a:rPr>
              <a:t>Cấu</a:t>
            </a:r>
            <a:r>
              <a:rPr lang="en-US" sz="2500" dirty="0">
                <a:solidFill>
                  <a:srgbClr val="0070C0"/>
                </a:solidFill>
              </a:rPr>
              <a:t> </a:t>
            </a:r>
            <a:r>
              <a:rPr lang="en-US" sz="2500" dirty="0" err="1">
                <a:solidFill>
                  <a:srgbClr val="0070C0"/>
                </a:solidFill>
              </a:rPr>
              <a:t>trúc</a:t>
            </a:r>
            <a:r>
              <a:rPr lang="en-US" sz="2500" dirty="0">
                <a:solidFill>
                  <a:srgbClr val="0070C0"/>
                </a:solidFill>
              </a:rPr>
              <a:t> cơ </a:t>
            </a:r>
            <a:r>
              <a:rPr lang="en-US" sz="2500" dirty="0" err="1">
                <a:solidFill>
                  <a:srgbClr val="0070C0"/>
                </a:solidFill>
              </a:rPr>
              <a:t>bản</a:t>
            </a:r>
            <a:r>
              <a:rPr lang="en-US" sz="2500" dirty="0">
                <a:solidFill>
                  <a:srgbClr val="0070C0"/>
                </a:solidFill>
              </a:rPr>
              <a:t> của PE File</a:t>
            </a:r>
            <a:br>
              <a:rPr lang="en-US" sz="2500" dirty="0">
                <a:solidFill>
                  <a:srgbClr val="0070C0"/>
                </a:solidFill>
              </a:rPr>
            </a:br>
            <a:br>
              <a:rPr lang="en-US" sz="2500" dirty="0">
                <a:solidFill>
                  <a:srgbClr val="0070C0"/>
                </a:solidFill>
              </a:rPr>
            </a:br>
            <a:r>
              <a:rPr lang="en-US" sz="2500" dirty="0">
                <a:solidFill>
                  <a:srgbClr val="0070C0"/>
                </a:solidFill>
              </a:rPr>
              <a:t>II.2.1: Basic structure</a:t>
            </a:r>
            <a:br>
              <a:rPr lang="en-US" sz="2500" dirty="0"/>
            </a:br>
            <a:endParaRPr lang="en-US" sz="2500" dirty="0"/>
          </a:p>
        </p:txBody>
      </p:sp>
      <p:pic>
        <p:nvPicPr>
          <p:cNvPr id="1026" name="Picture 2" descr="PE_File_Struct.png">
            <a:extLst>
              <a:ext uri="{FF2B5EF4-FFF2-40B4-BE49-F238E27FC236}">
                <a16:creationId xmlns:a16="http://schemas.microsoft.com/office/drawing/2014/main" id="{B3E66650-714D-4ABF-ABEF-EF3814735C41}"/>
              </a:ext>
            </a:extLst>
          </p:cNvPr>
          <p:cNvPicPr>
            <a:picLocks noGrp="1" noChangeAspect="1" noChangeArrowheads="1"/>
          </p:cNvPicPr>
          <p:nvPr>
            <p:ph idx="1"/>
          </p:nvPr>
        </p:nvPicPr>
        <p:blipFill rotWithShape="1">
          <a:blip r:embed="rId6">
            <a:extLst>
              <a:ext uri="{28A0092B-C50C-407E-A947-70E740481C1C}">
                <a14:useLocalDpi xmlns:a14="http://schemas.microsoft.com/office/drawing/2010/main" val="0"/>
              </a:ext>
            </a:extLst>
          </a:blip>
          <a:srcRect r="239" b="-2"/>
          <a:stretch/>
        </p:blipFill>
        <p:spPr bwMode="auto">
          <a:xfrm>
            <a:off x="633999" y="640080"/>
            <a:ext cx="4794199" cy="5588101"/>
          </a:xfrm>
          <a:prstGeom prst="rect">
            <a:avLst/>
          </a:prstGeom>
          <a:noFill/>
          <a:extLst>
            <a:ext uri="{909E8E84-426E-40DD-AFC4-6F175D3DCCD1}">
              <a14:hiddenFill xmlns:a14="http://schemas.microsoft.com/office/drawing/2010/main">
                <a:solidFill>
                  <a:srgbClr val="FFFFFF"/>
                </a:solidFill>
              </a14:hiddenFill>
            </a:ext>
          </a:extLst>
        </p:spPr>
      </p:pic>
      <p:grpSp>
        <p:nvGrpSpPr>
          <p:cNvPr id="85" name="Group 84">
            <a:extLst>
              <a:ext uri="{FF2B5EF4-FFF2-40B4-BE49-F238E27FC236}">
                <a16:creationId xmlns:a16="http://schemas.microsoft.com/office/drawing/2014/main" id="{ECBD3C71-5915-4215-B435-9334BCE4BE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86" name="Oval 85">
              <a:extLst>
                <a:ext uri="{FF2B5EF4-FFF2-40B4-BE49-F238E27FC236}">
                  <a16:creationId xmlns:a16="http://schemas.microsoft.com/office/drawing/2014/main" id="{118961C7-3F52-4908-BA1D-EE6B50734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3">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87" name="Oval 86">
              <a:extLst>
                <a:ext uri="{FF2B5EF4-FFF2-40B4-BE49-F238E27FC236}">
                  <a16:creationId xmlns:a16="http://schemas.microsoft.com/office/drawing/2014/main" id="{C640DAE0-FDB1-4C88-B414-A361A75EA2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Text Placeholder 2">
            <a:extLst>
              <a:ext uri="{FF2B5EF4-FFF2-40B4-BE49-F238E27FC236}">
                <a16:creationId xmlns:a16="http://schemas.microsoft.com/office/drawing/2014/main" id="{3F0E8412-A27C-4849-B667-B0D3AD05845C}"/>
              </a:ext>
            </a:extLst>
          </p:cNvPr>
          <p:cNvSpPr>
            <a:spLocks noGrp="1"/>
          </p:cNvSpPr>
          <p:nvPr>
            <p:ph type="body" sz="half" idx="2"/>
          </p:nvPr>
        </p:nvSpPr>
        <p:spPr/>
        <p:txBody>
          <a:bodyPr/>
          <a:lstStyle/>
          <a:p>
            <a:endParaRPr lang="en-US" dirty="0"/>
          </a:p>
        </p:txBody>
      </p:sp>
      <p:sp>
        <p:nvSpPr>
          <p:cNvPr id="4" name="Slide Number Placeholder 3">
            <a:extLst>
              <a:ext uri="{FF2B5EF4-FFF2-40B4-BE49-F238E27FC236}">
                <a16:creationId xmlns:a16="http://schemas.microsoft.com/office/drawing/2014/main" id="{4BAD7DDC-940F-4CD4-B1DA-FE2800AF64DA}"/>
              </a:ext>
            </a:extLst>
          </p:cNvPr>
          <p:cNvSpPr>
            <a:spLocks noGrp="1"/>
          </p:cNvSpPr>
          <p:nvPr>
            <p:ph type="sldNum" sz="quarter" idx="12"/>
          </p:nvPr>
        </p:nvSpPr>
        <p:spPr/>
        <p:txBody>
          <a:bodyPr/>
          <a:lstStyle/>
          <a:p>
            <a:fld id="{4FAB73BC-B049-4115-A692-8D63A059BFB8}" type="slidenum">
              <a:rPr lang="en-US" smtClean="0"/>
              <a:t>3</a:t>
            </a:fld>
            <a:endParaRPr lang="en-US" dirty="0"/>
          </a:p>
        </p:txBody>
      </p:sp>
    </p:spTree>
    <p:extLst>
      <p:ext uri="{BB962C8B-B14F-4D97-AF65-F5344CB8AC3E}">
        <p14:creationId xmlns:p14="http://schemas.microsoft.com/office/powerpoint/2010/main" val="9543806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fade">
                                      <p:cBhvr>
                                        <p:cTn id="14" dur="1000"/>
                                        <p:tgtEl>
                                          <p:spTgt spid="1026"/>
                                        </p:tgtEl>
                                      </p:cBhvr>
                                    </p:animEffect>
                                    <p:anim calcmode="lin" valueType="num">
                                      <p:cBhvr>
                                        <p:cTn id="15" dur="1000" fill="hold"/>
                                        <p:tgtEl>
                                          <p:spTgt spid="1026"/>
                                        </p:tgtEl>
                                        <p:attrNameLst>
                                          <p:attrName>ppt_x</p:attrName>
                                        </p:attrNameLst>
                                      </p:cBhvr>
                                      <p:tavLst>
                                        <p:tav tm="0">
                                          <p:val>
                                            <p:strVal val="#ppt_x"/>
                                          </p:val>
                                        </p:tav>
                                        <p:tav tm="100000">
                                          <p:val>
                                            <p:strVal val="#ppt_x"/>
                                          </p:val>
                                        </p:tav>
                                      </p:tavLst>
                                    </p:anim>
                                    <p:anim calcmode="lin" valueType="num">
                                      <p:cBhvr>
                                        <p:cTn id="16"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2" name="Group 121">
            <a:extLst>
              <a:ext uri="{FF2B5EF4-FFF2-40B4-BE49-F238E27FC236}">
                <a16:creationId xmlns:a16="http://schemas.microsoft.com/office/drawing/2014/main" id="{EC78E3E1-BBBA-4058-AAEB-714F04B025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3" name="Oval 122">
              <a:extLst>
                <a:ext uri="{FF2B5EF4-FFF2-40B4-BE49-F238E27FC236}">
                  <a16:creationId xmlns:a16="http://schemas.microsoft.com/office/drawing/2014/main" id="{86860FA5-CE2B-4019-8FD1-031D7D84E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4" name="Oval 123">
              <a:extLst>
                <a:ext uri="{FF2B5EF4-FFF2-40B4-BE49-F238E27FC236}">
                  <a16:creationId xmlns:a16="http://schemas.microsoft.com/office/drawing/2014/main" id="{392DF474-2C37-4DC7-B889-E88EAADEA6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26" name="Rectangle 125">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4">
              <a:alphaModFix amt="60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A160C1-5180-4A42-8375-F4A7201CE444}"/>
              </a:ext>
            </a:extLst>
          </p:cNvPr>
          <p:cNvSpPr>
            <a:spLocks noGrp="1"/>
          </p:cNvSpPr>
          <p:nvPr>
            <p:ph type="title"/>
          </p:nvPr>
        </p:nvSpPr>
        <p:spPr>
          <a:xfrm>
            <a:off x="382280" y="484632"/>
            <a:ext cx="6743844" cy="1609344"/>
          </a:xfrm>
        </p:spPr>
        <p:txBody>
          <a:bodyPr vert="horz" lIns="91440" tIns="45720" rIns="91440" bIns="45720" rtlCol="0" anchor="ctr">
            <a:normAutofit/>
          </a:bodyPr>
          <a:lstStyle/>
          <a:p>
            <a:r>
              <a:rPr lang="en-US" sz="2600" dirty="0">
                <a:solidFill>
                  <a:srgbClr val="0070C0"/>
                </a:solidFill>
              </a:rPr>
              <a:t>II.2 </a:t>
            </a:r>
            <a:r>
              <a:rPr lang="en-US" sz="2600" dirty="0" err="1">
                <a:solidFill>
                  <a:srgbClr val="0070C0"/>
                </a:solidFill>
              </a:rPr>
              <a:t>Cấu</a:t>
            </a:r>
            <a:r>
              <a:rPr lang="en-US" sz="2600" dirty="0">
                <a:solidFill>
                  <a:srgbClr val="0070C0"/>
                </a:solidFill>
              </a:rPr>
              <a:t> </a:t>
            </a:r>
            <a:r>
              <a:rPr lang="en-US" sz="2600" dirty="0" err="1">
                <a:solidFill>
                  <a:srgbClr val="0070C0"/>
                </a:solidFill>
              </a:rPr>
              <a:t>trúc</a:t>
            </a:r>
            <a:r>
              <a:rPr lang="en-US" sz="2600" dirty="0">
                <a:solidFill>
                  <a:srgbClr val="0070C0"/>
                </a:solidFill>
              </a:rPr>
              <a:t> cơ </a:t>
            </a:r>
            <a:r>
              <a:rPr lang="en-US" sz="2600" dirty="0" err="1">
                <a:solidFill>
                  <a:srgbClr val="0070C0"/>
                </a:solidFill>
              </a:rPr>
              <a:t>bản</a:t>
            </a:r>
            <a:r>
              <a:rPr lang="en-US" sz="2600" dirty="0">
                <a:solidFill>
                  <a:srgbClr val="0070C0"/>
                </a:solidFill>
              </a:rPr>
              <a:t> của PE File</a:t>
            </a:r>
            <a:br>
              <a:rPr lang="en-US" sz="2600" dirty="0">
                <a:solidFill>
                  <a:srgbClr val="0070C0"/>
                </a:solidFill>
              </a:rPr>
            </a:br>
            <a:br>
              <a:rPr lang="en-US" sz="2600" dirty="0">
                <a:solidFill>
                  <a:srgbClr val="0070C0"/>
                </a:solidFill>
              </a:rPr>
            </a:br>
            <a:r>
              <a:rPr lang="en-US" sz="2600" dirty="0">
                <a:solidFill>
                  <a:srgbClr val="0070C0"/>
                </a:solidFill>
              </a:rPr>
              <a:t>II.2.1 Basic structure</a:t>
            </a:r>
            <a:br>
              <a:rPr lang="en-US" sz="2600" dirty="0"/>
            </a:br>
            <a:endParaRPr lang="en-US" sz="2600" dirty="0"/>
          </a:p>
        </p:txBody>
      </p:sp>
      <p:sp>
        <p:nvSpPr>
          <p:cNvPr id="4" name="Text Placeholder 3">
            <a:extLst>
              <a:ext uri="{FF2B5EF4-FFF2-40B4-BE49-F238E27FC236}">
                <a16:creationId xmlns:a16="http://schemas.microsoft.com/office/drawing/2014/main" id="{B19635D6-A1E6-42C7-BCB0-CAC5C7AB75EF}"/>
              </a:ext>
            </a:extLst>
          </p:cNvPr>
          <p:cNvSpPr>
            <a:spLocks noGrp="1"/>
          </p:cNvSpPr>
          <p:nvPr>
            <p:ph type="body" sz="half" idx="2"/>
          </p:nvPr>
        </p:nvSpPr>
        <p:spPr>
          <a:xfrm>
            <a:off x="382279" y="2121408"/>
            <a:ext cx="6743845" cy="4050792"/>
          </a:xfrm>
        </p:spPr>
        <p:txBody>
          <a:bodyPr vert="horz" lIns="91440" tIns="45720" rIns="91440" bIns="45720" rtlCol="0">
            <a:normAutofit/>
          </a:bodyPr>
          <a:lstStyle/>
          <a:p>
            <a:pPr marL="285750" indent="-182880">
              <a:lnSpc>
                <a:spcPct val="90000"/>
              </a:lnSpc>
              <a:buFont typeface="Wingdings" pitchFamily="2" charset="2"/>
              <a:buChar char="§"/>
            </a:pP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Executable Code Section, có </a:t>
            </a:r>
            <a:r>
              <a:rPr lang="en-US" sz="1800" dirty="0" err="1">
                <a:solidFill>
                  <a:schemeClr val="tx1"/>
                </a:solidFill>
              </a:rPr>
              <a:t>tên</a:t>
            </a:r>
            <a:r>
              <a:rPr lang="en-US" sz="1800" dirty="0">
                <a:solidFill>
                  <a:schemeClr val="tx1"/>
                </a:solidFill>
              </a:rPr>
              <a:t> là .</a:t>
            </a:r>
            <a:r>
              <a:rPr lang="en-US" sz="1800" b="1" dirty="0">
                <a:solidFill>
                  <a:schemeClr val="tx1"/>
                </a:solidFill>
              </a:rPr>
              <a:t>text.</a:t>
            </a: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Data Sections, có </a:t>
            </a:r>
            <a:r>
              <a:rPr lang="en-US" sz="1800" dirty="0" err="1">
                <a:solidFill>
                  <a:schemeClr val="tx1"/>
                </a:solidFill>
              </a:rPr>
              <a:t>nhng</a:t>
            </a:r>
            <a:r>
              <a:rPr lang="en-US" sz="1800" dirty="0">
                <a:solidFill>
                  <a:schemeClr val="tx1"/>
                </a:solidFill>
              </a:rPr>
              <a:t> </a:t>
            </a:r>
            <a:r>
              <a:rPr lang="en-US" sz="1800" dirty="0" err="1">
                <a:solidFill>
                  <a:schemeClr val="tx1"/>
                </a:solidFill>
              </a:rPr>
              <a:t>tên</a:t>
            </a:r>
            <a:r>
              <a:rPr lang="en-US" sz="1800" dirty="0">
                <a:solidFill>
                  <a:schemeClr val="tx1"/>
                </a:solidFill>
              </a:rPr>
              <a:t> </a:t>
            </a:r>
            <a:r>
              <a:rPr lang="en-US" sz="1800" dirty="0" err="1">
                <a:solidFill>
                  <a:schemeClr val="tx1"/>
                </a:solidFill>
              </a:rPr>
              <a:t>nh</a:t>
            </a:r>
            <a:r>
              <a:rPr lang="en-US" sz="1800" dirty="0">
                <a:solidFill>
                  <a:schemeClr val="tx1"/>
                </a:solidFill>
              </a:rPr>
              <a:t> .</a:t>
            </a:r>
            <a:r>
              <a:rPr lang="en-US" sz="1800" b="1" dirty="0">
                <a:solidFill>
                  <a:schemeClr val="tx1"/>
                </a:solidFill>
              </a:rPr>
              <a:t>data</a:t>
            </a:r>
            <a:r>
              <a:rPr lang="en-US" sz="1800" dirty="0">
                <a:solidFill>
                  <a:schemeClr val="tx1"/>
                </a:solidFill>
              </a:rPr>
              <a:t>, .</a:t>
            </a:r>
            <a:r>
              <a:rPr lang="en-US" sz="1800" b="1" dirty="0" err="1">
                <a:solidFill>
                  <a:schemeClr val="tx1"/>
                </a:solidFill>
              </a:rPr>
              <a:t>rdata</a:t>
            </a:r>
            <a:r>
              <a:rPr lang="en-US" sz="1800" b="1" dirty="0">
                <a:solidFill>
                  <a:schemeClr val="tx1"/>
                </a:solidFill>
              </a:rPr>
              <a:t>.</a:t>
            </a: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Resources Section, có </a:t>
            </a:r>
            <a:r>
              <a:rPr lang="en-US" sz="1800" dirty="0" err="1">
                <a:solidFill>
                  <a:schemeClr val="tx1"/>
                </a:solidFill>
              </a:rPr>
              <a:t>tên</a:t>
            </a:r>
            <a:r>
              <a:rPr lang="en-US" sz="1800" dirty="0">
                <a:solidFill>
                  <a:schemeClr val="tx1"/>
                </a:solidFill>
              </a:rPr>
              <a:t> là .</a:t>
            </a:r>
            <a:r>
              <a:rPr lang="en-US" sz="1800" b="1" dirty="0" err="1">
                <a:solidFill>
                  <a:schemeClr val="tx1"/>
                </a:solidFill>
              </a:rPr>
              <a:t>rsrc</a:t>
            </a:r>
            <a:r>
              <a:rPr lang="en-US" sz="1800" b="1" dirty="0">
                <a:solidFill>
                  <a:schemeClr val="tx1"/>
                </a:solidFill>
              </a:rPr>
              <a:t>.</a:t>
            </a: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Export Data Section, có </a:t>
            </a:r>
            <a:r>
              <a:rPr lang="en-US" sz="1800" dirty="0" err="1">
                <a:solidFill>
                  <a:schemeClr val="tx1"/>
                </a:solidFill>
              </a:rPr>
              <a:t>tên</a:t>
            </a:r>
            <a:r>
              <a:rPr lang="en-US" sz="1800" dirty="0">
                <a:solidFill>
                  <a:schemeClr val="tx1"/>
                </a:solidFill>
              </a:rPr>
              <a:t> là .</a:t>
            </a:r>
            <a:r>
              <a:rPr lang="en-US" sz="1800" b="1" dirty="0" err="1">
                <a:solidFill>
                  <a:schemeClr val="tx1"/>
                </a:solidFill>
              </a:rPr>
              <a:t>edata</a:t>
            </a:r>
            <a:r>
              <a:rPr lang="en-US" sz="1800" b="1" dirty="0">
                <a:solidFill>
                  <a:schemeClr val="tx1"/>
                </a:solidFill>
              </a:rPr>
              <a:t>.</a:t>
            </a: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Import Data Section. có </a:t>
            </a:r>
            <a:r>
              <a:rPr lang="en-US" sz="1800" dirty="0" err="1">
                <a:solidFill>
                  <a:schemeClr val="tx1"/>
                </a:solidFill>
              </a:rPr>
              <a:t>tên</a:t>
            </a:r>
            <a:r>
              <a:rPr lang="en-US" sz="1800" dirty="0">
                <a:solidFill>
                  <a:schemeClr val="tx1"/>
                </a:solidFill>
              </a:rPr>
              <a:t> là .</a:t>
            </a:r>
            <a:r>
              <a:rPr lang="en-US" sz="1800" b="1" dirty="0" err="1">
                <a:solidFill>
                  <a:schemeClr val="tx1"/>
                </a:solidFill>
              </a:rPr>
              <a:t>idata</a:t>
            </a:r>
            <a:r>
              <a:rPr lang="en-US" sz="1800" b="1" dirty="0">
                <a:solidFill>
                  <a:schemeClr val="tx1"/>
                </a:solidFill>
              </a:rPr>
              <a:t>.</a:t>
            </a:r>
            <a:endParaRPr lang="en-US" sz="1800" dirty="0">
              <a:solidFill>
                <a:schemeClr val="tx1"/>
              </a:solidFill>
            </a:endParaRPr>
          </a:p>
          <a:p>
            <a:pPr marL="285750" indent="-182880">
              <a:lnSpc>
                <a:spcPct val="90000"/>
              </a:lnSpc>
              <a:buFont typeface="Wingdings" pitchFamily="2" charset="2"/>
              <a:buChar char="§"/>
            </a:pPr>
            <a:r>
              <a:rPr lang="en-US" sz="1800" dirty="0">
                <a:solidFill>
                  <a:schemeClr val="tx1"/>
                </a:solidFill>
              </a:rPr>
              <a:t>Debug Information Section, có </a:t>
            </a:r>
            <a:r>
              <a:rPr lang="en-US" sz="1800" dirty="0" err="1">
                <a:solidFill>
                  <a:schemeClr val="tx1"/>
                </a:solidFill>
              </a:rPr>
              <a:t>tên</a:t>
            </a:r>
            <a:r>
              <a:rPr lang="en-US" sz="1800" dirty="0">
                <a:solidFill>
                  <a:schemeClr val="tx1"/>
                </a:solidFill>
              </a:rPr>
              <a:t> là .</a:t>
            </a:r>
            <a:r>
              <a:rPr lang="en-US" sz="1800" b="1" dirty="0">
                <a:solidFill>
                  <a:schemeClr val="tx1"/>
                </a:solidFill>
              </a:rPr>
              <a:t>debug.</a:t>
            </a:r>
            <a:endParaRPr lang="en-US" sz="1800" dirty="0">
              <a:solidFill>
                <a:schemeClr val="tx1"/>
              </a:solidFill>
            </a:endParaRPr>
          </a:p>
        </p:txBody>
      </p:sp>
      <p:pic>
        <p:nvPicPr>
          <p:cNvPr id="5" name="Picture 2" descr="https://d33wubrfki0l68.cloudfront.net/75c1ade53d6d84b685e06a5ad4e3c74c8269d29e/dd935/img/92270565db9f7a93c18b286f1f958219404aa74f.png">
            <a:extLst>
              <a:ext uri="{FF2B5EF4-FFF2-40B4-BE49-F238E27FC236}">
                <a16:creationId xmlns:a16="http://schemas.microsoft.com/office/drawing/2014/main" id="{C8CD73C3-432A-4C43-8D76-DCC6ED3C1A6F}"/>
              </a:ext>
            </a:extLst>
          </p:cNvPr>
          <p:cNvPicPr>
            <a:picLocks noGrp="1" noChangeAspect="1" noChangeArrowheads="1"/>
          </p:cNvPicPr>
          <p:nvPr>
            <p:ph idx="1"/>
          </p:nvPr>
        </p:nvPicPr>
        <p:blipFill>
          <a:blip r:embed="rId6">
            <a:extLst>
              <a:ext uri="{28A0092B-C50C-407E-A947-70E740481C1C}">
                <a14:useLocalDpi xmlns:a14="http://schemas.microsoft.com/office/drawing/2010/main" val="0"/>
              </a:ext>
            </a:extLst>
          </a:blip>
          <a:stretch>
            <a:fillRect/>
          </a:stretch>
        </p:blipFill>
        <p:spPr bwMode="auto">
          <a:xfrm>
            <a:off x="8822306" y="0"/>
            <a:ext cx="2608612" cy="6857999"/>
          </a:xfrm>
          <a:prstGeom prst="rect">
            <a:avLst/>
          </a:prstGeom>
          <a:noFill/>
          <a:extLst>
            <a:ext uri="{909E8E84-426E-40DD-AFC4-6F175D3DCCD1}">
              <a14:hiddenFill xmlns:a14="http://schemas.microsoft.com/office/drawing/2010/main">
                <a:solidFill>
                  <a:srgbClr val="FFFFFF"/>
                </a:solidFill>
              </a14:hiddenFill>
            </a:ext>
          </a:extLst>
        </p:spPr>
      </p:pic>
      <p:grpSp>
        <p:nvGrpSpPr>
          <p:cNvPr id="128" name="Group 127">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9" name="Oval 128">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0" name="Oval 129">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lide Number Placeholder 2">
            <a:extLst>
              <a:ext uri="{FF2B5EF4-FFF2-40B4-BE49-F238E27FC236}">
                <a16:creationId xmlns:a16="http://schemas.microsoft.com/office/drawing/2014/main" id="{37C82B9F-A09D-4E08-97B4-43F16D27BF71}"/>
              </a:ext>
            </a:extLst>
          </p:cNvPr>
          <p:cNvSpPr>
            <a:spLocks noGrp="1"/>
          </p:cNvSpPr>
          <p:nvPr>
            <p:ph type="sldNum" sz="quarter" idx="12"/>
          </p:nvPr>
        </p:nvSpPr>
        <p:spPr/>
        <p:txBody>
          <a:bodyPr/>
          <a:lstStyle/>
          <a:p>
            <a:fld id="{4FAB73BC-B049-4115-A692-8D63A059BFB8}" type="slidenum">
              <a:rPr lang="en-US" smtClean="0"/>
              <a:t>4</a:t>
            </a:fld>
            <a:endParaRPr lang="en-US" dirty="0"/>
          </a:p>
        </p:txBody>
      </p:sp>
    </p:spTree>
    <p:extLst>
      <p:ext uri="{BB962C8B-B14F-4D97-AF65-F5344CB8AC3E}">
        <p14:creationId xmlns:p14="http://schemas.microsoft.com/office/powerpoint/2010/main" val="12049212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barn(inVertical)">
                                      <p:cBhvr>
                                        <p:cTn id="24" dur="500"/>
                                        <p:tgtEl>
                                          <p:spTgt spid="4">
                                            <p:txEl>
                                              <p:pRg st="5" end="5"/>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barn(inVertical)">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heel(1)">
                                      <p:cBhvr>
                                        <p:cTn id="3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13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BE1BF-606A-4077-A7CD-D0572509EF5B}"/>
              </a:ext>
            </a:extLst>
          </p:cNvPr>
          <p:cNvSpPr>
            <a:spLocks noGrp="1"/>
          </p:cNvSpPr>
          <p:nvPr>
            <p:ph type="title"/>
          </p:nvPr>
        </p:nvSpPr>
        <p:spPr>
          <a:xfrm>
            <a:off x="8156350" y="484632"/>
            <a:ext cx="3544035" cy="1609344"/>
          </a:xfrm>
          <a:ln>
            <a:noFill/>
          </a:ln>
        </p:spPr>
        <p:txBody>
          <a:bodyPr>
            <a:normAutofit/>
          </a:bodyPr>
          <a:lstStyle/>
          <a:p>
            <a:br>
              <a:rPr lang="en-US" sz="3200" dirty="0"/>
            </a:br>
            <a:r>
              <a:rPr lang="en-US" sz="3200" dirty="0">
                <a:solidFill>
                  <a:srgbClr val="0070C0"/>
                </a:solidFill>
              </a:rPr>
              <a:t>II.2.2 DOS header</a:t>
            </a:r>
            <a:br>
              <a:rPr lang="en-US" sz="3200" dirty="0"/>
            </a:br>
            <a:endParaRPr lang="en-US" sz="3200" dirty="0"/>
          </a:p>
        </p:txBody>
      </p:sp>
      <p:pic>
        <p:nvPicPr>
          <p:cNvPr id="4" name="Picture 3">
            <a:extLst>
              <a:ext uri="{FF2B5EF4-FFF2-40B4-BE49-F238E27FC236}">
                <a16:creationId xmlns:a16="http://schemas.microsoft.com/office/drawing/2014/main" id="{ABC9364D-1975-4145-A40F-38FE5CEF0561}"/>
              </a:ext>
            </a:extLst>
          </p:cNvPr>
          <p:cNvPicPr>
            <a:picLocks noChangeAspect="1"/>
          </p:cNvPicPr>
          <p:nvPr/>
        </p:nvPicPr>
        <p:blipFill>
          <a:blip r:embed="rId4"/>
          <a:stretch>
            <a:fillRect/>
          </a:stretch>
        </p:blipFill>
        <p:spPr>
          <a:xfrm>
            <a:off x="633999" y="722399"/>
            <a:ext cx="6882269" cy="5423463"/>
          </a:xfrm>
          <a:prstGeom prst="rect">
            <a:avLst/>
          </a:prstGeom>
        </p:spPr>
      </p:pic>
      <p:sp>
        <p:nvSpPr>
          <p:cNvPr id="3" name="Content Placeholder 2">
            <a:extLst>
              <a:ext uri="{FF2B5EF4-FFF2-40B4-BE49-F238E27FC236}">
                <a16:creationId xmlns:a16="http://schemas.microsoft.com/office/drawing/2014/main" id="{7508819D-21A4-443D-9490-363FBFD60F11}"/>
              </a:ext>
            </a:extLst>
          </p:cNvPr>
          <p:cNvSpPr>
            <a:spLocks noGrp="1"/>
          </p:cNvSpPr>
          <p:nvPr>
            <p:ph idx="1"/>
          </p:nvPr>
        </p:nvSpPr>
        <p:spPr>
          <a:xfrm>
            <a:off x="8156351" y="2121408"/>
            <a:ext cx="3544034" cy="4050792"/>
          </a:xfrm>
        </p:spPr>
        <p:txBody>
          <a:bodyPr>
            <a:normAutofit/>
          </a:bodyPr>
          <a:lstStyle/>
          <a:p>
            <a:r>
              <a:rPr lang="vi-VN" sz="1800" dirty="0"/>
              <a:t>Tất cả các file PE bắt đầu bằng DOS Header</a:t>
            </a:r>
            <a:r>
              <a:rPr lang="en-US" sz="1800" dirty="0"/>
              <a:t>.</a:t>
            </a:r>
          </a:p>
          <a:p>
            <a:r>
              <a:rPr lang="en-US" sz="1800" dirty="0"/>
              <a:t>V</a:t>
            </a:r>
            <a:r>
              <a:rPr lang="vi-VN" sz="1800" dirty="0"/>
              <a:t>ùng này chiếm 64 bytes đầu tiên của files. </a:t>
            </a:r>
            <a:endParaRPr lang="en-US" sz="1800" dirty="0"/>
          </a:p>
          <a:p>
            <a:r>
              <a:rPr lang="vi-VN" sz="1800" dirty="0"/>
              <a:t>Vùng này được dùng  trong trường hợp chương trình chạy trên nền DOS, hệ điều hành DOS nhận biết đây là một file thực thi hợp lệ và sẽ thực thi nội dung trong phần DOS stub.</a:t>
            </a:r>
            <a:endParaRPr lang="en-US" sz="1800" dirty="0"/>
          </a:p>
          <a:p>
            <a:r>
              <a:rPr lang="vi-VN" sz="1800" dirty="0"/>
              <a:t>Trong đó chúng ta cần quan tâm tới hai trường:</a:t>
            </a:r>
            <a:r>
              <a:rPr lang="en-US" sz="1800" dirty="0"/>
              <a:t> </a:t>
            </a:r>
            <a:r>
              <a:rPr lang="en-US" sz="1800" dirty="0" err="1"/>
              <a:t>e_magic</a:t>
            </a:r>
            <a:r>
              <a:rPr lang="en-US" sz="1800" dirty="0"/>
              <a:t>, </a:t>
            </a:r>
            <a:r>
              <a:rPr lang="en-US" sz="1800" dirty="0" err="1"/>
              <a:t>e_lfanew</a:t>
            </a:r>
            <a:r>
              <a:rPr lang="en-US" sz="1800" dirty="0"/>
              <a:t>.</a:t>
            </a:r>
          </a:p>
        </p:txBody>
      </p:sp>
      <p:grpSp>
        <p:nvGrpSpPr>
          <p:cNvPr id="2056" name="Group 139">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1" name="Oval 140">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2" name="Oval 141">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FECBECE9-F4B2-4B9D-9A4D-DAC98C9FBACA}"/>
              </a:ext>
            </a:extLst>
          </p:cNvPr>
          <p:cNvSpPr>
            <a:spLocks noGrp="1"/>
          </p:cNvSpPr>
          <p:nvPr>
            <p:ph type="sldNum" sz="quarter" idx="12"/>
          </p:nvPr>
        </p:nvSpPr>
        <p:spPr/>
        <p:txBody>
          <a:bodyPr/>
          <a:lstStyle/>
          <a:p>
            <a:fld id="{4FAB73BC-B049-4115-A692-8D63A059BFB8}" type="slidenum">
              <a:rPr lang="en-US" smtClean="0"/>
              <a:t>5</a:t>
            </a:fld>
            <a:endParaRPr lang="en-US" dirty="0"/>
          </a:p>
        </p:txBody>
      </p:sp>
    </p:spTree>
    <p:extLst>
      <p:ext uri="{BB962C8B-B14F-4D97-AF65-F5344CB8AC3E}">
        <p14:creationId xmlns:p14="http://schemas.microsoft.com/office/powerpoint/2010/main" val="29009892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80">
                                          <p:stCondLst>
                                            <p:cond delay="0"/>
                                          </p:stCondLst>
                                        </p:cTn>
                                        <p:tgtEl>
                                          <p:spTgt spid="4"/>
                                        </p:tgtEl>
                                      </p:cBhvr>
                                    </p:animEffect>
                                    <p:anim calcmode="lin" valueType="num">
                                      <p:cBhvr>
                                        <p:cTn id="3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5" dur="26">
                                          <p:stCondLst>
                                            <p:cond delay="650"/>
                                          </p:stCondLst>
                                        </p:cTn>
                                        <p:tgtEl>
                                          <p:spTgt spid="4"/>
                                        </p:tgtEl>
                                      </p:cBhvr>
                                      <p:to x="100000" y="60000"/>
                                    </p:animScale>
                                    <p:animScale>
                                      <p:cBhvr>
                                        <p:cTn id="36" dur="166" decel="50000">
                                          <p:stCondLst>
                                            <p:cond delay="676"/>
                                          </p:stCondLst>
                                        </p:cTn>
                                        <p:tgtEl>
                                          <p:spTgt spid="4"/>
                                        </p:tgtEl>
                                      </p:cBhvr>
                                      <p:to x="100000" y="100000"/>
                                    </p:animScale>
                                    <p:animScale>
                                      <p:cBhvr>
                                        <p:cTn id="37" dur="26">
                                          <p:stCondLst>
                                            <p:cond delay="1312"/>
                                          </p:stCondLst>
                                        </p:cTn>
                                        <p:tgtEl>
                                          <p:spTgt spid="4"/>
                                        </p:tgtEl>
                                      </p:cBhvr>
                                      <p:to x="100000" y="80000"/>
                                    </p:animScale>
                                    <p:animScale>
                                      <p:cBhvr>
                                        <p:cTn id="38" dur="166" decel="50000">
                                          <p:stCondLst>
                                            <p:cond delay="1338"/>
                                          </p:stCondLst>
                                        </p:cTn>
                                        <p:tgtEl>
                                          <p:spTgt spid="4"/>
                                        </p:tgtEl>
                                      </p:cBhvr>
                                      <p:to x="100000" y="100000"/>
                                    </p:animScale>
                                    <p:animScale>
                                      <p:cBhvr>
                                        <p:cTn id="39" dur="26">
                                          <p:stCondLst>
                                            <p:cond delay="1642"/>
                                          </p:stCondLst>
                                        </p:cTn>
                                        <p:tgtEl>
                                          <p:spTgt spid="4"/>
                                        </p:tgtEl>
                                      </p:cBhvr>
                                      <p:to x="100000" y="90000"/>
                                    </p:animScale>
                                    <p:animScale>
                                      <p:cBhvr>
                                        <p:cTn id="40" dur="166" decel="50000">
                                          <p:stCondLst>
                                            <p:cond delay="1668"/>
                                          </p:stCondLst>
                                        </p:cTn>
                                        <p:tgtEl>
                                          <p:spTgt spid="4"/>
                                        </p:tgtEl>
                                      </p:cBhvr>
                                      <p:to x="100000" y="100000"/>
                                    </p:animScale>
                                    <p:animScale>
                                      <p:cBhvr>
                                        <p:cTn id="41" dur="26">
                                          <p:stCondLst>
                                            <p:cond delay="1808"/>
                                          </p:stCondLst>
                                        </p:cTn>
                                        <p:tgtEl>
                                          <p:spTgt spid="4"/>
                                        </p:tgtEl>
                                      </p:cBhvr>
                                      <p:to x="100000" y="95000"/>
                                    </p:animScale>
                                    <p:animScale>
                                      <p:cBhvr>
                                        <p:cTn id="42"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0">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602EF8-A8AB-4568-A333-3FA5CB028725}"/>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II.2.2 DOS header</a:t>
            </a:r>
          </a:p>
        </p:txBody>
      </p:sp>
      <p:pic>
        <p:nvPicPr>
          <p:cNvPr id="6" name="Picture 5">
            <a:extLst>
              <a:ext uri="{FF2B5EF4-FFF2-40B4-BE49-F238E27FC236}">
                <a16:creationId xmlns:a16="http://schemas.microsoft.com/office/drawing/2014/main" id="{698F3F69-FDC9-4B93-A5DE-1BD790061461}"/>
              </a:ext>
            </a:extLst>
          </p:cNvPr>
          <p:cNvPicPr>
            <a:picLocks noChangeAspect="1"/>
          </p:cNvPicPr>
          <p:nvPr/>
        </p:nvPicPr>
        <p:blipFill>
          <a:blip r:embed="rId4"/>
          <a:stretch>
            <a:fillRect/>
          </a:stretch>
        </p:blipFill>
        <p:spPr>
          <a:xfrm>
            <a:off x="633999" y="1997457"/>
            <a:ext cx="6882269" cy="2873347"/>
          </a:xfrm>
          <a:prstGeom prst="rect">
            <a:avLst/>
          </a:prstGeom>
        </p:spPr>
      </p:pic>
      <p:sp>
        <p:nvSpPr>
          <p:cNvPr id="3" name="Content Placeholder 2">
            <a:extLst>
              <a:ext uri="{FF2B5EF4-FFF2-40B4-BE49-F238E27FC236}">
                <a16:creationId xmlns:a16="http://schemas.microsoft.com/office/drawing/2014/main" id="{E12A3E15-AA25-4203-AFDF-86EF04ACA7DD}"/>
              </a:ext>
            </a:extLst>
          </p:cNvPr>
          <p:cNvSpPr>
            <a:spLocks noGrp="1"/>
          </p:cNvSpPr>
          <p:nvPr>
            <p:ph idx="1"/>
          </p:nvPr>
        </p:nvSpPr>
        <p:spPr>
          <a:xfrm>
            <a:off x="8156351" y="2121408"/>
            <a:ext cx="3544034" cy="4050792"/>
          </a:xfrm>
        </p:spPr>
        <p:txBody>
          <a:bodyPr>
            <a:normAutofit/>
          </a:bodyPr>
          <a:lstStyle/>
          <a:p>
            <a:r>
              <a:rPr lang="en-US" sz="1800" dirty="0" err="1"/>
              <a:t>Từ</a:t>
            </a:r>
            <a:r>
              <a:rPr lang="en-US" sz="1800" dirty="0"/>
              <a:t> thông tin </a:t>
            </a:r>
            <a:r>
              <a:rPr lang="en-US" sz="1800" dirty="0" err="1"/>
              <a:t>từ</a:t>
            </a:r>
            <a:r>
              <a:rPr lang="en-US" sz="1800" dirty="0"/>
              <a:t> tr</a:t>
            </a:r>
            <a:r>
              <a:rPr lang="vi-VN" sz="1800" dirty="0"/>
              <a:t>ư</a:t>
            </a:r>
            <a:r>
              <a:rPr lang="en-US" sz="1800" dirty="0" err="1"/>
              <a:t>ờng</a:t>
            </a:r>
            <a:r>
              <a:rPr lang="en-US" sz="1800" dirty="0"/>
              <a:t> </a:t>
            </a:r>
            <a:r>
              <a:rPr lang="en-US" sz="1800" dirty="0" err="1"/>
              <a:t>e_lfanew</a:t>
            </a:r>
            <a:r>
              <a:rPr lang="en-US" sz="1800" dirty="0"/>
              <a:t> ta có thể </a:t>
            </a:r>
            <a:r>
              <a:rPr lang="en-US" sz="1800" dirty="0" err="1"/>
              <a:t>tìm</a:t>
            </a:r>
            <a:r>
              <a:rPr lang="en-US" sz="1800" dirty="0"/>
              <a:t> đ</a:t>
            </a:r>
            <a:r>
              <a:rPr lang="vi-VN" sz="1800" dirty="0"/>
              <a:t>ư</a:t>
            </a:r>
            <a:r>
              <a:rPr lang="en-US" sz="1800" dirty="0" err="1"/>
              <a:t>ợc</a:t>
            </a:r>
            <a:r>
              <a:rPr lang="en-US" sz="1800" dirty="0"/>
              <a:t> PE </a:t>
            </a:r>
            <a:r>
              <a:rPr lang="en-US" sz="1800" dirty="0" err="1"/>
              <a:t>Heder</a:t>
            </a:r>
            <a:endParaRPr lang="en-US" sz="1800" dirty="0"/>
          </a:p>
          <a:p>
            <a:r>
              <a:rPr lang="en-US" sz="1800" dirty="0"/>
              <a:t>Trường </a:t>
            </a:r>
            <a:r>
              <a:rPr lang="en-US" sz="1800" dirty="0" err="1"/>
              <a:t>e_magic</a:t>
            </a:r>
            <a:r>
              <a:rPr lang="en-US" sz="1800" dirty="0"/>
              <a:t> </a:t>
            </a:r>
            <a:r>
              <a:rPr lang="en-US" sz="1800" dirty="0" err="1"/>
              <a:t>chữ</a:t>
            </a:r>
            <a:r>
              <a:rPr lang="en-US" sz="1800" dirty="0"/>
              <a:t> </a:t>
            </a:r>
            <a:r>
              <a:rPr lang="en-US" sz="1800" dirty="0" err="1"/>
              <a:t>ký</a:t>
            </a:r>
            <a:r>
              <a:rPr lang="en-US" sz="1800" dirty="0"/>
              <a:t> của PE file, </a:t>
            </a:r>
            <a:r>
              <a:rPr lang="en-US" sz="1800" dirty="0" err="1"/>
              <a:t>giá</a:t>
            </a:r>
            <a:r>
              <a:rPr lang="en-US" sz="1800" dirty="0"/>
              <a:t> </a:t>
            </a:r>
            <a:r>
              <a:rPr lang="en-US" sz="1800" dirty="0" err="1"/>
              <a:t>trị</a:t>
            </a:r>
            <a:r>
              <a:rPr lang="en-US" sz="1800" dirty="0"/>
              <a:t>: 4Dh, 5Ah</a:t>
            </a:r>
          </a:p>
          <a:p>
            <a:endParaRPr lang="en-US" sz="1600" dirty="0"/>
          </a:p>
        </p:txBody>
      </p:sp>
      <p:grpSp>
        <p:nvGrpSpPr>
          <p:cNvPr id="13" name="Group 12">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7AEA71D6-45FC-4BB3-8151-36DCA49CAC95}"/>
              </a:ext>
            </a:extLst>
          </p:cNvPr>
          <p:cNvSpPr>
            <a:spLocks noGrp="1"/>
          </p:cNvSpPr>
          <p:nvPr>
            <p:ph type="sldNum" sz="quarter" idx="12"/>
          </p:nvPr>
        </p:nvSpPr>
        <p:spPr/>
        <p:txBody>
          <a:bodyPr/>
          <a:lstStyle/>
          <a:p>
            <a:fld id="{4FAB73BC-B049-4115-A692-8D63A059BFB8}" type="slidenum">
              <a:rPr lang="en-US" smtClean="0"/>
              <a:t>6</a:t>
            </a:fld>
            <a:endParaRPr lang="en-US" dirty="0"/>
          </a:p>
        </p:txBody>
      </p:sp>
    </p:spTree>
    <p:extLst>
      <p:ext uri="{BB962C8B-B14F-4D97-AF65-F5344CB8AC3E}">
        <p14:creationId xmlns:p14="http://schemas.microsoft.com/office/powerpoint/2010/main" val="30734798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3">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4EA1CC-8D5A-463A-8C5A-C3F157FE58BE}"/>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II.2.3 DOS STUB</a:t>
            </a:r>
          </a:p>
        </p:txBody>
      </p:sp>
      <p:pic>
        <p:nvPicPr>
          <p:cNvPr id="9" name="Picture 8">
            <a:extLst>
              <a:ext uri="{FF2B5EF4-FFF2-40B4-BE49-F238E27FC236}">
                <a16:creationId xmlns:a16="http://schemas.microsoft.com/office/drawing/2014/main" id="{85438045-2F81-4CA5-ACD4-637ECDB25A6D}"/>
              </a:ext>
            </a:extLst>
          </p:cNvPr>
          <p:cNvPicPr>
            <a:picLocks noChangeAspect="1"/>
          </p:cNvPicPr>
          <p:nvPr/>
        </p:nvPicPr>
        <p:blipFill>
          <a:blip r:embed="rId4"/>
          <a:stretch>
            <a:fillRect/>
          </a:stretch>
        </p:blipFill>
        <p:spPr>
          <a:xfrm>
            <a:off x="633999" y="1515699"/>
            <a:ext cx="6882269" cy="3836863"/>
          </a:xfrm>
          <a:prstGeom prst="rect">
            <a:avLst/>
          </a:prstGeom>
        </p:spPr>
      </p:pic>
      <p:sp>
        <p:nvSpPr>
          <p:cNvPr id="3" name="Content Placeholder 2">
            <a:extLst>
              <a:ext uri="{FF2B5EF4-FFF2-40B4-BE49-F238E27FC236}">
                <a16:creationId xmlns:a16="http://schemas.microsoft.com/office/drawing/2014/main" id="{3C3AD361-9523-4E10-A52A-8C86CAB18911}"/>
              </a:ext>
            </a:extLst>
          </p:cNvPr>
          <p:cNvSpPr>
            <a:spLocks noGrp="1"/>
          </p:cNvSpPr>
          <p:nvPr>
            <p:ph idx="1"/>
          </p:nvPr>
        </p:nvSpPr>
        <p:spPr>
          <a:xfrm>
            <a:off x="8156351" y="2121408"/>
            <a:ext cx="3544034" cy="4050792"/>
          </a:xfrm>
        </p:spPr>
        <p:txBody>
          <a:bodyPr>
            <a:normAutofit/>
          </a:bodyPr>
          <a:lstStyle/>
          <a:p>
            <a:r>
              <a:rPr lang="vi-VN" sz="1800" dirty="0"/>
              <a:t>DOS Stub chỉ là một chương trình DOS EXE nhỏ hiển thị một thông báo lỗi, là phần để tương thích với Windows 16bit. </a:t>
            </a:r>
            <a:endParaRPr lang="en-US" sz="1800" dirty="0"/>
          </a:p>
          <a:p>
            <a:r>
              <a:rPr lang="vi-VN" sz="1800" dirty="0"/>
              <a:t>Ví dụ như trong hình minh họa dưới đây, thông báo sẽ hiện ra như sau: “This is program cannot be run in DOS mode”</a:t>
            </a:r>
            <a:r>
              <a:rPr lang="en-US" sz="1800" dirty="0"/>
              <a:t>.</a:t>
            </a:r>
          </a:p>
          <a:p>
            <a:endParaRPr lang="en-US" sz="1600" dirty="0"/>
          </a:p>
          <a:p>
            <a:pPr marL="0" indent="0">
              <a:buNone/>
            </a:pPr>
            <a:endParaRPr lang="en-US" sz="1600" dirty="0"/>
          </a:p>
        </p:txBody>
      </p:sp>
      <p:grpSp>
        <p:nvGrpSpPr>
          <p:cNvPr id="16" name="Group 15">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7" name="Oval 16">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AutoShape 8" descr="https://farm8.staticflickr.com/7463/16019578090_133bc0955a_o.png">
            <a:extLst>
              <a:ext uri="{FF2B5EF4-FFF2-40B4-BE49-F238E27FC236}">
                <a16:creationId xmlns:a16="http://schemas.microsoft.com/office/drawing/2014/main" id="{D02BE652-865A-4B00-979B-94972639C310}"/>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2" descr="https://farm8.staticflickr.com/7463/16019578090_133bc0955a_o.png">
            <a:extLst>
              <a:ext uri="{FF2B5EF4-FFF2-40B4-BE49-F238E27FC236}">
                <a16:creationId xmlns:a16="http://schemas.microsoft.com/office/drawing/2014/main" id="{5F082807-A101-44B5-9C31-0000F7240F9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Slide Number Placeholder 4">
            <a:extLst>
              <a:ext uri="{FF2B5EF4-FFF2-40B4-BE49-F238E27FC236}">
                <a16:creationId xmlns:a16="http://schemas.microsoft.com/office/drawing/2014/main" id="{D86A4019-E49E-4D56-90DF-DA7A8EB57492}"/>
              </a:ext>
            </a:extLst>
          </p:cNvPr>
          <p:cNvSpPr>
            <a:spLocks noGrp="1"/>
          </p:cNvSpPr>
          <p:nvPr>
            <p:ph type="sldNum" sz="quarter" idx="12"/>
          </p:nvPr>
        </p:nvSpPr>
        <p:spPr/>
        <p:txBody>
          <a:bodyPr/>
          <a:lstStyle/>
          <a:p>
            <a:fld id="{4FAB73BC-B049-4115-A692-8D63A059BFB8}" type="slidenum">
              <a:rPr lang="en-US" smtClean="0"/>
              <a:t>7</a:t>
            </a:fld>
            <a:endParaRPr lang="en-US" dirty="0"/>
          </a:p>
        </p:txBody>
      </p:sp>
    </p:spTree>
    <p:extLst>
      <p:ext uri="{BB962C8B-B14F-4D97-AF65-F5344CB8AC3E}">
        <p14:creationId xmlns:p14="http://schemas.microsoft.com/office/powerpoint/2010/main" val="26553459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down)">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0"/>
                                        <p:tgtEl>
                                          <p:spTgt spid="9"/>
                                        </p:tgtEl>
                                      </p:cBhvr>
                                    </p:animEffect>
                                    <p:anim calcmode="lin" valueType="num">
                                      <p:cBhvr>
                                        <p:cTn id="22" dur="2000" fill="hold"/>
                                        <p:tgtEl>
                                          <p:spTgt spid="9"/>
                                        </p:tgtEl>
                                        <p:attrNameLst>
                                          <p:attrName>ppt_w</p:attrName>
                                        </p:attrNameLst>
                                      </p:cBhvr>
                                      <p:tavLst>
                                        <p:tav tm="0" fmla="#ppt_w*sin(2.5*pi*$)">
                                          <p:val>
                                            <p:fltVal val="0"/>
                                          </p:val>
                                        </p:tav>
                                        <p:tav tm="100000">
                                          <p:val>
                                            <p:fltVal val="1"/>
                                          </p:val>
                                        </p:tav>
                                      </p:tavLst>
                                    </p:anim>
                                    <p:anim calcmode="lin" valueType="num">
                                      <p:cBhvr>
                                        <p:cTn id="23" dur="2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4A80FB-CD3A-45E2-9E1A-36094735EC06}"/>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II.2.4 PE </a:t>
            </a:r>
            <a:r>
              <a:rPr lang="en-US" sz="3200" dirty="0" err="1">
                <a:solidFill>
                  <a:srgbClr val="0070C0"/>
                </a:solidFill>
              </a:rPr>
              <a:t>HEader</a:t>
            </a:r>
            <a:endParaRPr lang="en-US" sz="3200" dirty="0">
              <a:solidFill>
                <a:srgbClr val="0070C0"/>
              </a:solidFill>
            </a:endParaRPr>
          </a:p>
        </p:txBody>
      </p:sp>
      <p:pic>
        <p:nvPicPr>
          <p:cNvPr id="6" name="Picture 5">
            <a:extLst>
              <a:ext uri="{FF2B5EF4-FFF2-40B4-BE49-F238E27FC236}">
                <a16:creationId xmlns:a16="http://schemas.microsoft.com/office/drawing/2014/main" id="{CD4B0F6C-CC55-42CB-94FC-5CBFE7537931}"/>
              </a:ext>
            </a:extLst>
          </p:cNvPr>
          <p:cNvPicPr>
            <a:picLocks noChangeAspect="1"/>
          </p:cNvPicPr>
          <p:nvPr/>
        </p:nvPicPr>
        <p:blipFill rotWithShape="1">
          <a:blip r:embed="rId4"/>
          <a:srcRect r="3577" b="1"/>
          <a:stretch/>
        </p:blipFill>
        <p:spPr>
          <a:xfrm>
            <a:off x="633999" y="1578378"/>
            <a:ext cx="6882269" cy="3711505"/>
          </a:xfrm>
          <a:prstGeom prst="rect">
            <a:avLst/>
          </a:prstGeom>
        </p:spPr>
      </p:pic>
      <p:sp>
        <p:nvSpPr>
          <p:cNvPr id="3" name="Content Placeholder 2">
            <a:extLst>
              <a:ext uri="{FF2B5EF4-FFF2-40B4-BE49-F238E27FC236}">
                <a16:creationId xmlns:a16="http://schemas.microsoft.com/office/drawing/2014/main" id="{3AF49CA1-5995-4794-820E-EE03836EDE9F}"/>
              </a:ext>
            </a:extLst>
          </p:cNvPr>
          <p:cNvSpPr>
            <a:spLocks noGrp="1"/>
          </p:cNvSpPr>
          <p:nvPr>
            <p:ph idx="1"/>
          </p:nvPr>
        </p:nvSpPr>
        <p:spPr>
          <a:xfrm>
            <a:off x="8156351" y="2121408"/>
            <a:ext cx="3544034" cy="4050792"/>
          </a:xfrm>
        </p:spPr>
        <p:txBody>
          <a:bodyPr>
            <a:normAutofit/>
          </a:bodyPr>
          <a:lstStyle/>
          <a:p>
            <a:r>
              <a:rPr lang="vi-VN" sz="1600" dirty="0"/>
              <a:t>PE Header là thuật ngữ chung đại diễn cho một cấu trúc được đặt tên là </a:t>
            </a:r>
            <a:r>
              <a:rPr lang="vi-VN" sz="1600" b="1" dirty="0"/>
              <a:t>IMAGE_NT_HEADERS. IMAGE_NT_HEADERS</a:t>
            </a:r>
            <a:r>
              <a:rPr lang="vi-VN" sz="1600" dirty="0"/>
              <a:t> có 3 thành phần và được định nghĩa trong file </a:t>
            </a:r>
            <a:r>
              <a:rPr lang="vi-VN" sz="1600" b="1" dirty="0"/>
              <a:t>windows.inc</a:t>
            </a:r>
            <a:r>
              <a:rPr lang="vi-VN" sz="1600" dirty="0"/>
              <a:t> như sau:</a:t>
            </a:r>
            <a:endParaRPr lang="en-US" sz="1600" dirty="0"/>
          </a:p>
          <a:p>
            <a:r>
              <a:rPr lang="en-GB" sz="1600" dirty="0"/>
              <a:t>PE Header </a:t>
            </a:r>
            <a:r>
              <a:rPr lang="en-GB" sz="1600" dirty="0" err="1"/>
              <a:t>gồm</a:t>
            </a:r>
            <a:r>
              <a:rPr lang="en-GB" sz="1600" dirty="0"/>
              <a:t> 248 bytes </a:t>
            </a:r>
            <a:r>
              <a:rPr lang="en-GB" sz="1600" dirty="0" err="1"/>
              <a:t>liền</a:t>
            </a:r>
            <a:r>
              <a:rPr lang="en-GB" sz="1600" dirty="0"/>
              <a:t> </a:t>
            </a:r>
            <a:r>
              <a:rPr lang="en-GB" sz="1600" dirty="0" err="1"/>
              <a:t>sau</a:t>
            </a:r>
            <a:r>
              <a:rPr lang="en-GB" sz="1600" dirty="0"/>
              <a:t> DOS STUB.  </a:t>
            </a:r>
            <a:endParaRPr lang="en-US" sz="1600" dirty="0"/>
          </a:p>
        </p:txBody>
      </p:sp>
      <p:grpSp>
        <p:nvGrpSpPr>
          <p:cNvPr id="13" name="Group 12">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5AD831C6-92E3-4410-8AFD-4135047475A7}"/>
              </a:ext>
            </a:extLst>
          </p:cNvPr>
          <p:cNvSpPr>
            <a:spLocks noGrp="1"/>
          </p:cNvSpPr>
          <p:nvPr>
            <p:ph type="sldNum" sz="quarter" idx="12"/>
          </p:nvPr>
        </p:nvSpPr>
        <p:spPr/>
        <p:txBody>
          <a:bodyPr/>
          <a:lstStyle/>
          <a:p>
            <a:fld id="{4FAB73BC-B049-4115-A692-8D63A059BFB8}" type="slidenum">
              <a:rPr lang="en-US" smtClean="0"/>
              <a:t>8</a:t>
            </a:fld>
            <a:endParaRPr lang="en-US" dirty="0"/>
          </a:p>
        </p:txBody>
      </p:sp>
    </p:spTree>
    <p:extLst>
      <p:ext uri="{BB962C8B-B14F-4D97-AF65-F5344CB8AC3E}">
        <p14:creationId xmlns:p14="http://schemas.microsoft.com/office/powerpoint/2010/main" val="264539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548D01-86BC-4A04-9A19-23363A0A5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53C06F-02C4-42B7-AAB4-056E8ECC6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B89B0-3461-409C-AEEC-A6208088617F}"/>
              </a:ext>
            </a:extLst>
          </p:cNvPr>
          <p:cNvSpPr>
            <a:spLocks noGrp="1"/>
          </p:cNvSpPr>
          <p:nvPr>
            <p:ph type="title"/>
          </p:nvPr>
        </p:nvSpPr>
        <p:spPr>
          <a:xfrm>
            <a:off x="1069848" y="4846002"/>
            <a:ext cx="10058400" cy="1522993"/>
          </a:xfrm>
        </p:spPr>
        <p:txBody>
          <a:bodyPr>
            <a:normAutofit/>
          </a:bodyPr>
          <a:lstStyle/>
          <a:p>
            <a:r>
              <a:rPr lang="en-US" sz="6000" dirty="0">
                <a:solidFill>
                  <a:srgbClr val="0070C0"/>
                </a:solidFill>
              </a:rPr>
              <a:t>II.2.4 PE </a:t>
            </a:r>
            <a:r>
              <a:rPr lang="en-US" sz="6000" dirty="0" err="1">
                <a:solidFill>
                  <a:srgbClr val="0070C0"/>
                </a:solidFill>
              </a:rPr>
              <a:t>HEader</a:t>
            </a:r>
            <a:endParaRPr lang="en-US" sz="6000" dirty="0">
              <a:solidFill>
                <a:srgbClr val="0070C0"/>
              </a:solidFill>
            </a:endParaRPr>
          </a:p>
        </p:txBody>
      </p:sp>
      <p:sp>
        <p:nvSpPr>
          <p:cNvPr id="3" name="Content Placeholder 2">
            <a:extLst>
              <a:ext uri="{FF2B5EF4-FFF2-40B4-BE49-F238E27FC236}">
                <a16:creationId xmlns:a16="http://schemas.microsoft.com/office/drawing/2014/main" id="{211939F2-1C97-400C-AB61-837E00BD71C2}"/>
              </a:ext>
            </a:extLst>
          </p:cNvPr>
          <p:cNvSpPr>
            <a:spLocks noGrp="1"/>
          </p:cNvSpPr>
          <p:nvPr>
            <p:ph idx="1"/>
          </p:nvPr>
        </p:nvSpPr>
        <p:spPr>
          <a:xfrm>
            <a:off x="1069848" y="965199"/>
            <a:ext cx="4704419" cy="3488445"/>
          </a:xfrm>
        </p:spPr>
        <p:txBody>
          <a:bodyPr>
            <a:normAutofit/>
          </a:bodyPr>
          <a:lstStyle/>
          <a:p>
            <a:pPr fontAlgn="base"/>
            <a:r>
              <a:rPr lang="vi-VN" sz="1800" b="1" dirty="0"/>
              <a:t>Signature</a:t>
            </a:r>
            <a:r>
              <a:rPr lang="vi-VN" sz="1800" dirty="0"/>
              <a:t>:  dấu hiệu nhận biết định dạng File (4 bytes)</a:t>
            </a:r>
          </a:p>
          <a:p>
            <a:pPr lvl="1" fontAlgn="base"/>
            <a:r>
              <a:rPr lang="vi-VN" dirty="0"/>
              <a:t>(PE : 50 45 00 00 – 32 bits)</a:t>
            </a:r>
          </a:p>
          <a:p>
            <a:pPr lvl="1" fontAlgn="base"/>
            <a:r>
              <a:rPr lang="vi-VN" dirty="0"/>
              <a:t>(NE : 4E 45 00 00 – 16 bits)</a:t>
            </a:r>
          </a:p>
          <a:p>
            <a:pPr lvl="1" fontAlgn="base"/>
            <a:r>
              <a:rPr lang="vi-VN" dirty="0"/>
              <a:t>(LE : 4C 45 00 00 – trình điều khiển thiết bị ảo Window 3.x)</a:t>
            </a:r>
          </a:p>
          <a:p>
            <a:pPr lvl="1" fontAlgn="base"/>
            <a:r>
              <a:rPr lang="vi-VN" dirty="0"/>
              <a:t>( LX : 45 58 00 00 – File cho OS/2 2.0 )</a:t>
            </a:r>
          </a:p>
          <a:p>
            <a:pPr fontAlgn="base"/>
            <a:r>
              <a:rPr lang="vi-VN" sz="1800" b="1" dirty="0"/>
              <a:t>File Header</a:t>
            </a:r>
            <a:r>
              <a:rPr lang="vi-VN" sz="1800" dirty="0"/>
              <a:t>: chứa thông tin về sơ đồ bố trí vật lý và những đặc tính của file (20 bytes)</a:t>
            </a:r>
          </a:p>
          <a:p>
            <a:pPr fontAlgn="base"/>
            <a:r>
              <a:rPr lang="vi-VN" sz="1800" b="1" dirty="0"/>
              <a:t>Optional Header</a:t>
            </a:r>
            <a:r>
              <a:rPr lang="vi-VN" sz="1800" dirty="0"/>
              <a:t>: chứa thông tin về sơ đồ logic bên trong của một file PE (224 bytes)</a:t>
            </a:r>
            <a:endParaRPr lang="en-US" sz="1800" dirty="0"/>
          </a:p>
          <a:p>
            <a:pPr fontAlgn="base"/>
            <a:endParaRPr lang="vi-VN" sz="1800" dirty="0"/>
          </a:p>
        </p:txBody>
      </p:sp>
      <p:pic>
        <p:nvPicPr>
          <p:cNvPr id="5" name="Picture 4">
            <a:extLst>
              <a:ext uri="{FF2B5EF4-FFF2-40B4-BE49-F238E27FC236}">
                <a16:creationId xmlns:a16="http://schemas.microsoft.com/office/drawing/2014/main" id="{58B96342-AEDF-4900-9E49-FA0985095E44}"/>
              </a:ext>
            </a:extLst>
          </p:cNvPr>
          <p:cNvPicPr>
            <a:picLocks noChangeAspect="1"/>
          </p:cNvPicPr>
          <p:nvPr/>
        </p:nvPicPr>
        <p:blipFill>
          <a:blip r:embed="rId4"/>
          <a:stretch>
            <a:fillRect/>
          </a:stretch>
        </p:blipFill>
        <p:spPr>
          <a:xfrm>
            <a:off x="6417732" y="2041016"/>
            <a:ext cx="4761324" cy="1107008"/>
          </a:xfrm>
          <a:prstGeom prst="rect">
            <a:avLst/>
          </a:prstGeom>
        </p:spPr>
      </p:pic>
      <p:grpSp>
        <p:nvGrpSpPr>
          <p:cNvPr id="14" name="Group 13">
            <a:extLst>
              <a:ext uri="{FF2B5EF4-FFF2-40B4-BE49-F238E27FC236}">
                <a16:creationId xmlns:a16="http://schemas.microsoft.com/office/drawing/2014/main" id="{F0B2D325-F52B-42D3-B95B-0B567E1B21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564412BC-E554-4709-B783-CCD157054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6" name="Oval 15">
              <a:extLst>
                <a:ext uri="{FF2B5EF4-FFF2-40B4-BE49-F238E27FC236}">
                  <a16:creationId xmlns:a16="http://schemas.microsoft.com/office/drawing/2014/main" id="{4111AF4E-4C22-4675-8450-1A2447ECB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4" name="Slide Number Placeholder 3">
            <a:extLst>
              <a:ext uri="{FF2B5EF4-FFF2-40B4-BE49-F238E27FC236}">
                <a16:creationId xmlns:a16="http://schemas.microsoft.com/office/drawing/2014/main" id="{EBF2D9B8-22E4-4999-9740-2D1ADDEC4AFE}"/>
              </a:ext>
            </a:extLst>
          </p:cNvPr>
          <p:cNvSpPr>
            <a:spLocks noGrp="1"/>
          </p:cNvSpPr>
          <p:nvPr>
            <p:ph type="sldNum" sz="quarter" idx="12"/>
          </p:nvPr>
        </p:nvSpPr>
        <p:spPr/>
        <p:txBody>
          <a:bodyPr/>
          <a:lstStyle/>
          <a:p>
            <a:fld id="{4FAB73BC-B049-4115-A692-8D63A059BFB8}" type="slidenum">
              <a:rPr lang="en-US" smtClean="0"/>
              <a:t>9</a:t>
            </a:fld>
            <a:endParaRPr lang="en-US" dirty="0"/>
          </a:p>
        </p:txBody>
      </p:sp>
    </p:spTree>
    <p:extLst>
      <p:ext uri="{BB962C8B-B14F-4D97-AF65-F5344CB8AC3E}">
        <p14:creationId xmlns:p14="http://schemas.microsoft.com/office/powerpoint/2010/main" val="1458835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 calcmode="lin" valueType="num">
                                      <p:cBhvr additive="base">
                                        <p:cTn id="3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 calcmode="lin" valueType="num">
                                      <p:cBhvr additive="base">
                                        <p:cTn id="4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47" dur="500"/>
                                        <p:tgtEl>
                                          <p:spTgt spid="3">
                                            <p:txEl>
                                              <p:pRg st="5" end="5"/>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randombar(horizontal)">
                                      <p:cBhvr>
                                        <p:cTn id="50" dur="5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B1394-0830-4AB9-9096-E2B2F420A573}"/>
              </a:ext>
            </a:extLst>
          </p:cNvPr>
          <p:cNvSpPr>
            <a:spLocks noGrp="1"/>
          </p:cNvSpPr>
          <p:nvPr>
            <p:ph type="title"/>
          </p:nvPr>
        </p:nvSpPr>
        <p:spPr>
          <a:xfrm>
            <a:off x="8156350" y="484632"/>
            <a:ext cx="3702575" cy="1609344"/>
          </a:xfrm>
          <a:ln>
            <a:noFill/>
          </a:ln>
        </p:spPr>
        <p:txBody>
          <a:bodyPr>
            <a:normAutofit/>
          </a:bodyPr>
          <a:lstStyle/>
          <a:p>
            <a:r>
              <a:rPr lang="en-US" sz="3200" dirty="0">
                <a:solidFill>
                  <a:srgbClr val="0070C0"/>
                </a:solidFill>
              </a:rPr>
              <a:t>II.2.4.1 </a:t>
            </a:r>
            <a:r>
              <a:rPr lang="en-US" sz="3200" b="1" dirty="0">
                <a:solidFill>
                  <a:srgbClr val="0070C0"/>
                </a:solidFill>
              </a:rPr>
              <a:t>FILE_HEADER</a:t>
            </a:r>
            <a:endParaRPr lang="en-US" sz="3200" dirty="0">
              <a:solidFill>
                <a:srgbClr val="0070C0"/>
              </a:solidFill>
            </a:endParaRPr>
          </a:p>
        </p:txBody>
      </p:sp>
      <p:pic>
        <p:nvPicPr>
          <p:cNvPr id="4" name="Picture 3">
            <a:extLst>
              <a:ext uri="{FF2B5EF4-FFF2-40B4-BE49-F238E27FC236}">
                <a16:creationId xmlns:a16="http://schemas.microsoft.com/office/drawing/2014/main" id="{FE1EA2A9-2965-4E9A-9459-46CE6EFD838E}"/>
              </a:ext>
            </a:extLst>
          </p:cNvPr>
          <p:cNvPicPr>
            <a:picLocks noChangeAspect="1"/>
          </p:cNvPicPr>
          <p:nvPr/>
        </p:nvPicPr>
        <p:blipFill>
          <a:blip r:embed="rId4"/>
          <a:stretch>
            <a:fillRect/>
          </a:stretch>
        </p:blipFill>
        <p:spPr>
          <a:xfrm>
            <a:off x="633999" y="1384916"/>
            <a:ext cx="6882269" cy="4098429"/>
          </a:xfrm>
          <a:prstGeom prst="rect">
            <a:avLst/>
          </a:prstGeom>
        </p:spPr>
      </p:pic>
      <p:sp>
        <p:nvSpPr>
          <p:cNvPr id="3" name="Content Placeholder 2">
            <a:extLst>
              <a:ext uri="{FF2B5EF4-FFF2-40B4-BE49-F238E27FC236}">
                <a16:creationId xmlns:a16="http://schemas.microsoft.com/office/drawing/2014/main" id="{C6328EAF-28E9-4802-BD43-94C5F49EE030}"/>
              </a:ext>
            </a:extLst>
          </p:cNvPr>
          <p:cNvSpPr>
            <a:spLocks noGrp="1"/>
          </p:cNvSpPr>
          <p:nvPr>
            <p:ph idx="1"/>
          </p:nvPr>
        </p:nvSpPr>
        <p:spPr>
          <a:xfrm>
            <a:off x="8156351" y="2121408"/>
            <a:ext cx="3544034" cy="4050792"/>
          </a:xfrm>
        </p:spPr>
        <p:txBody>
          <a:bodyPr>
            <a:normAutofit/>
          </a:bodyPr>
          <a:lstStyle/>
          <a:p>
            <a:r>
              <a:rPr lang="vi-VN" sz="1500" b="1" dirty="0"/>
              <a:t>FILE_HEADER</a:t>
            </a:r>
            <a:r>
              <a:rPr lang="vi-VN" sz="1500" dirty="0"/>
              <a:t>: bao gồm 20 bytes tiếp theo của PE Header, phần này chứa thông tin về sơ đồ bố trí vật lý và các đặc tính của file. </a:t>
            </a:r>
            <a:endParaRPr lang="en-US" sz="1500" dirty="0"/>
          </a:p>
          <a:p>
            <a:pPr fontAlgn="base"/>
            <a:r>
              <a:rPr lang="vi-VN" sz="1500" b="1" dirty="0"/>
              <a:t>Machine</a:t>
            </a:r>
            <a:r>
              <a:rPr lang="vi-VN" sz="1500" dirty="0"/>
              <a:t>: giá trị xác định PE File này được biên dịch cho dòng máy nào (dưới dạng mã trên Intel 32 bits)</a:t>
            </a:r>
          </a:p>
          <a:p>
            <a:pPr fontAlgn="base"/>
            <a:r>
              <a:rPr lang="vi-VN" sz="1500" b="1" dirty="0"/>
              <a:t>NumberOfSections</a:t>
            </a:r>
            <a:r>
              <a:rPr lang="vi-VN" sz="1500" dirty="0"/>
              <a:t>: cho biết số Section của PE File. Thành phần này cần thay đổi nếu như muốn thêm hoặc xóa bất kỳ sections nào trong một PE File.</a:t>
            </a:r>
          </a:p>
          <a:p>
            <a:pPr fontAlgn="base"/>
            <a:r>
              <a:rPr lang="vi-VN" sz="1500" b="1" dirty="0"/>
              <a:t>Characteristics</a:t>
            </a:r>
            <a:r>
              <a:rPr lang="vi-VN" sz="1500" dirty="0"/>
              <a:t>: là bit cờ, xác định định dạng PE File. </a:t>
            </a:r>
          </a:p>
          <a:p>
            <a:pPr lvl="1" fontAlgn="base"/>
            <a:r>
              <a:rPr lang="vi-VN" sz="1500" dirty="0"/>
              <a:t>Giá trị 0x0102 nếu là file *.EXE</a:t>
            </a:r>
          </a:p>
          <a:p>
            <a:pPr lvl="1" fontAlgn="base"/>
            <a:r>
              <a:rPr lang="vi-VN" sz="1500" dirty="0"/>
              <a:t>Giá trị 0x2102 nếu là file *.DLL</a:t>
            </a:r>
          </a:p>
          <a:p>
            <a:endParaRPr lang="vi-VN" sz="1500" dirty="0"/>
          </a:p>
          <a:p>
            <a:pPr marL="0" indent="0">
              <a:buNone/>
            </a:pPr>
            <a:endParaRPr lang="en-US" sz="1500" dirty="0"/>
          </a:p>
        </p:txBody>
      </p:sp>
      <p:grpSp>
        <p:nvGrpSpPr>
          <p:cNvPr id="20" name="Group 19">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05DF8A9F-A2B6-423C-838E-05A57F1ABC75}"/>
              </a:ext>
            </a:extLst>
          </p:cNvPr>
          <p:cNvSpPr>
            <a:spLocks noGrp="1"/>
          </p:cNvSpPr>
          <p:nvPr>
            <p:ph type="sldNum" sz="quarter" idx="12"/>
          </p:nvPr>
        </p:nvSpPr>
        <p:spPr/>
        <p:txBody>
          <a:bodyPr/>
          <a:lstStyle/>
          <a:p>
            <a:fld id="{4FAB73BC-B049-4115-A692-8D63A059BFB8}" type="slidenum">
              <a:rPr lang="en-US" smtClean="0"/>
              <a:t>10</a:t>
            </a:fld>
            <a:endParaRPr lang="en-US" dirty="0"/>
          </a:p>
        </p:txBody>
      </p:sp>
    </p:spTree>
    <p:extLst>
      <p:ext uri="{BB962C8B-B14F-4D97-AF65-F5344CB8AC3E}">
        <p14:creationId xmlns:p14="http://schemas.microsoft.com/office/powerpoint/2010/main" val="3423971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p:cTn id="22"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3">
                                            <p:txEl>
                                              <p:pRg st="2" end="2"/>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9" dur="500"/>
                                        <p:tgtEl>
                                          <p:spTgt spid="3">
                                            <p:txEl>
                                              <p:pRg st="3" end="3"/>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p:cTn id="32"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34" dur="500"/>
                                        <p:tgtEl>
                                          <p:spTgt spid="3">
                                            <p:txEl>
                                              <p:pRg st="4" end="4"/>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9" dur="500"/>
                                        <p:tgtEl>
                                          <p:spTgt spid="3">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arn(inVertical)">
                                      <p:cBhvr>
                                        <p:cTn id="4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F683F7-D5B6-45E6-8F35-3F96AB76A003}"/>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II.2.4.1 </a:t>
            </a:r>
            <a:r>
              <a:rPr lang="en-US" sz="3200" b="1" dirty="0">
                <a:solidFill>
                  <a:srgbClr val="0070C0"/>
                </a:solidFill>
              </a:rPr>
              <a:t>FILE_HEADER</a:t>
            </a:r>
            <a:endParaRPr lang="en-US" sz="3200" dirty="0">
              <a:solidFill>
                <a:srgbClr val="0070C0"/>
              </a:solidFill>
            </a:endParaRPr>
          </a:p>
        </p:txBody>
      </p:sp>
      <p:sp>
        <p:nvSpPr>
          <p:cNvPr id="3" name="Content Placeholder 2">
            <a:extLst>
              <a:ext uri="{FF2B5EF4-FFF2-40B4-BE49-F238E27FC236}">
                <a16:creationId xmlns:a16="http://schemas.microsoft.com/office/drawing/2014/main" id="{ED5F7213-27A3-49BF-B05C-40465332D3C2}"/>
              </a:ext>
            </a:extLst>
          </p:cNvPr>
          <p:cNvSpPr>
            <a:spLocks noGrp="1"/>
          </p:cNvSpPr>
          <p:nvPr>
            <p:ph idx="1"/>
          </p:nvPr>
        </p:nvSpPr>
        <p:spPr>
          <a:xfrm>
            <a:off x="8156351" y="2121408"/>
            <a:ext cx="3544034" cy="4050792"/>
          </a:xfrm>
        </p:spPr>
        <p:txBody>
          <a:bodyPr>
            <a:normAutofit/>
          </a:bodyPr>
          <a:lstStyle/>
          <a:p>
            <a:r>
              <a:rPr lang="en-US" sz="1600" dirty="0" err="1"/>
              <a:t>Các</a:t>
            </a:r>
            <a:r>
              <a:rPr lang="en-US" sz="1600" dirty="0"/>
              <a:t> </a:t>
            </a:r>
            <a:r>
              <a:rPr lang="en-US" sz="1600" dirty="0" err="1"/>
              <a:t>giá</a:t>
            </a:r>
            <a:r>
              <a:rPr lang="en-US" sz="1600" dirty="0"/>
              <a:t> </a:t>
            </a:r>
            <a:r>
              <a:rPr lang="en-US" sz="1600" dirty="0" err="1"/>
              <a:t>trị</a:t>
            </a:r>
            <a:r>
              <a:rPr lang="en-US" sz="1600" dirty="0"/>
              <a:t> của tr</a:t>
            </a:r>
            <a:r>
              <a:rPr lang="vi-VN" sz="1600" dirty="0"/>
              <a:t>ư</a:t>
            </a:r>
            <a:r>
              <a:rPr lang="en-US" sz="1600" dirty="0" err="1"/>
              <a:t>ờng</a:t>
            </a:r>
            <a:r>
              <a:rPr lang="en-US" sz="1600" dirty="0"/>
              <a:t> Machine</a:t>
            </a:r>
          </a:p>
          <a:p>
            <a:endParaRPr lang="en-US" sz="1600" dirty="0"/>
          </a:p>
        </p:txBody>
      </p:sp>
      <p:grpSp>
        <p:nvGrpSpPr>
          <p:cNvPr id="23" name="Group 19">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graphicFrame>
        <p:nvGraphicFramePr>
          <p:cNvPr id="5" name="Table 4">
            <a:extLst>
              <a:ext uri="{FF2B5EF4-FFF2-40B4-BE49-F238E27FC236}">
                <a16:creationId xmlns:a16="http://schemas.microsoft.com/office/drawing/2014/main" id="{5048B9BE-BFEB-4A8F-8C65-A931D83AB4B8}"/>
              </a:ext>
            </a:extLst>
          </p:cNvPr>
          <p:cNvGraphicFramePr>
            <a:graphicFrameLocks noGrp="1"/>
          </p:cNvGraphicFramePr>
          <p:nvPr>
            <p:extLst>
              <p:ext uri="{D42A27DB-BD31-4B8C-83A1-F6EECF244321}">
                <p14:modId xmlns:p14="http://schemas.microsoft.com/office/powerpoint/2010/main" val="2930814930"/>
              </p:ext>
            </p:extLst>
          </p:nvPr>
        </p:nvGraphicFramePr>
        <p:xfrm>
          <a:off x="633999" y="834077"/>
          <a:ext cx="6882270" cy="5200112"/>
        </p:xfrm>
        <a:graphic>
          <a:graphicData uri="http://schemas.openxmlformats.org/drawingml/2006/table">
            <a:tbl>
              <a:tblPr>
                <a:tableStyleId>{69012ECD-51FC-41F1-AA8D-1B2483CD663E}</a:tableStyleId>
              </a:tblPr>
              <a:tblGrid>
                <a:gridCol w="2473297">
                  <a:extLst>
                    <a:ext uri="{9D8B030D-6E8A-4147-A177-3AD203B41FA5}">
                      <a16:colId xmlns:a16="http://schemas.microsoft.com/office/drawing/2014/main" val="137363319"/>
                    </a:ext>
                  </a:extLst>
                </a:gridCol>
                <a:gridCol w="624083">
                  <a:extLst>
                    <a:ext uri="{9D8B030D-6E8A-4147-A177-3AD203B41FA5}">
                      <a16:colId xmlns:a16="http://schemas.microsoft.com/office/drawing/2014/main" val="3729557915"/>
                    </a:ext>
                  </a:extLst>
                </a:gridCol>
                <a:gridCol w="3784890">
                  <a:extLst>
                    <a:ext uri="{9D8B030D-6E8A-4147-A177-3AD203B41FA5}">
                      <a16:colId xmlns:a16="http://schemas.microsoft.com/office/drawing/2014/main" val="956627257"/>
                    </a:ext>
                  </a:extLst>
                </a:gridCol>
              </a:tblGrid>
              <a:tr h="579815">
                <a:tc>
                  <a:txBody>
                    <a:bodyPr/>
                    <a:lstStyle/>
                    <a:p>
                      <a:pPr fontAlgn="t"/>
                      <a:r>
                        <a:rPr lang="en-US" sz="1000">
                          <a:effectLst/>
                        </a:rPr>
                        <a:t>IMAGE_FILE_MACHINE_UNKNOWN </a:t>
                      </a:r>
                      <a:br>
                        <a:rPr lang="en-US" sz="1000">
                          <a:effectLst/>
                        </a:rPr>
                      </a:br>
                      <a:endParaRPr lang="en-US" sz="1000">
                        <a:effectLst/>
                      </a:endParaRPr>
                    </a:p>
                  </a:txBody>
                  <a:tcPr marL="41400" marR="41400" marT="31051" marB="31051"/>
                </a:tc>
                <a:tc>
                  <a:txBody>
                    <a:bodyPr/>
                    <a:lstStyle/>
                    <a:p>
                      <a:pPr fontAlgn="t"/>
                      <a:r>
                        <a:rPr lang="en-US" sz="1000">
                          <a:effectLst/>
                        </a:rPr>
                        <a:t>0x0 </a:t>
                      </a:r>
                      <a:br>
                        <a:rPr lang="en-US" sz="1000">
                          <a:effectLst/>
                        </a:rPr>
                      </a:br>
                      <a:endParaRPr lang="en-US" sz="1000">
                        <a:effectLst/>
                      </a:endParaRPr>
                    </a:p>
                  </a:txBody>
                  <a:tcPr marL="41400" marR="41400" marT="31051" marB="31051"/>
                </a:tc>
                <a:tc>
                  <a:txBody>
                    <a:bodyPr/>
                    <a:lstStyle/>
                    <a:p>
                      <a:pPr fontAlgn="t"/>
                      <a:r>
                        <a:rPr lang="en-US" sz="1000">
                          <a:effectLst/>
                        </a:rPr>
                        <a:t>The contents of this field are assumed to be applicable to any machine type </a:t>
                      </a:r>
                      <a:br>
                        <a:rPr lang="en-US" sz="1000">
                          <a:effectLst/>
                        </a:rPr>
                      </a:br>
                      <a:endParaRPr lang="en-US" sz="1000">
                        <a:effectLst/>
                      </a:endParaRPr>
                    </a:p>
                  </a:txBody>
                  <a:tcPr marL="41400" marR="41400" marT="31051" marB="31051"/>
                </a:tc>
                <a:extLst>
                  <a:ext uri="{0D108BD9-81ED-4DB2-BD59-A6C34878D82A}">
                    <a16:rowId xmlns:a16="http://schemas.microsoft.com/office/drawing/2014/main" val="1829782322"/>
                  </a:ext>
                </a:extLst>
              </a:tr>
              <a:tr h="420027">
                <a:tc>
                  <a:txBody>
                    <a:bodyPr/>
                    <a:lstStyle/>
                    <a:p>
                      <a:pPr fontAlgn="t"/>
                      <a:r>
                        <a:rPr lang="en-US" sz="1000">
                          <a:effectLst/>
                        </a:rPr>
                        <a:t>IMAGE_FILE_MACHINE_AM33 </a:t>
                      </a:r>
                      <a:br>
                        <a:rPr lang="en-US" sz="1000">
                          <a:effectLst/>
                        </a:rPr>
                      </a:br>
                      <a:endParaRPr lang="en-US" sz="1000">
                        <a:effectLst/>
                      </a:endParaRPr>
                    </a:p>
                  </a:txBody>
                  <a:tcPr marL="41400" marR="41400" marT="31051" marB="31051"/>
                </a:tc>
                <a:tc>
                  <a:txBody>
                    <a:bodyPr/>
                    <a:lstStyle/>
                    <a:p>
                      <a:pPr fontAlgn="t"/>
                      <a:r>
                        <a:rPr lang="en-US" sz="1000">
                          <a:effectLst/>
                        </a:rPr>
                        <a:t>0x1d3 </a:t>
                      </a:r>
                      <a:br>
                        <a:rPr lang="en-US" sz="1000">
                          <a:effectLst/>
                        </a:rPr>
                      </a:br>
                      <a:endParaRPr lang="en-US" sz="1000">
                        <a:effectLst/>
                      </a:endParaRPr>
                    </a:p>
                  </a:txBody>
                  <a:tcPr marL="41400" marR="41400" marT="31051" marB="31051"/>
                </a:tc>
                <a:tc>
                  <a:txBody>
                    <a:bodyPr/>
                    <a:lstStyle/>
                    <a:p>
                      <a:pPr fontAlgn="t"/>
                      <a:r>
                        <a:rPr lang="en-US" sz="1000">
                          <a:effectLst/>
                        </a:rPr>
                        <a:t>Matsushita AM33 </a:t>
                      </a:r>
                      <a:br>
                        <a:rPr lang="en-US" sz="1000">
                          <a:effectLst/>
                        </a:rPr>
                      </a:br>
                      <a:endParaRPr lang="en-US" sz="1000">
                        <a:effectLst/>
                      </a:endParaRPr>
                    </a:p>
                  </a:txBody>
                  <a:tcPr marL="41400" marR="41400" marT="31051" marB="31051"/>
                </a:tc>
                <a:extLst>
                  <a:ext uri="{0D108BD9-81ED-4DB2-BD59-A6C34878D82A}">
                    <a16:rowId xmlns:a16="http://schemas.microsoft.com/office/drawing/2014/main" val="3950128056"/>
                  </a:ext>
                </a:extLst>
              </a:tr>
              <a:tr h="420027">
                <a:tc>
                  <a:txBody>
                    <a:bodyPr/>
                    <a:lstStyle/>
                    <a:p>
                      <a:pPr fontAlgn="t"/>
                      <a:r>
                        <a:rPr lang="en-US" sz="1000">
                          <a:effectLst/>
                        </a:rPr>
                        <a:t>IMAGE_FILE_MACHINE_AMD64 </a:t>
                      </a:r>
                      <a:br>
                        <a:rPr lang="en-US" sz="1000">
                          <a:effectLst/>
                        </a:rPr>
                      </a:br>
                      <a:endParaRPr lang="en-US" sz="1000">
                        <a:effectLst/>
                      </a:endParaRPr>
                    </a:p>
                  </a:txBody>
                  <a:tcPr marL="41400" marR="41400" marT="31051" marB="31051"/>
                </a:tc>
                <a:tc>
                  <a:txBody>
                    <a:bodyPr/>
                    <a:lstStyle/>
                    <a:p>
                      <a:pPr fontAlgn="t"/>
                      <a:r>
                        <a:rPr lang="en-US" sz="1000">
                          <a:effectLst/>
                        </a:rPr>
                        <a:t>0x8664</a:t>
                      </a:r>
                      <a:br>
                        <a:rPr lang="en-US" sz="1000">
                          <a:effectLst/>
                        </a:rPr>
                      </a:br>
                      <a:endParaRPr lang="en-US" sz="1000">
                        <a:effectLst/>
                      </a:endParaRPr>
                    </a:p>
                  </a:txBody>
                  <a:tcPr marL="41400" marR="41400" marT="31051" marB="31051"/>
                </a:tc>
                <a:tc>
                  <a:txBody>
                    <a:bodyPr/>
                    <a:lstStyle/>
                    <a:p>
                      <a:pPr fontAlgn="t"/>
                      <a:r>
                        <a:rPr lang="en-US" sz="1000">
                          <a:effectLst/>
                        </a:rPr>
                        <a:t>x64 </a:t>
                      </a:r>
                      <a:br>
                        <a:rPr lang="en-US" sz="1000">
                          <a:effectLst/>
                        </a:rPr>
                      </a:br>
                      <a:endParaRPr lang="en-US" sz="1000">
                        <a:effectLst/>
                      </a:endParaRPr>
                    </a:p>
                  </a:txBody>
                  <a:tcPr marL="41400" marR="41400" marT="31051" marB="31051"/>
                </a:tc>
                <a:extLst>
                  <a:ext uri="{0D108BD9-81ED-4DB2-BD59-A6C34878D82A}">
                    <a16:rowId xmlns:a16="http://schemas.microsoft.com/office/drawing/2014/main" val="1164056488"/>
                  </a:ext>
                </a:extLst>
              </a:tr>
              <a:tr h="420027">
                <a:tc>
                  <a:txBody>
                    <a:bodyPr/>
                    <a:lstStyle/>
                    <a:p>
                      <a:pPr fontAlgn="t"/>
                      <a:r>
                        <a:rPr lang="en-US" sz="1000">
                          <a:effectLst/>
                        </a:rPr>
                        <a:t>IMAGE_FILE_MACHINE_ARM </a:t>
                      </a:r>
                      <a:br>
                        <a:rPr lang="en-US" sz="1000">
                          <a:effectLst/>
                        </a:rPr>
                      </a:br>
                      <a:endParaRPr lang="en-US" sz="1000">
                        <a:effectLst/>
                      </a:endParaRPr>
                    </a:p>
                  </a:txBody>
                  <a:tcPr marL="41400" marR="41400" marT="31051" marB="31051"/>
                </a:tc>
                <a:tc>
                  <a:txBody>
                    <a:bodyPr/>
                    <a:lstStyle/>
                    <a:p>
                      <a:pPr fontAlgn="t"/>
                      <a:r>
                        <a:rPr lang="en-US" sz="1000">
                          <a:effectLst/>
                        </a:rPr>
                        <a:t>0x1c0 </a:t>
                      </a:r>
                      <a:br>
                        <a:rPr lang="en-US" sz="1000">
                          <a:effectLst/>
                        </a:rPr>
                      </a:br>
                      <a:endParaRPr lang="en-US" sz="1000">
                        <a:effectLst/>
                      </a:endParaRPr>
                    </a:p>
                  </a:txBody>
                  <a:tcPr marL="41400" marR="41400" marT="31051" marB="31051"/>
                </a:tc>
                <a:tc>
                  <a:txBody>
                    <a:bodyPr/>
                    <a:lstStyle/>
                    <a:p>
                      <a:pPr fontAlgn="t"/>
                      <a:r>
                        <a:rPr lang="en-US" sz="1000" dirty="0">
                          <a:effectLst/>
                        </a:rPr>
                        <a:t>ARM little endian </a:t>
                      </a:r>
                      <a:br>
                        <a:rPr lang="en-US" sz="1000" dirty="0">
                          <a:effectLst/>
                        </a:rPr>
                      </a:br>
                      <a:endParaRPr lang="en-US" sz="1000" dirty="0">
                        <a:effectLst/>
                      </a:endParaRPr>
                    </a:p>
                  </a:txBody>
                  <a:tcPr marL="41400" marR="41400" marT="31051" marB="31051"/>
                </a:tc>
                <a:extLst>
                  <a:ext uri="{0D108BD9-81ED-4DB2-BD59-A6C34878D82A}">
                    <a16:rowId xmlns:a16="http://schemas.microsoft.com/office/drawing/2014/main" val="3973789902"/>
                  </a:ext>
                </a:extLst>
              </a:tr>
              <a:tr h="420027">
                <a:tc>
                  <a:txBody>
                    <a:bodyPr/>
                    <a:lstStyle/>
                    <a:p>
                      <a:pPr fontAlgn="t"/>
                      <a:r>
                        <a:rPr lang="en-US" sz="1000">
                          <a:effectLst/>
                        </a:rPr>
                        <a:t>IMAGE_FILE_MACHINE_ARM64 </a:t>
                      </a:r>
                      <a:br>
                        <a:rPr lang="en-US" sz="1000">
                          <a:effectLst/>
                        </a:rPr>
                      </a:br>
                      <a:endParaRPr lang="en-US" sz="1000">
                        <a:effectLst/>
                      </a:endParaRPr>
                    </a:p>
                  </a:txBody>
                  <a:tcPr marL="41400" marR="41400" marT="31051" marB="31051"/>
                </a:tc>
                <a:tc>
                  <a:txBody>
                    <a:bodyPr/>
                    <a:lstStyle/>
                    <a:p>
                      <a:pPr fontAlgn="t"/>
                      <a:r>
                        <a:rPr lang="en-US" sz="1000">
                          <a:effectLst/>
                        </a:rPr>
                        <a:t>0xaa64</a:t>
                      </a:r>
                      <a:br>
                        <a:rPr lang="en-US" sz="1000">
                          <a:effectLst/>
                        </a:rPr>
                      </a:br>
                      <a:endParaRPr lang="en-US" sz="1000">
                        <a:effectLst/>
                      </a:endParaRPr>
                    </a:p>
                  </a:txBody>
                  <a:tcPr marL="41400" marR="41400" marT="31051" marB="31051"/>
                </a:tc>
                <a:tc>
                  <a:txBody>
                    <a:bodyPr/>
                    <a:lstStyle/>
                    <a:p>
                      <a:pPr fontAlgn="t"/>
                      <a:r>
                        <a:rPr lang="en-US" sz="1000">
                          <a:effectLst/>
                        </a:rPr>
                        <a:t>ARM64 little endian </a:t>
                      </a:r>
                      <a:br>
                        <a:rPr lang="en-US" sz="1000">
                          <a:effectLst/>
                        </a:rPr>
                      </a:br>
                      <a:endParaRPr lang="en-US" sz="1000">
                        <a:effectLst/>
                      </a:endParaRPr>
                    </a:p>
                  </a:txBody>
                  <a:tcPr marL="41400" marR="41400" marT="31051" marB="31051"/>
                </a:tc>
                <a:extLst>
                  <a:ext uri="{0D108BD9-81ED-4DB2-BD59-A6C34878D82A}">
                    <a16:rowId xmlns:a16="http://schemas.microsoft.com/office/drawing/2014/main" val="2832139513"/>
                  </a:ext>
                </a:extLst>
              </a:tr>
              <a:tr h="420027">
                <a:tc>
                  <a:txBody>
                    <a:bodyPr/>
                    <a:lstStyle/>
                    <a:p>
                      <a:pPr fontAlgn="t"/>
                      <a:r>
                        <a:rPr lang="en-US" sz="1000">
                          <a:effectLst/>
                        </a:rPr>
                        <a:t>IMAGE_FILE_MACHINE_ARMNT </a:t>
                      </a:r>
                      <a:br>
                        <a:rPr lang="en-US" sz="1000">
                          <a:effectLst/>
                        </a:rPr>
                      </a:br>
                      <a:endParaRPr lang="en-US" sz="1000">
                        <a:effectLst/>
                      </a:endParaRPr>
                    </a:p>
                  </a:txBody>
                  <a:tcPr marL="41400" marR="41400" marT="31051" marB="31051"/>
                </a:tc>
                <a:tc>
                  <a:txBody>
                    <a:bodyPr/>
                    <a:lstStyle/>
                    <a:p>
                      <a:pPr fontAlgn="t"/>
                      <a:r>
                        <a:rPr lang="en-US" sz="1000">
                          <a:effectLst/>
                        </a:rPr>
                        <a:t>0x1c4 </a:t>
                      </a:r>
                      <a:br>
                        <a:rPr lang="en-US" sz="1000">
                          <a:effectLst/>
                        </a:rPr>
                      </a:br>
                      <a:endParaRPr lang="en-US" sz="1000">
                        <a:effectLst/>
                      </a:endParaRPr>
                    </a:p>
                  </a:txBody>
                  <a:tcPr marL="41400" marR="41400" marT="31051" marB="31051"/>
                </a:tc>
                <a:tc>
                  <a:txBody>
                    <a:bodyPr/>
                    <a:lstStyle/>
                    <a:p>
                      <a:pPr fontAlgn="t"/>
                      <a:r>
                        <a:rPr lang="en-US" sz="1000">
                          <a:effectLst/>
                        </a:rPr>
                        <a:t>ARM Thumb-2 little endian </a:t>
                      </a:r>
                      <a:br>
                        <a:rPr lang="en-US" sz="1000">
                          <a:effectLst/>
                        </a:rPr>
                      </a:br>
                      <a:endParaRPr lang="en-US" sz="1000">
                        <a:effectLst/>
                      </a:endParaRPr>
                    </a:p>
                  </a:txBody>
                  <a:tcPr marL="41400" marR="41400" marT="31051" marB="31051"/>
                </a:tc>
                <a:extLst>
                  <a:ext uri="{0D108BD9-81ED-4DB2-BD59-A6C34878D82A}">
                    <a16:rowId xmlns:a16="http://schemas.microsoft.com/office/drawing/2014/main" val="664483182"/>
                  </a:ext>
                </a:extLst>
              </a:tr>
              <a:tr h="420027">
                <a:tc>
                  <a:txBody>
                    <a:bodyPr/>
                    <a:lstStyle/>
                    <a:p>
                      <a:pPr fontAlgn="t"/>
                      <a:r>
                        <a:rPr lang="en-US" sz="1000">
                          <a:effectLst/>
                        </a:rPr>
                        <a:t>IMAGE_FILE_MACHINE_EBC </a:t>
                      </a:r>
                      <a:br>
                        <a:rPr lang="en-US" sz="1000">
                          <a:effectLst/>
                        </a:rPr>
                      </a:br>
                      <a:endParaRPr lang="en-US" sz="1000">
                        <a:effectLst/>
                      </a:endParaRPr>
                    </a:p>
                  </a:txBody>
                  <a:tcPr marL="41400" marR="41400" marT="31051" marB="31051"/>
                </a:tc>
                <a:tc>
                  <a:txBody>
                    <a:bodyPr/>
                    <a:lstStyle/>
                    <a:p>
                      <a:pPr fontAlgn="t"/>
                      <a:r>
                        <a:rPr lang="en-US" sz="1000">
                          <a:effectLst/>
                        </a:rPr>
                        <a:t>0xebc </a:t>
                      </a:r>
                      <a:br>
                        <a:rPr lang="en-US" sz="1000">
                          <a:effectLst/>
                        </a:rPr>
                      </a:br>
                      <a:endParaRPr lang="en-US" sz="1000">
                        <a:effectLst/>
                      </a:endParaRPr>
                    </a:p>
                  </a:txBody>
                  <a:tcPr marL="41400" marR="41400" marT="31051" marB="31051"/>
                </a:tc>
                <a:tc>
                  <a:txBody>
                    <a:bodyPr/>
                    <a:lstStyle/>
                    <a:p>
                      <a:pPr fontAlgn="t"/>
                      <a:r>
                        <a:rPr lang="en-US" sz="1000">
                          <a:effectLst/>
                        </a:rPr>
                        <a:t>EFI byte code </a:t>
                      </a:r>
                      <a:br>
                        <a:rPr lang="en-US" sz="1000">
                          <a:effectLst/>
                        </a:rPr>
                      </a:br>
                      <a:endParaRPr lang="en-US" sz="1000">
                        <a:effectLst/>
                      </a:endParaRPr>
                    </a:p>
                  </a:txBody>
                  <a:tcPr marL="41400" marR="41400" marT="31051" marB="31051"/>
                </a:tc>
                <a:extLst>
                  <a:ext uri="{0D108BD9-81ED-4DB2-BD59-A6C34878D82A}">
                    <a16:rowId xmlns:a16="http://schemas.microsoft.com/office/drawing/2014/main" val="3040323594"/>
                  </a:ext>
                </a:extLst>
              </a:tr>
              <a:tr h="420027">
                <a:tc>
                  <a:txBody>
                    <a:bodyPr/>
                    <a:lstStyle/>
                    <a:p>
                      <a:pPr fontAlgn="t"/>
                      <a:r>
                        <a:rPr lang="en-US" sz="1000">
                          <a:effectLst/>
                        </a:rPr>
                        <a:t>IMAGE_FILE_MACHINE_I386 </a:t>
                      </a:r>
                      <a:br>
                        <a:rPr lang="en-US" sz="1000">
                          <a:effectLst/>
                        </a:rPr>
                      </a:br>
                      <a:endParaRPr lang="en-US" sz="1000">
                        <a:effectLst/>
                      </a:endParaRPr>
                    </a:p>
                  </a:txBody>
                  <a:tcPr marL="41400" marR="41400" marT="31051" marB="31051"/>
                </a:tc>
                <a:tc>
                  <a:txBody>
                    <a:bodyPr/>
                    <a:lstStyle/>
                    <a:p>
                      <a:pPr fontAlgn="t"/>
                      <a:r>
                        <a:rPr lang="en-US" sz="1000">
                          <a:effectLst/>
                        </a:rPr>
                        <a:t>0x14c </a:t>
                      </a:r>
                      <a:br>
                        <a:rPr lang="en-US" sz="1000">
                          <a:effectLst/>
                        </a:rPr>
                      </a:br>
                      <a:endParaRPr lang="en-US" sz="1000">
                        <a:effectLst/>
                      </a:endParaRPr>
                    </a:p>
                  </a:txBody>
                  <a:tcPr marL="41400" marR="41400" marT="31051" marB="31051"/>
                </a:tc>
                <a:tc>
                  <a:txBody>
                    <a:bodyPr/>
                    <a:lstStyle/>
                    <a:p>
                      <a:pPr fontAlgn="t"/>
                      <a:r>
                        <a:rPr lang="en-US" sz="1000">
                          <a:effectLst/>
                        </a:rPr>
                        <a:t>Intel 386 or later processors and compatible processors </a:t>
                      </a:r>
                      <a:br>
                        <a:rPr lang="en-US" sz="1000">
                          <a:effectLst/>
                        </a:rPr>
                      </a:br>
                      <a:endParaRPr lang="en-US" sz="1000">
                        <a:effectLst/>
                      </a:endParaRPr>
                    </a:p>
                  </a:txBody>
                  <a:tcPr marL="41400" marR="41400" marT="31051" marB="31051"/>
                </a:tc>
                <a:extLst>
                  <a:ext uri="{0D108BD9-81ED-4DB2-BD59-A6C34878D82A}">
                    <a16:rowId xmlns:a16="http://schemas.microsoft.com/office/drawing/2014/main" val="322849801"/>
                  </a:ext>
                </a:extLst>
              </a:tr>
              <a:tr h="420027">
                <a:tc>
                  <a:txBody>
                    <a:bodyPr/>
                    <a:lstStyle/>
                    <a:p>
                      <a:pPr fontAlgn="t"/>
                      <a:r>
                        <a:rPr lang="en-US" sz="1000">
                          <a:effectLst/>
                        </a:rPr>
                        <a:t>IMAGE_FILE_MACHINE_IA64 </a:t>
                      </a:r>
                      <a:br>
                        <a:rPr lang="en-US" sz="1000">
                          <a:effectLst/>
                        </a:rPr>
                      </a:br>
                      <a:endParaRPr lang="en-US" sz="1000">
                        <a:effectLst/>
                      </a:endParaRPr>
                    </a:p>
                  </a:txBody>
                  <a:tcPr marL="41400" marR="41400" marT="31051" marB="31051"/>
                </a:tc>
                <a:tc>
                  <a:txBody>
                    <a:bodyPr/>
                    <a:lstStyle/>
                    <a:p>
                      <a:pPr fontAlgn="t"/>
                      <a:r>
                        <a:rPr lang="en-US" sz="1000">
                          <a:effectLst/>
                        </a:rPr>
                        <a:t>0x200 </a:t>
                      </a:r>
                      <a:br>
                        <a:rPr lang="en-US" sz="1000">
                          <a:effectLst/>
                        </a:rPr>
                      </a:br>
                      <a:endParaRPr lang="en-US" sz="1000">
                        <a:effectLst/>
                      </a:endParaRPr>
                    </a:p>
                  </a:txBody>
                  <a:tcPr marL="41400" marR="41400" marT="31051" marB="31051"/>
                </a:tc>
                <a:tc>
                  <a:txBody>
                    <a:bodyPr/>
                    <a:lstStyle/>
                    <a:p>
                      <a:pPr fontAlgn="t"/>
                      <a:r>
                        <a:rPr lang="en-US" sz="1000">
                          <a:effectLst/>
                        </a:rPr>
                        <a:t>Intel Itanium processor family </a:t>
                      </a:r>
                      <a:br>
                        <a:rPr lang="en-US" sz="1000">
                          <a:effectLst/>
                        </a:rPr>
                      </a:br>
                      <a:endParaRPr lang="en-US" sz="1000">
                        <a:effectLst/>
                      </a:endParaRPr>
                    </a:p>
                  </a:txBody>
                  <a:tcPr marL="41400" marR="41400" marT="31051" marB="31051"/>
                </a:tc>
                <a:extLst>
                  <a:ext uri="{0D108BD9-81ED-4DB2-BD59-A6C34878D82A}">
                    <a16:rowId xmlns:a16="http://schemas.microsoft.com/office/drawing/2014/main" val="1651629216"/>
                  </a:ext>
                </a:extLst>
              </a:tr>
              <a:tr h="420027">
                <a:tc>
                  <a:txBody>
                    <a:bodyPr/>
                    <a:lstStyle/>
                    <a:p>
                      <a:pPr fontAlgn="t"/>
                      <a:r>
                        <a:rPr lang="en-US" sz="1000">
                          <a:effectLst/>
                        </a:rPr>
                        <a:t>IMAGE_FILE_MACHINE_M32R </a:t>
                      </a:r>
                      <a:br>
                        <a:rPr lang="en-US" sz="1000">
                          <a:effectLst/>
                        </a:rPr>
                      </a:br>
                      <a:endParaRPr lang="en-US" sz="1000">
                        <a:effectLst/>
                      </a:endParaRPr>
                    </a:p>
                  </a:txBody>
                  <a:tcPr marL="41400" marR="41400" marT="31051" marB="31051"/>
                </a:tc>
                <a:tc>
                  <a:txBody>
                    <a:bodyPr/>
                    <a:lstStyle/>
                    <a:p>
                      <a:pPr fontAlgn="t"/>
                      <a:r>
                        <a:rPr lang="en-US" sz="1000">
                          <a:effectLst/>
                        </a:rPr>
                        <a:t>0x9041</a:t>
                      </a:r>
                      <a:br>
                        <a:rPr lang="en-US" sz="1000">
                          <a:effectLst/>
                        </a:rPr>
                      </a:br>
                      <a:endParaRPr lang="en-US" sz="1000">
                        <a:effectLst/>
                      </a:endParaRPr>
                    </a:p>
                  </a:txBody>
                  <a:tcPr marL="41400" marR="41400" marT="31051" marB="31051"/>
                </a:tc>
                <a:tc>
                  <a:txBody>
                    <a:bodyPr/>
                    <a:lstStyle/>
                    <a:p>
                      <a:pPr fontAlgn="t"/>
                      <a:r>
                        <a:rPr lang="en-US" sz="1000">
                          <a:effectLst/>
                        </a:rPr>
                        <a:t>Mitsubishi M32R little endian </a:t>
                      </a:r>
                      <a:br>
                        <a:rPr lang="en-US" sz="1000">
                          <a:effectLst/>
                        </a:rPr>
                      </a:br>
                      <a:endParaRPr lang="en-US" sz="1000">
                        <a:effectLst/>
                      </a:endParaRPr>
                    </a:p>
                  </a:txBody>
                  <a:tcPr marL="41400" marR="41400" marT="31051" marB="31051"/>
                </a:tc>
                <a:extLst>
                  <a:ext uri="{0D108BD9-81ED-4DB2-BD59-A6C34878D82A}">
                    <a16:rowId xmlns:a16="http://schemas.microsoft.com/office/drawing/2014/main" val="648070704"/>
                  </a:ext>
                </a:extLst>
              </a:tr>
              <a:tr h="420027">
                <a:tc>
                  <a:txBody>
                    <a:bodyPr/>
                    <a:lstStyle/>
                    <a:p>
                      <a:pPr fontAlgn="t"/>
                      <a:r>
                        <a:rPr lang="en-US" sz="1000">
                          <a:effectLst/>
                        </a:rPr>
                        <a:t>IMAGE_FILE_MACHINE_MIPS16 </a:t>
                      </a:r>
                      <a:br>
                        <a:rPr lang="en-US" sz="1000">
                          <a:effectLst/>
                        </a:rPr>
                      </a:br>
                      <a:endParaRPr lang="en-US" sz="1000">
                        <a:effectLst/>
                      </a:endParaRPr>
                    </a:p>
                  </a:txBody>
                  <a:tcPr marL="41400" marR="41400" marT="31051" marB="31051"/>
                </a:tc>
                <a:tc>
                  <a:txBody>
                    <a:bodyPr/>
                    <a:lstStyle/>
                    <a:p>
                      <a:pPr fontAlgn="t"/>
                      <a:r>
                        <a:rPr lang="en-US" sz="1000">
                          <a:effectLst/>
                        </a:rPr>
                        <a:t>0x266 </a:t>
                      </a:r>
                      <a:br>
                        <a:rPr lang="en-US" sz="1000">
                          <a:effectLst/>
                        </a:rPr>
                      </a:br>
                      <a:endParaRPr lang="en-US" sz="1000">
                        <a:effectLst/>
                      </a:endParaRPr>
                    </a:p>
                  </a:txBody>
                  <a:tcPr marL="41400" marR="41400" marT="31051" marB="31051"/>
                </a:tc>
                <a:tc>
                  <a:txBody>
                    <a:bodyPr/>
                    <a:lstStyle/>
                    <a:p>
                      <a:pPr fontAlgn="t"/>
                      <a:r>
                        <a:rPr lang="en-US" sz="1000">
                          <a:effectLst/>
                        </a:rPr>
                        <a:t>MIPS16 </a:t>
                      </a:r>
                      <a:br>
                        <a:rPr lang="en-US" sz="1000">
                          <a:effectLst/>
                        </a:rPr>
                      </a:br>
                      <a:endParaRPr lang="en-US" sz="1000">
                        <a:effectLst/>
                      </a:endParaRPr>
                    </a:p>
                  </a:txBody>
                  <a:tcPr marL="41400" marR="41400" marT="31051" marB="31051"/>
                </a:tc>
                <a:extLst>
                  <a:ext uri="{0D108BD9-81ED-4DB2-BD59-A6C34878D82A}">
                    <a16:rowId xmlns:a16="http://schemas.microsoft.com/office/drawing/2014/main" val="3540797901"/>
                  </a:ext>
                </a:extLst>
              </a:tr>
              <a:tr h="420027">
                <a:tc>
                  <a:txBody>
                    <a:bodyPr/>
                    <a:lstStyle/>
                    <a:p>
                      <a:pPr fontAlgn="t"/>
                      <a:r>
                        <a:rPr lang="en-US" sz="1000">
                          <a:effectLst/>
                        </a:rPr>
                        <a:t>IMAGE_FILE_MACHINE_MIPSFPU </a:t>
                      </a:r>
                      <a:br>
                        <a:rPr lang="en-US" sz="1000">
                          <a:effectLst/>
                        </a:rPr>
                      </a:br>
                      <a:endParaRPr lang="en-US" sz="1000">
                        <a:effectLst/>
                      </a:endParaRPr>
                    </a:p>
                  </a:txBody>
                  <a:tcPr marL="41400" marR="41400" marT="31051" marB="31051"/>
                </a:tc>
                <a:tc>
                  <a:txBody>
                    <a:bodyPr/>
                    <a:lstStyle/>
                    <a:p>
                      <a:pPr fontAlgn="t"/>
                      <a:r>
                        <a:rPr lang="en-US" sz="1000">
                          <a:effectLst/>
                        </a:rPr>
                        <a:t>0x366 </a:t>
                      </a:r>
                      <a:br>
                        <a:rPr lang="en-US" sz="1000">
                          <a:effectLst/>
                        </a:rPr>
                      </a:br>
                      <a:endParaRPr lang="en-US" sz="1000">
                        <a:effectLst/>
                      </a:endParaRPr>
                    </a:p>
                  </a:txBody>
                  <a:tcPr marL="41400" marR="41400" marT="31051" marB="31051"/>
                </a:tc>
                <a:tc>
                  <a:txBody>
                    <a:bodyPr/>
                    <a:lstStyle/>
                    <a:p>
                      <a:pPr fontAlgn="t"/>
                      <a:r>
                        <a:rPr lang="en-US" sz="1000" dirty="0">
                          <a:effectLst/>
                        </a:rPr>
                        <a:t>MIPS with FPU </a:t>
                      </a:r>
                    </a:p>
                  </a:txBody>
                  <a:tcPr marL="41400" marR="41400" marT="31051" marB="31051"/>
                </a:tc>
                <a:extLst>
                  <a:ext uri="{0D108BD9-81ED-4DB2-BD59-A6C34878D82A}">
                    <a16:rowId xmlns:a16="http://schemas.microsoft.com/office/drawing/2014/main" val="1897383777"/>
                  </a:ext>
                </a:extLst>
              </a:tr>
            </a:tbl>
          </a:graphicData>
        </a:graphic>
      </p:graphicFrame>
      <p:sp>
        <p:nvSpPr>
          <p:cNvPr id="4" name="Slide Number Placeholder 3">
            <a:extLst>
              <a:ext uri="{FF2B5EF4-FFF2-40B4-BE49-F238E27FC236}">
                <a16:creationId xmlns:a16="http://schemas.microsoft.com/office/drawing/2014/main" id="{0E71DB4A-8700-4FA8-B336-3F5004296F73}"/>
              </a:ext>
            </a:extLst>
          </p:cNvPr>
          <p:cNvSpPr>
            <a:spLocks noGrp="1"/>
          </p:cNvSpPr>
          <p:nvPr>
            <p:ph type="sldNum" sz="quarter" idx="12"/>
          </p:nvPr>
        </p:nvSpPr>
        <p:spPr/>
        <p:txBody>
          <a:bodyPr/>
          <a:lstStyle/>
          <a:p>
            <a:fld id="{4FAB73BC-B049-4115-A692-8D63A059BFB8}" type="slidenum">
              <a:rPr lang="en-US" smtClean="0"/>
              <a:t>11</a:t>
            </a:fld>
            <a:endParaRPr lang="en-US" dirty="0"/>
          </a:p>
        </p:txBody>
      </p:sp>
    </p:spTree>
    <p:extLst>
      <p:ext uri="{BB962C8B-B14F-4D97-AF65-F5344CB8AC3E}">
        <p14:creationId xmlns:p14="http://schemas.microsoft.com/office/powerpoint/2010/main" val="338832417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DE4749-94FE-4581-AFC8-29F0EE603680}"/>
              </a:ext>
            </a:extLst>
          </p:cNvPr>
          <p:cNvSpPr>
            <a:spLocks noGrp="1"/>
          </p:cNvSpPr>
          <p:nvPr>
            <p:ph type="title"/>
          </p:nvPr>
        </p:nvSpPr>
        <p:spPr>
          <a:xfrm>
            <a:off x="382280" y="484632"/>
            <a:ext cx="6743844" cy="1609344"/>
          </a:xfrm>
        </p:spPr>
        <p:txBody>
          <a:bodyPr>
            <a:normAutofit/>
          </a:bodyPr>
          <a:lstStyle/>
          <a:p>
            <a:r>
              <a:rPr lang="en-US" sz="4800" dirty="0">
                <a:solidFill>
                  <a:srgbClr val="0070C0"/>
                </a:solidFill>
              </a:rPr>
              <a:t>II.2.4.2 Optional Header</a:t>
            </a:r>
          </a:p>
        </p:txBody>
      </p:sp>
      <p:sp>
        <p:nvSpPr>
          <p:cNvPr id="3" name="Content Placeholder 2">
            <a:extLst>
              <a:ext uri="{FF2B5EF4-FFF2-40B4-BE49-F238E27FC236}">
                <a16:creationId xmlns:a16="http://schemas.microsoft.com/office/drawing/2014/main" id="{C78EA044-5A45-4D10-B4A9-5BB8109B6346}"/>
              </a:ext>
            </a:extLst>
          </p:cNvPr>
          <p:cNvSpPr>
            <a:spLocks noGrp="1"/>
          </p:cNvSpPr>
          <p:nvPr>
            <p:ph idx="1"/>
          </p:nvPr>
        </p:nvSpPr>
        <p:spPr>
          <a:xfrm>
            <a:off x="382279" y="2121408"/>
            <a:ext cx="6743845" cy="4050792"/>
          </a:xfrm>
        </p:spPr>
        <p:txBody>
          <a:bodyPr>
            <a:normAutofit/>
          </a:bodyPr>
          <a:lstStyle/>
          <a:p>
            <a:r>
              <a:rPr lang="vi-VN" sz="1800" dirty="0"/>
              <a:t>Optional Header bao gồm 31 thành phần, chiếm 224 byte</a:t>
            </a:r>
            <a:r>
              <a:rPr lang="en-US" sz="1800" dirty="0"/>
              <a:t>s.</a:t>
            </a:r>
          </a:p>
          <a:p>
            <a:r>
              <a:rPr lang="vi-VN" sz="1800" dirty="0"/>
              <a:t>Cấu trúc này được định nghĩa trong windows.inc, đây là phần chứa thông tin về sơ đồ logic trong PE file.</a:t>
            </a:r>
            <a:endParaRPr lang="en-US" sz="1800" dirty="0"/>
          </a:p>
          <a:p>
            <a:endParaRPr lang="en-US" sz="1800" dirty="0"/>
          </a:p>
        </p:txBody>
      </p:sp>
      <p:pic>
        <p:nvPicPr>
          <p:cNvPr id="4" name="Picture 3">
            <a:extLst>
              <a:ext uri="{FF2B5EF4-FFF2-40B4-BE49-F238E27FC236}">
                <a16:creationId xmlns:a16="http://schemas.microsoft.com/office/drawing/2014/main" id="{1D20126B-30AE-400F-AEBD-CFDBA13B0751}"/>
              </a:ext>
            </a:extLst>
          </p:cNvPr>
          <p:cNvPicPr>
            <a:picLocks noChangeAspect="1"/>
          </p:cNvPicPr>
          <p:nvPr/>
        </p:nvPicPr>
        <p:blipFill rotWithShape="1">
          <a:blip r:embed="rId4"/>
          <a:srcRect r="14772"/>
          <a:stretch/>
        </p:blipFill>
        <p:spPr>
          <a:xfrm>
            <a:off x="7545274" y="10"/>
            <a:ext cx="4646726" cy="6857990"/>
          </a:xfrm>
          <a:prstGeom prst="rect">
            <a:avLst/>
          </a:prstGeom>
        </p:spPr>
      </p:pic>
      <p:grpSp>
        <p:nvGrpSpPr>
          <p:cNvPr id="16" name="Group 10">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4C899F98-3664-4004-9D3F-9EB9BB55E62C}"/>
              </a:ext>
            </a:extLst>
          </p:cNvPr>
          <p:cNvSpPr>
            <a:spLocks noGrp="1"/>
          </p:cNvSpPr>
          <p:nvPr>
            <p:ph type="sldNum" sz="quarter" idx="12"/>
          </p:nvPr>
        </p:nvSpPr>
        <p:spPr/>
        <p:txBody>
          <a:bodyPr/>
          <a:lstStyle/>
          <a:p>
            <a:fld id="{4FAB73BC-B049-4115-A692-8D63A059BFB8}" type="slidenum">
              <a:rPr lang="en-US" smtClean="0"/>
              <a:t>12</a:t>
            </a:fld>
            <a:endParaRPr lang="en-US" dirty="0"/>
          </a:p>
        </p:txBody>
      </p:sp>
    </p:spTree>
    <p:extLst>
      <p:ext uri="{BB962C8B-B14F-4D97-AF65-F5344CB8AC3E}">
        <p14:creationId xmlns:p14="http://schemas.microsoft.com/office/powerpoint/2010/main" val="18353393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arn(inVertic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0C31C23-1C2C-4371-9D5A-6E46CD50EF07}"/>
              </a:ext>
            </a:extLst>
          </p:cNvPr>
          <p:cNvSpPr>
            <a:spLocks noGrp="1"/>
          </p:cNvSpPr>
          <p:nvPr>
            <p:ph type="title"/>
          </p:nvPr>
        </p:nvSpPr>
        <p:spPr>
          <a:xfrm>
            <a:off x="1069848" y="484632"/>
            <a:ext cx="10058400" cy="1609344"/>
          </a:xfrm>
        </p:spPr>
        <p:txBody>
          <a:bodyPr>
            <a:normAutofit/>
          </a:bodyPr>
          <a:lstStyle/>
          <a:p>
            <a:r>
              <a:rPr lang="en-US" dirty="0">
                <a:solidFill>
                  <a:srgbClr val="0070C0"/>
                </a:solidFill>
              </a:rPr>
              <a:t>II.2.4.2 Optional Header</a:t>
            </a:r>
          </a:p>
        </p:txBody>
      </p:sp>
      <p:sp>
        <p:nvSpPr>
          <p:cNvPr id="3" name="Content Placeholder 2">
            <a:extLst>
              <a:ext uri="{FF2B5EF4-FFF2-40B4-BE49-F238E27FC236}">
                <a16:creationId xmlns:a16="http://schemas.microsoft.com/office/drawing/2014/main" id="{4F32F4C7-93C3-4C99-B801-261FF261ABD4}"/>
              </a:ext>
            </a:extLst>
          </p:cNvPr>
          <p:cNvSpPr>
            <a:spLocks noGrp="1"/>
          </p:cNvSpPr>
          <p:nvPr>
            <p:ph idx="1"/>
          </p:nvPr>
        </p:nvSpPr>
        <p:spPr>
          <a:xfrm>
            <a:off x="1069848" y="2320412"/>
            <a:ext cx="10058400" cy="3851787"/>
          </a:xfrm>
        </p:spPr>
        <p:txBody>
          <a:bodyPr>
            <a:normAutofit/>
          </a:bodyPr>
          <a:lstStyle/>
          <a:p>
            <a:r>
              <a:rPr lang="vi-VN" sz="1400" b="1" dirty="0"/>
              <a:t>Magic</a:t>
            </a:r>
            <a:r>
              <a:rPr lang="vi-VN" sz="1400" dirty="0"/>
              <a:t> (2 bytes): xác định là file 32 bit (0B 01) hay 64 bit (0B 20)</a:t>
            </a:r>
          </a:p>
          <a:p>
            <a:r>
              <a:rPr lang="vi-VN" sz="1400" b="1" dirty="0"/>
              <a:t>AddressOfEntryPoint</a:t>
            </a:r>
            <a:r>
              <a:rPr lang="vi-VN" sz="1400" dirty="0"/>
              <a:t> (4bytes): chứa địa chỉ ảo tương đối (RVA) của câu lệnh đầu tiên sẽ được thực thi khi chương trình PE loader sẵn sàng để chạy PE File (.text). Nếu muốn chương trình bắt đầu từ một địa chỉ khác (để thực thi câu lệnh với mục đích khác) thì cần thay đổi địa chỉ này về địa chỉ tương đối của câu lệnh muốn thực thi.</a:t>
            </a:r>
          </a:p>
          <a:p>
            <a:r>
              <a:rPr lang="vi-VN" sz="1400" b="1" dirty="0"/>
              <a:t>ImageBase:</a:t>
            </a:r>
            <a:r>
              <a:rPr lang="vi-VN" sz="1400" dirty="0"/>
              <a:t> địa chỉ nạp được ưu tiên cho PE File.</a:t>
            </a:r>
          </a:p>
          <a:p>
            <a:r>
              <a:rPr lang="vi-VN" sz="1400" b="1" dirty="0"/>
              <a:t>Section Alignment:</a:t>
            </a:r>
            <a:r>
              <a:rPr lang="vi-VN" sz="1400" dirty="0"/>
              <a:t> Phần liên kết của các Section trong bộ nhớ. Tức là một section luôn luôn được bắt đầu bằng bội số của sectionAlignment. Ví dụ: sectionAlignment là 1000h, section đầu tiên bắt đầu ở vị trí 401000h và kích thước là 10h, section tiếp theo sẽ bắt đầu tại địa chỉ 402000h.</a:t>
            </a:r>
          </a:p>
          <a:p>
            <a:r>
              <a:rPr lang="vi-VN" sz="1400" b="1" dirty="0"/>
              <a:t>File Alignment:</a:t>
            </a:r>
            <a:r>
              <a:rPr lang="vi-VN" sz="1400" dirty="0"/>
              <a:t> Phần liên kết của các Section trong File. Tương tự như SectionAlignment nhưng áp dụng với file.</a:t>
            </a:r>
          </a:p>
          <a:p>
            <a:r>
              <a:rPr lang="vi-VN" sz="1400" b="1" dirty="0"/>
              <a:t>SizeOfImage:</a:t>
            </a:r>
            <a:r>
              <a:rPr lang="vi-VN" sz="1400" dirty="0"/>
              <a:t> Toàn bộ kích thước của Pe image trong bộ nhớ, là tổng của tất cả các headers và sections được liên kết tới Section Alignment</a:t>
            </a:r>
          </a:p>
          <a:p>
            <a:r>
              <a:rPr lang="vi-VN" sz="1400" b="1" dirty="0"/>
              <a:t>SizeOfHeaders:</a:t>
            </a:r>
            <a:r>
              <a:rPr lang="vi-VN" sz="1400" dirty="0"/>
              <a:t> Kích thước của tất cả các headers + section table =</a:t>
            </a:r>
            <a:r>
              <a:rPr lang="vi-VN" sz="1400" b="1" dirty="0"/>
              <a:t> </a:t>
            </a:r>
            <a:r>
              <a:rPr lang="vi-VN" sz="1400" dirty="0"/>
              <a:t>kích thước file trừ đi tổng kích thước của các section trong file.</a:t>
            </a:r>
          </a:p>
          <a:p>
            <a:r>
              <a:rPr lang="vi-VN" sz="1400" b="1" dirty="0"/>
              <a:t>Data Directory:</a:t>
            </a:r>
            <a:r>
              <a:rPr lang="vi-VN" sz="1400" dirty="0"/>
              <a:t> là một mảng gồm 16 phần tử, trong đó mỗi phần liên quan đến một cấu trúc dữ liệu quan trọng trong PE File.</a:t>
            </a:r>
          </a:p>
          <a:p>
            <a:endParaRPr lang="en-US" sz="1400" dirty="0"/>
          </a:p>
        </p:txBody>
      </p:sp>
      <p:sp>
        <p:nvSpPr>
          <p:cNvPr id="4" name="Slide Number Placeholder 3">
            <a:extLst>
              <a:ext uri="{FF2B5EF4-FFF2-40B4-BE49-F238E27FC236}">
                <a16:creationId xmlns:a16="http://schemas.microsoft.com/office/drawing/2014/main" id="{84DF1555-5E98-4763-BF3F-1F1D7C64348C}"/>
              </a:ext>
            </a:extLst>
          </p:cNvPr>
          <p:cNvSpPr>
            <a:spLocks noGrp="1"/>
          </p:cNvSpPr>
          <p:nvPr>
            <p:ph type="sldNum" sz="quarter" idx="12"/>
          </p:nvPr>
        </p:nvSpPr>
        <p:spPr/>
        <p:txBody>
          <a:bodyPr/>
          <a:lstStyle/>
          <a:p>
            <a:fld id="{4FAB73BC-B049-4115-A692-8D63A059BFB8}" type="slidenum">
              <a:rPr lang="en-US" smtClean="0"/>
              <a:t>13</a:t>
            </a:fld>
            <a:endParaRPr lang="en-US" dirty="0"/>
          </a:p>
        </p:txBody>
      </p:sp>
    </p:spTree>
    <p:extLst>
      <p:ext uri="{BB962C8B-B14F-4D97-AF65-F5344CB8AC3E}">
        <p14:creationId xmlns:p14="http://schemas.microsoft.com/office/powerpoint/2010/main" val="32299365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5" dur="500"/>
                                        <p:tgtEl>
                                          <p:spTgt spid="3">
                                            <p:txEl>
                                              <p:pRg st="3" end="3"/>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8" dur="500"/>
                                        <p:tgtEl>
                                          <p:spTgt spid="3">
                                            <p:txEl>
                                              <p:pRg st="4" end="4"/>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1" dur="500"/>
                                        <p:tgtEl>
                                          <p:spTgt spid="3">
                                            <p:txEl>
                                              <p:pRg st="5" end="5"/>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4" dur="500"/>
                                        <p:tgtEl>
                                          <p:spTgt spid="3">
                                            <p:txEl>
                                              <p:pRg st="6" end="6"/>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1">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II.2.4.2 Optional Header</a:t>
            </a:r>
          </a:p>
        </p:txBody>
      </p:sp>
      <p:pic>
        <p:nvPicPr>
          <p:cNvPr id="19" name="Content Placeholder 3">
            <a:extLst>
              <a:ext uri="{FF2B5EF4-FFF2-40B4-BE49-F238E27FC236}">
                <a16:creationId xmlns:a16="http://schemas.microsoft.com/office/drawing/2014/main" id="{54560AFB-9E62-44F2-B906-5A2C43480685}"/>
              </a:ext>
            </a:extLst>
          </p:cNvPr>
          <p:cNvPicPr>
            <a:picLocks noChangeAspect="1"/>
          </p:cNvPicPr>
          <p:nvPr/>
        </p:nvPicPr>
        <p:blipFill>
          <a:blip r:embed="rId4"/>
          <a:stretch>
            <a:fillRect/>
          </a:stretch>
        </p:blipFill>
        <p:spPr>
          <a:xfrm>
            <a:off x="633999" y="1507095"/>
            <a:ext cx="6882269" cy="3854070"/>
          </a:xfrm>
          <a:prstGeom prst="rect">
            <a:avLst/>
          </a:prstGeom>
        </p:spPr>
      </p:pic>
      <p:sp>
        <p:nvSpPr>
          <p:cNvPr id="20" name="Content Placeholder 8">
            <a:extLst>
              <a:ext uri="{FF2B5EF4-FFF2-40B4-BE49-F238E27FC236}">
                <a16:creationId xmlns:a16="http://schemas.microsoft.com/office/drawing/2014/main" id="{7118233B-D476-400E-9EF3-B5216A2866EE}"/>
              </a:ext>
            </a:extLst>
          </p:cNvPr>
          <p:cNvSpPr>
            <a:spLocks noGrp="1"/>
          </p:cNvSpPr>
          <p:nvPr>
            <p:ph idx="1"/>
          </p:nvPr>
        </p:nvSpPr>
        <p:spPr>
          <a:xfrm>
            <a:off x="8156351" y="2121408"/>
            <a:ext cx="3544034" cy="4050792"/>
          </a:xfrm>
        </p:spPr>
        <p:txBody>
          <a:bodyPr>
            <a:normAutofit/>
          </a:bodyPr>
          <a:lstStyle/>
          <a:p>
            <a:endParaRPr lang="en-US" sz="1600"/>
          </a:p>
        </p:txBody>
      </p:sp>
      <p:grpSp>
        <p:nvGrpSpPr>
          <p:cNvPr id="21" name="Group 13">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6" name="Oval 15">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lide Number Placeholder 2">
            <a:extLst>
              <a:ext uri="{FF2B5EF4-FFF2-40B4-BE49-F238E27FC236}">
                <a16:creationId xmlns:a16="http://schemas.microsoft.com/office/drawing/2014/main" id="{52A4D411-8C22-425E-8A23-6BEE8D17DADC}"/>
              </a:ext>
            </a:extLst>
          </p:cNvPr>
          <p:cNvSpPr>
            <a:spLocks noGrp="1"/>
          </p:cNvSpPr>
          <p:nvPr>
            <p:ph type="sldNum" sz="quarter" idx="12"/>
          </p:nvPr>
        </p:nvSpPr>
        <p:spPr/>
        <p:txBody>
          <a:bodyPr/>
          <a:lstStyle/>
          <a:p>
            <a:fld id="{4FAB73BC-B049-4115-A692-8D63A059BFB8}" type="slidenum">
              <a:rPr lang="en-US" smtClean="0"/>
              <a:t>14</a:t>
            </a:fld>
            <a:endParaRPr lang="en-US" dirty="0"/>
          </a:p>
        </p:txBody>
      </p:sp>
    </p:spTree>
    <p:extLst>
      <p:ext uri="{BB962C8B-B14F-4D97-AF65-F5344CB8AC3E}">
        <p14:creationId xmlns:p14="http://schemas.microsoft.com/office/powerpoint/2010/main" val="94088215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8156350" y="484632"/>
            <a:ext cx="3544035" cy="1609344"/>
          </a:xfrm>
          <a:ln>
            <a:noFill/>
          </a:ln>
        </p:spPr>
        <p:txBody>
          <a:bodyPr>
            <a:normAutofit/>
          </a:bodyPr>
          <a:lstStyle/>
          <a:p>
            <a:r>
              <a:rPr lang="en-US" sz="3000" dirty="0">
                <a:solidFill>
                  <a:srgbClr val="0070C0"/>
                </a:solidFill>
              </a:rPr>
              <a:t>II.2.4.2 Optional Header - </a:t>
            </a:r>
            <a:r>
              <a:rPr lang="en-US" sz="3000" b="1" dirty="0">
                <a:solidFill>
                  <a:srgbClr val="0070C0"/>
                </a:solidFill>
              </a:rPr>
              <a:t>Data Directories</a:t>
            </a:r>
            <a:br>
              <a:rPr lang="en-US" sz="3000" b="1" dirty="0"/>
            </a:br>
            <a:endParaRPr lang="en-US" sz="3000" dirty="0"/>
          </a:p>
        </p:txBody>
      </p:sp>
      <p:pic>
        <p:nvPicPr>
          <p:cNvPr id="7" name="Content Placeholder 3">
            <a:extLst>
              <a:ext uri="{FF2B5EF4-FFF2-40B4-BE49-F238E27FC236}">
                <a16:creationId xmlns:a16="http://schemas.microsoft.com/office/drawing/2014/main" id="{A4AD549B-F312-46F2-B6A4-50819C99056D}"/>
              </a:ext>
            </a:extLst>
          </p:cNvPr>
          <p:cNvPicPr>
            <a:picLocks noChangeAspect="1"/>
          </p:cNvPicPr>
          <p:nvPr/>
        </p:nvPicPr>
        <p:blipFill>
          <a:blip r:embed="rId5"/>
          <a:stretch>
            <a:fillRect/>
          </a:stretch>
        </p:blipFill>
        <p:spPr>
          <a:xfrm>
            <a:off x="1830012" y="640080"/>
            <a:ext cx="4490242" cy="5588101"/>
          </a:xfrm>
          <a:prstGeom prst="rect">
            <a:avLst/>
          </a:prstGeom>
        </p:spPr>
      </p:pic>
      <p:sp>
        <p:nvSpPr>
          <p:cNvPr id="9" name="Content Placeholder 8">
            <a:extLst>
              <a:ext uri="{FF2B5EF4-FFF2-40B4-BE49-F238E27FC236}">
                <a16:creationId xmlns:a16="http://schemas.microsoft.com/office/drawing/2014/main" id="{A8C1B7F6-E48C-4B03-B6CB-A7BECDD69A17}"/>
              </a:ext>
            </a:extLst>
          </p:cNvPr>
          <p:cNvSpPr>
            <a:spLocks noGrp="1"/>
          </p:cNvSpPr>
          <p:nvPr>
            <p:ph idx="1"/>
          </p:nvPr>
        </p:nvSpPr>
        <p:spPr>
          <a:xfrm>
            <a:off x="8156351" y="2121408"/>
            <a:ext cx="3544034" cy="4050792"/>
          </a:xfrm>
        </p:spPr>
        <p:txBody>
          <a:bodyPr>
            <a:normAutofit/>
          </a:bodyPr>
          <a:lstStyle/>
          <a:p>
            <a:r>
              <a:rPr lang="en-US" sz="1600" dirty="0" err="1"/>
              <a:t>DataDirectory</a:t>
            </a:r>
            <a:r>
              <a:rPr lang="en-US" sz="1600" dirty="0"/>
              <a:t>: là một </a:t>
            </a:r>
            <a:r>
              <a:rPr lang="en-US" sz="1600" dirty="0" err="1"/>
              <a:t>mảng</a:t>
            </a:r>
            <a:r>
              <a:rPr lang="en-US" sz="1600" dirty="0"/>
              <a:t> </a:t>
            </a:r>
            <a:r>
              <a:rPr lang="en-US" sz="1600" dirty="0" err="1"/>
              <a:t>gồm</a:t>
            </a:r>
            <a:r>
              <a:rPr lang="en-US" sz="1600" dirty="0"/>
              <a:t> 16 </a:t>
            </a:r>
            <a:r>
              <a:rPr lang="en-US" sz="1600" dirty="0" err="1"/>
              <a:t>cấu</a:t>
            </a:r>
            <a:r>
              <a:rPr lang="en-US" sz="1600" dirty="0"/>
              <a:t> </a:t>
            </a:r>
            <a:r>
              <a:rPr lang="en-US" sz="1600" dirty="0" err="1"/>
              <a:t>trúc</a:t>
            </a:r>
            <a:r>
              <a:rPr lang="en-US" sz="1600" dirty="0"/>
              <a:t> IMAGE_DATA_DIRECTORY, mỗi </a:t>
            </a:r>
            <a:r>
              <a:rPr lang="en-US" sz="1600" dirty="0" err="1"/>
              <a:t>cấu</a:t>
            </a:r>
            <a:r>
              <a:rPr lang="en-US" sz="1600" dirty="0"/>
              <a:t> </a:t>
            </a:r>
            <a:r>
              <a:rPr lang="en-US" sz="1600" dirty="0" err="1"/>
              <a:t>trúc</a:t>
            </a:r>
            <a:r>
              <a:rPr lang="en-US" sz="1600" dirty="0"/>
              <a:t> liên </a:t>
            </a:r>
            <a:r>
              <a:rPr lang="en-US" sz="1600" dirty="0" err="1"/>
              <a:t>quan</a:t>
            </a:r>
            <a:r>
              <a:rPr lang="en-US" sz="1600" dirty="0"/>
              <a:t> </a:t>
            </a:r>
            <a:r>
              <a:rPr lang="en-US" sz="1600" dirty="0" err="1"/>
              <a:t>tới</a:t>
            </a:r>
            <a:r>
              <a:rPr lang="en-US" sz="1600" dirty="0"/>
              <a:t> 1 </a:t>
            </a:r>
            <a:r>
              <a:rPr lang="en-US" sz="1600" dirty="0" err="1"/>
              <a:t>cấu</a:t>
            </a:r>
            <a:r>
              <a:rPr lang="en-US" sz="1600" dirty="0"/>
              <a:t> </a:t>
            </a:r>
            <a:r>
              <a:rPr lang="en-US" sz="1600" dirty="0" err="1"/>
              <a:t>trúc</a:t>
            </a:r>
            <a:r>
              <a:rPr lang="en-US" sz="1600" dirty="0"/>
              <a:t> </a:t>
            </a:r>
            <a:r>
              <a:rPr lang="en-US" sz="1600" dirty="0" err="1"/>
              <a:t>dữ</a:t>
            </a:r>
            <a:r>
              <a:rPr lang="en-US" sz="1600" dirty="0"/>
              <a:t> </a:t>
            </a:r>
            <a:r>
              <a:rPr lang="en-US" sz="1600" dirty="0" err="1"/>
              <a:t>liệu</a:t>
            </a:r>
            <a:r>
              <a:rPr lang="en-US" sz="1600" dirty="0"/>
              <a:t> </a:t>
            </a:r>
            <a:r>
              <a:rPr lang="en-US" sz="1600" dirty="0" err="1"/>
              <a:t>trong</a:t>
            </a:r>
            <a:r>
              <a:rPr lang="en-US" sz="1600" dirty="0"/>
              <a:t> PE file.</a:t>
            </a:r>
          </a:p>
          <a:p>
            <a:r>
              <a:rPr lang="en-US" sz="1600" dirty="0"/>
              <a:t>Hiện tại 11 </a:t>
            </a:r>
            <a:r>
              <a:rPr lang="en-US" sz="1600" dirty="0" err="1"/>
              <a:t>trong</a:t>
            </a:r>
            <a:r>
              <a:rPr lang="en-US" sz="1600" dirty="0"/>
              <a:t> </a:t>
            </a:r>
            <a:r>
              <a:rPr lang="en-US" sz="1600" dirty="0" err="1"/>
              <a:t>số</a:t>
            </a:r>
            <a:r>
              <a:rPr lang="en-US" sz="1600" dirty="0"/>
              <a:t> </a:t>
            </a:r>
            <a:r>
              <a:rPr lang="en-US" sz="1600" dirty="0" err="1"/>
              <a:t>đó</a:t>
            </a:r>
            <a:r>
              <a:rPr lang="en-US" sz="1600" dirty="0"/>
              <a:t> còn đ</a:t>
            </a:r>
            <a:r>
              <a:rPr lang="vi-VN" sz="1600" dirty="0"/>
              <a:t>ư</a:t>
            </a:r>
            <a:r>
              <a:rPr lang="en-US" sz="1600" dirty="0" err="1"/>
              <a:t>ợc</a:t>
            </a:r>
            <a:r>
              <a:rPr lang="en-US" sz="1600" dirty="0"/>
              <a:t> </a:t>
            </a:r>
            <a:r>
              <a:rPr lang="en-US" sz="1600" dirty="0" err="1"/>
              <a:t>sử</a:t>
            </a:r>
            <a:r>
              <a:rPr lang="en-US" sz="1600" dirty="0"/>
              <a:t> </a:t>
            </a:r>
            <a:r>
              <a:rPr lang="en-US" sz="1600" dirty="0" err="1"/>
              <a:t>dụng</a:t>
            </a:r>
            <a:r>
              <a:rPr lang="en-US" sz="1600" dirty="0"/>
              <a:t>.</a:t>
            </a:r>
          </a:p>
          <a:p>
            <a:r>
              <a:rPr lang="en-US" sz="1600" dirty="0" err="1"/>
              <a:t>Cứ</a:t>
            </a:r>
            <a:r>
              <a:rPr lang="en-US" sz="1600" dirty="0"/>
              <a:t> mỗi 8 bytes thì mỗi phần </a:t>
            </a:r>
            <a:r>
              <a:rPr lang="en-US" sz="1600" dirty="0" err="1"/>
              <a:t>lại</a:t>
            </a:r>
            <a:r>
              <a:rPr lang="en-US" sz="1600" dirty="0"/>
              <a:t> liên </a:t>
            </a:r>
            <a:r>
              <a:rPr lang="en-US" sz="1600" dirty="0" err="1"/>
              <a:t>quan</a:t>
            </a:r>
            <a:r>
              <a:rPr lang="en-US" sz="1600" dirty="0"/>
              <a:t> </a:t>
            </a:r>
            <a:r>
              <a:rPr lang="en-US" sz="1600" dirty="0" err="1"/>
              <a:t>tới</a:t>
            </a:r>
            <a:r>
              <a:rPr lang="en-US" sz="1600" dirty="0"/>
              <a:t> một </a:t>
            </a:r>
            <a:r>
              <a:rPr lang="en-US" sz="1600" dirty="0" err="1"/>
              <a:t>cấu</a:t>
            </a:r>
            <a:r>
              <a:rPr lang="en-US" sz="1600" dirty="0"/>
              <a:t> </a:t>
            </a:r>
            <a:r>
              <a:rPr lang="en-US" sz="1600" dirty="0" err="1"/>
              <a:t>trúc</a:t>
            </a:r>
            <a:r>
              <a:rPr lang="en-US" sz="1600" dirty="0"/>
              <a:t> qua </a:t>
            </a:r>
            <a:r>
              <a:rPr lang="en-US" sz="1600" dirty="0" err="1"/>
              <a:t>trọng</a:t>
            </a:r>
            <a:r>
              <a:rPr lang="en-US" sz="1600" dirty="0"/>
              <a:t> </a:t>
            </a:r>
            <a:r>
              <a:rPr lang="en-US" sz="1600" dirty="0" err="1"/>
              <a:t>trong</a:t>
            </a:r>
            <a:r>
              <a:rPr lang="en-US" sz="1600" dirty="0"/>
              <a:t> file PE, mỗi </a:t>
            </a:r>
            <a:r>
              <a:rPr lang="en-US" sz="1600" dirty="0" err="1"/>
              <a:t>mảng</a:t>
            </a:r>
            <a:r>
              <a:rPr lang="en-US" sz="1600" dirty="0"/>
              <a:t> </a:t>
            </a:r>
            <a:r>
              <a:rPr lang="en-US" sz="1600" dirty="0" err="1"/>
              <a:t>tham</a:t>
            </a:r>
            <a:r>
              <a:rPr lang="en-US" sz="1600" dirty="0"/>
              <a:t> </a:t>
            </a:r>
            <a:r>
              <a:rPr lang="en-US" sz="1600" dirty="0" err="1"/>
              <a:t>chiếu</a:t>
            </a:r>
            <a:r>
              <a:rPr lang="en-US" sz="1600" dirty="0"/>
              <a:t> </a:t>
            </a:r>
            <a:r>
              <a:rPr lang="en-US" sz="1600" dirty="0" err="1"/>
              <a:t>tới</a:t>
            </a:r>
            <a:r>
              <a:rPr lang="en-US" sz="1600" dirty="0"/>
              <a:t> một </a:t>
            </a:r>
            <a:r>
              <a:rPr lang="en-US" sz="1600" dirty="0" err="1"/>
              <a:t>mục</a:t>
            </a:r>
            <a:r>
              <a:rPr lang="en-US" sz="1600" dirty="0"/>
              <a:t> đã đ</a:t>
            </a:r>
            <a:r>
              <a:rPr lang="vi-VN" sz="1600" dirty="0"/>
              <a:t>ư</a:t>
            </a:r>
            <a:r>
              <a:rPr lang="en-US" sz="1600" dirty="0" err="1"/>
              <a:t>ợc</a:t>
            </a:r>
            <a:r>
              <a:rPr lang="en-US" sz="1600" dirty="0"/>
              <a:t> </a:t>
            </a:r>
            <a:r>
              <a:rPr lang="en-US" sz="1600" dirty="0" err="1"/>
              <a:t>định</a:t>
            </a:r>
            <a:r>
              <a:rPr lang="en-US" sz="1600" dirty="0"/>
              <a:t> </a:t>
            </a:r>
            <a:r>
              <a:rPr lang="en-US" sz="1600" dirty="0" err="1"/>
              <a:t>nghĩa</a:t>
            </a:r>
            <a:r>
              <a:rPr lang="en-US" sz="1600" dirty="0"/>
              <a:t> tr</a:t>
            </a:r>
            <a:r>
              <a:rPr lang="vi-VN" sz="1600" dirty="0"/>
              <a:t>ư</a:t>
            </a:r>
            <a:r>
              <a:rPr lang="en-US" sz="1600" dirty="0" err="1"/>
              <a:t>ớc</a:t>
            </a:r>
            <a:r>
              <a:rPr lang="en-US" sz="1600" dirty="0"/>
              <a:t>.</a:t>
            </a:r>
          </a:p>
          <a:p>
            <a:endParaRPr lang="en-US" sz="1600" dirty="0"/>
          </a:p>
        </p:txBody>
      </p:sp>
      <p:grpSp>
        <p:nvGrpSpPr>
          <p:cNvPr id="32" name="Group 31">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3" name="Oval 32">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lide Number Placeholder 2">
            <a:extLst>
              <a:ext uri="{FF2B5EF4-FFF2-40B4-BE49-F238E27FC236}">
                <a16:creationId xmlns:a16="http://schemas.microsoft.com/office/drawing/2014/main" id="{B98597F3-F504-46CD-970C-D0A94E445CB3}"/>
              </a:ext>
            </a:extLst>
          </p:cNvPr>
          <p:cNvSpPr>
            <a:spLocks noGrp="1"/>
          </p:cNvSpPr>
          <p:nvPr>
            <p:ph type="sldNum" sz="quarter" idx="12"/>
          </p:nvPr>
        </p:nvSpPr>
        <p:spPr/>
        <p:txBody>
          <a:bodyPr/>
          <a:lstStyle/>
          <a:p>
            <a:fld id="{4FAB73BC-B049-4115-A692-8D63A059BFB8}" type="slidenum">
              <a:rPr lang="en-US" smtClean="0"/>
              <a:t>15</a:t>
            </a:fld>
            <a:endParaRPr lang="en-US" dirty="0"/>
          </a:p>
        </p:txBody>
      </p:sp>
    </p:spTree>
    <p:extLst>
      <p:ext uri="{BB962C8B-B14F-4D97-AF65-F5344CB8AC3E}">
        <p14:creationId xmlns:p14="http://schemas.microsoft.com/office/powerpoint/2010/main" val="88738135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barn(inVertical)">
                                      <p:cBhvr>
                                        <p:cTn id="25" dur="500"/>
                                        <p:tgtEl>
                                          <p:spTgt spid="9">
                                            <p:txEl>
                                              <p:pRg st="0" end="0"/>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barn(inVertical)">
                                      <p:cBhvr>
                                        <p:cTn id="28" dur="500"/>
                                        <p:tgtEl>
                                          <p:spTgt spid="9">
                                            <p:txEl>
                                              <p:pRg st="1" end="1"/>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barn(inVertical)">
                                      <p:cBhvr>
                                        <p:cTn id="31" dur="500"/>
                                        <p:tgtEl>
                                          <p:spTgt spid="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1000" fill="hold"/>
                                        <p:tgtEl>
                                          <p:spTgt spid="7"/>
                                        </p:tgtEl>
                                        <p:attrNameLst>
                                          <p:attrName>ppt_w</p:attrName>
                                        </p:attrNameLst>
                                      </p:cBhvr>
                                      <p:tavLst>
                                        <p:tav tm="0">
                                          <p:val>
                                            <p:fltVal val="0"/>
                                          </p:val>
                                        </p:tav>
                                        <p:tav tm="100000">
                                          <p:val>
                                            <p:strVal val="#ppt_w"/>
                                          </p:val>
                                        </p:tav>
                                      </p:tavLst>
                                    </p:anim>
                                    <p:anim calcmode="lin" valueType="num">
                                      <p:cBhvr>
                                        <p:cTn id="37" dur="1000" fill="hold"/>
                                        <p:tgtEl>
                                          <p:spTgt spid="7"/>
                                        </p:tgtEl>
                                        <p:attrNameLst>
                                          <p:attrName>ppt_h</p:attrName>
                                        </p:attrNameLst>
                                      </p:cBhvr>
                                      <p:tavLst>
                                        <p:tav tm="0">
                                          <p:val>
                                            <p:fltVal val="0"/>
                                          </p:val>
                                        </p:tav>
                                        <p:tav tm="100000">
                                          <p:val>
                                            <p:strVal val="#ppt_h"/>
                                          </p:val>
                                        </p:tav>
                                      </p:tavLst>
                                    </p:anim>
                                    <p:anim calcmode="lin" valueType="num">
                                      <p:cBhvr>
                                        <p:cTn id="38" dur="1000" fill="hold"/>
                                        <p:tgtEl>
                                          <p:spTgt spid="7"/>
                                        </p:tgtEl>
                                        <p:attrNameLst>
                                          <p:attrName>style.rotation</p:attrName>
                                        </p:attrNameLst>
                                      </p:cBhvr>
                                      <p:tavLst>
                                        <p:tav tm="0">
                                          <p:val>
                                            <p:fltVal val="90"/>
                                          </p:val>
                                        </p:tav>
                                        <p:tav tm="100000">
                                          <p:val>
                                            <p:fltVal val="0"/>
                                          </p:val>
                                        </p:tav>
                                      </p:tavLst>
                                    </p:anim>
                                    <p:animEffect transition="in" filter="fade">
                                      <p:cBhvr>
                                        <p:cTn id="3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1066800" y="4511898"/>
            <a:ext cx="10058400" cy="1609344"/>
          </a:xfrm>
        </p:spPr>
        <p:txBody>
          <a:bodyPr>
            <a:normAutofit/>
          </a:bodyPr>
          <a:lstStyle/>
          <a:p>
            <a:r>
              <a:rPr lang="en-US" dirty="0">
                <a:solidFill>
                  <a:srgbClr val="0070C0"/>
                </a:solidFill>
              </a:rPr>
              <a:t>II.2.4.2 Optional Header - </a:t>
            </a:r>
            <a:r>
              <a:rPr lang="en-US" b="1" dirty="0">
                <a:solidFill>
                  <a:srgbClr val="0070C0"/>
                </a:solidFill>
              </a:rPr>
              <a:t>Data Directories</a:t>
            </a:r>
            <a:endParaRPr lang="en-US" dirty="0">
              <a:solidFill>
                <a:srgbClr val="0070C0"/>
              </a:solidFill>
            </a:endParaRPr>
          </a:p>
        </p:txBody>
      </p:sp>
      <p:pic>
        <p:nvPicPr>
          <p:cNvPr id="4" name="Picture 3">
            <a:extLst>
              <a:ext uri="{FF2B5EF4-FFF2-40B4-BE49-F238E27FC236}">
                <a16:creationId xmlns:a16="http://schemas.microsoft.com/office/drawing/2014/main" id="{E0A46ADF-197C-48E6-87BA-F3C9CE397F3C}"/>
              </a:ext>
            </a:extLst>
          </p:cNvPr>
          <p:cNvPicPr>
            <a:picLocks noChangeAspect="1"/>
          </p:cNvPicPr>
          <p:nvPr/>
        </p:nvPicPr>
        <p:blipFill>
          <a:blip r:embed="rId2"/>
          <a:stretch>
            <a:fillRect/>
          </a:stretch>
        </p:blipFill>
        <p:spPr>
          <a:xfrm>
            <a:off x="1088136" y="1434905"/>
            <a:ext cx="6135454" cy="1874315"/>
          </a:xfrm>
          <a:prstGeom prst="rect">
            <a:avLst/>
          </a:prstGeom>
        </p:spPr>
      </p:pic>
      <p:sp>
        <p:nvSpPr>
          <p:cNvPr id="3" name="Content Placeholder 2">
            <a:extLst>
              <a:ext uri="{FF2B5EF4-FFF2-40B4-BE49-F238E27FC236}">
                <a16:creationId xmlns:a16="http://schemas.microsoft.com/office/drawing/2014/main" id="{2D356FFE-EDE2-495E-82A3-F1065E83E65B}"/>
              </a:ext>
            </a:extLst>
          </p:cNvPr>
          <p:cNvSpPr>
            <a:spLocks noGrp="1"/>
          </p:cNvSpPr>
          <p:nvPr>
            <p:ph idx="1"/>
          </p:nvPr>
        </p:nvSpPr>
        <p:spPr>
          <a:xfrm>
            <a:off x="7534655" y="1434905"/>
            <a:ext cx="4074959" cy="3385638"/>
          </a:xfrm>
        </p:spPr>
        <p:txBody>
          <a:bodyPr>
            <a:normAutofit/>
          </a:bodyPr>
          <a:lstStyle/>
          <a:p>
            <a:r>
              <a:rPr lang="en-US" sz="1800" dirty="0" err="1"/>
              <a:t>Cấu</a:t>
            </a:r>
            <a:r>
              <a:rPr lang="en-US" sz="1800" dirty="0"/>
              <a:t> </a:t>
            </a:r>
            <a:r>
              <a:rPr lang="en-US" sz="1800" dirty="0" err="1"/>
              <a:t>trúc</a:t>
            </a:r>
            <a:r>
              <a:rPr lang="en-US" sz="1800" dirty="0"/>
              <a:t> của Data Directory có 2 </a:t>
            </a:r>
            <a:r>
              <a:rPr lang="en-US" sz="1800" dirty="0" err="1"/>
              <a:t>thành</a:t>
            </a:r>
            <a:r>
              <a:rPr lang="en-US" sz="1800" dirty="0"/>
              <a:t> phần </a:t>
            </a:r>
            <a:r>
              <a:rPr lang="en-US" sz="1800" dirty="0" err="1"/>
              <a:t>gồm</a:t>
            </a:r>
            <a:r>
              <a:rPr lang="en-US" sz="1800" dirty="0"/>
              <a:t> thông tin và </a:t>
            </a:r>
            <a:r>
              <a:rPr lang="en-US" sz="1800" dirty="0" err="1"/>
              <a:t>kích</a:t>
            </a:r>
            <a:r>
              <a:rPr lang="en-US" sz="1800" dirty="0"/>
              <a:t> </a:t>
            </a:r>
            <a:r>
              <a:rPr lang="en-US" sz="1800" dirty="0" err="1"/>
              <a:t>th</a:t>
            </a:r>
            <a:r>
              <a:rPr lang="vi-VN" sz="1800" dirty="0"/>
              <a:t>ư</a:t>
            </a:r>
            <a:r>
              <a:rPr lang="en-US" sz="1800" dirty="0" err="1"/>
              <a:t>ớc</a:t>
            </a:r>
            <a:r>
              <a:rPr lang="en-US" sz="1800" dirty="0"/>
              <a:t> của </a:t>
            </a:r>
            <a:r>
              <a:rPr lang="en-US" sz="1800" dirty="0" err="1"/>
              <a:t>cấu</a:t>
            </a:r>
            <a:r>
              <a:rPr lang="en-US" sz="1800" dirty="0"/>
              <a:t> </a:t>
            </a:r>
            <a:r>
              <a:rPr lang="en-US" sz="1800" dirty="0" err="1"/>
              <a:t>trúc</a:t>
            </a:r>
            <a:r>
              <a:rPr lang="en-US" sz="1800" dirty="0"/>
              <a:t> </a:t>
            </a:r>
            <a:r>
              <a:rPr lang="en-US" sz="1800" dirty="0" err="1"/>
              <a:t>dữ</a:t>
            </a:r>
            <a:r>
              <a:rPr lang="en-US" sz="1800" dirty="0"/>
              <a:t> </a:t>
            </a:r>
            <a:r>
              <a:rPr lang="en-US" sz="1800" dirty="0" err="1"/>
              <a:t>liệu</a:t>
            </a:r>
            <a:r>
              <a:rPr lang="en-US" sz="1800" dirty="0"/>
              <a:t>.</a:t>
            </a:r>
          </a:p>
          <a:p>
            <a:r>
              <a:rPr lang="en-US" sz="1800" dirty="0" err="1"/>
              <a:t>VirtualAddress</a:t>
            </a:r>
            <a:r>
              <a:rPr lang="en-US" sz="1800" dirty="0"/>
              <a:t> là một </a:t>
            </a:r>
            <a:r>
              <a:rPr lang="en-US" sz="1800" dirty="0" err="1"/>
              <a:t>địa</a:t>
            </a:r>
            <a:r>
              <a:rPr lang="en-US" sz="1800" dirty="0"/>
              <a:t> </a:t>
            </a:r>
            <a:r>
              <a:rPr lang="en-US" sz="1800" dirty="0" err="1"/>
              <a:t>chỉ</a:t>
            </a:r>
            <a:r>
              <a:rPr lang="en-US" sz="1800" dirty="0"/>
              <a:t> </a:t>
            </a:r>
            <a:r>
              <a:rPr lang="en-US" sz="1800" dirty="0" err="1"/>
              <a:t>ảo</a:t>
            </a:r>
            <a:r>
              <a:rPr lang="en-US" sz="1800" dirty="0"/>
              <a:t> t</a:t>
            </a:r>
            <a:r>
              <a:rPr lang="vi-VN" sz="1800" dirty="0"/>
              <a:t>ư</a:t>
            </a:r>
            <a:r>
              <a:rPr lang="en-US" sz="1800" dirty="0" err="1"/>
              <a:t>ơng</a:t>
            </a:r>
            <a:r>
              <a:rPr lang="en-US" sz="1800" dirty="0"/>
              <a:t> </a:t>
            </a:r>
            <a:r>
              <a:rPr lang="en-US" sz="1800" dirty="0" err="1"/>
              <a:t>đối</a:t>
            </a:r>
            <a:r>
              <a:rPr lang="en-US" sz="1800" dirty="0"/>
              <a:t> của </a:t>
            </a:r>
            <a:r>
              <a:rPr lang="en-US" sz="1800" dirty="0" err="1"/>
              <a:t>cấu</a:t>
            </a:r>
            <a:r>
              <a:rPr lang="en-US" sz="1800" dirty="0"/>
              <a:t> </a:t>
            </a:r>
            <a:r>
              <a:rPr lang="en-US" sz="1800" dirty="0" err="1"/>
              <a:t>trúc</a:t>
            </a:r>
            <a:r>
              <a:rPr lang="en-US" sz="1800" dirty="0"/>
              <a:t> </a:t>
            </a:r>
            <a:r>
              <a:rPr lang="en-US" sz="1800" dirty="0" err="1"/>
              <a:t>dữ</a:t>
            </a:r>
            <a:r>
              <a:rPr lang="en-US" sz="1800" dirty="0"/>
              <a:t> </a:t>
            </a:r>
            <a:r>
              <a:rPr lang="en-US" sz="1800" dirty="0" err="1"/>
              <a:t>liệu</a:t>
            </a:r>
            <a:r>
              <a:rPr lang="en-US" sz="1800" dirty="0"/>
              <a:t>.</a:t>
            </a:r>
          </a:p>
          <a:p>
            <a:r>
              <a:rPr lang="en-US" sz="1800" dirty="0"/>
              <a:t>Size bao </a:t>
            </a:r>
            <a:r>
              <a:rPr lang="en-US" sz="1800" dirty="0" err="1"/>
              <a:t>gồm</a:t>
            </a:r>
            <a:r>
              <a:rPr lang="en-US" sz="1800" dirty="0"/>
              <a:t> </a:t>
            </a:r>
            <a:r>
              <a:rPr lang="en-US" sz="1800" dirty="0" err="1"/>
              <a:t>kích</a:t>
            </a:r>
            <a:r>
              <a:rPr lang="en-US" sz="1800" dirty="0"/>
              <a:t> </a:t>
            </a:r>
            <a:r>
              <a:rPr lang="en-US" sz="1800" dirty="0" err="1"/>
              <a:t>th</a:t>
            </a:r>
            <a:r>
              <a:rPr lang="vi-VN" sz="1800" dirty="0"/>
              <a:t>ư</a:t>
            </a:r>
            <a:r>
              <a:rPr lang="en-US" sz="1800" dirty="0" err="1"/>
              <a:t>ớc</a:t>
            </a:r>
            <a:r>
              <a:rPr lang="en-US" sz="1800" dirty="0"/>
              <a:t> </a:t>
            </a:r>
            <a:r>
              <a:rPr lang="en-US" sz="1800" dirty="0" err="1"/>
              <a:t>theo</a:t>
            </a:r>
            <a:r>
              <a:rPr lang="en-US" sz="1800" dirty="0"/>
              <a:t> bytes của </a:t>
            </a:r>
            <a:r>
              <a:rPr lang="en-US" sz="1800" dirty="0" err="1"/>
              <a:t>cấu</a:t>
            </a:r>
            <a:r>
              <a:rPr lang="en-US" sz="1800" dirty="0"/>
              <a:t> </a:t>
            </a:r>
            <a:r>
              <a:rPr lang="en-US" sz="1800" dirty="0" err="1"/>
              <a:t>trúc</a:t>
            </a:r>
            <a:r>
              <a:rPr lang="en-US" sz="1800" dirty="0"/>
              <a:t> </a:t>
            </a:r>
            <a:r>
              <a:rPr lang="en-US" sz="1800" dirty="0" err="1"/>
              <a:t>dữ</a:t>
            </a:r>
            <a:r>
              <a:rPr lang="en-US" sz="1800" dirty="0"/>
              <a:t> </a:t>
            </a:r>
            <a:r>
              <a:rPr lang="en-US" sz="1800" dirty="0" err="1"/>
              <a:t>liệu</a:t>
            </a:r>
            <a:r>
              <a:rPr lang="en-US" sz="1800" dirty="0"/>
              <a:t>.</a:t>
            </a:r>
          </a:p>
        </p:txBody>
      </p:sp>
      <p:sp>
        <p:nvSpPr>
          <p:cNvPr id="27" name="Rectangle 18">
            <a:extLst>
              <a:ext uri="{FF2B5EF4-FFF2-40B4-BE49-F238E27FC236}">
                <a16:creationId xmlns:a16="http://schemas.microsoft.com/office/drawing/2014/main" id="{CAC6F186-990E-4A9E-9C75-88580953E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FDD7E8A4-41B4-4D65-8B58-2CC951DDCEE3}"/>
              </a:ext>
            </a:extLst>
          </p:cNvPr>
          <p:cNvSpPr>
            <a:spLocks noGrp="1"/>
          </p:cNvSpPr>
          <p:nvPr>
            <p:ph type="sldNum" sz="quarter" idx="12"/>
          </p:nvPr>
        </p:nvSpPr>
        <p:spPr/>
        <p:txBody>
          <a:bodyPr/>
          <a:lstStyle/>
          <a:p>
            <a:fld id="{4FAB73BC-B049-4115-A692-8D63A059BFB8}" type="slidenum">
              <a:rPr lang="en-US" smtClean="0"/>
              <a:t>16</a:t>
            </a:fld>
            <a:endParaRPr lang="en-US" dirty="0"/>
          </a:p>
        </p:txBody>
      </p:sp>
    </p:spTree>
    <p:extLst>
      <p:ext uri="{BB962C8B-B14F-4D97-AF65-F5344CB8AC3E}">
        <p14:creationId xmlns:p14="http://schemas.microsoft.com/office/powerpoint/2010/main" val="34870933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II.2.5 </a:t>
            </a:r>
            <a:r>
              <a:rPr lang="en-US" sz="3200" b="1" dirty="0">
                <a:solidFill>
                  <a:srgbClr val="0070C0"/>
                </a:solidFill>
              </a:rPr>
              <a:t>Section Table</a:t>
            </a:r>
            <a:endParaRPr lang="en-US" sz="3200" dirty="0">
              <a:solidFill>
                <a:srgbClr val="0070C0"/>
              </a:solidFill>
            </a:endParaRPr>
          </a:p>
        </p:txBody>
      </p:sp>
      <p:pic>
        <p:nvPicPr>
          <p:cNvPr id="4" name="Picture 3">
            <a:extLst>
              <a:ext uri="{FF2B5EF4-FFF2-40B4-BE49-F238E27FC236}">
                <a16:creationId xmlns:a16="http://schemas.microsoft.com/office/drawing/2014/main" id="{4B7632B1-909A-4EF7-B3B8-2D0AFE3C3F89}"/>
              </a:ext>
            </a:extLst>
          </p:cNvPr>
          <p:cNvPicPr>
            <a:picLocks noChangeAspect="1"/>
          </p:cNvPicPr>
          <p:nvPr/>
        </p:nvPicPr>
        <p:blipFill>
          <a:blip r:embed="rId4"/>
          <a:stretch>
            <a:fillRect/>
          </a:stretch>
        </p:blipFill>
        <p:spPr>
          <a:xfrm>
            <a:off x="1251902" y="640080"/>
            <a:ext cx="5646462" cy="5588101"/>
          </a:xfrm>
          <a:prstGeom prst="rect">
            <a:avLst/>
          </a:prstGeom>
        </p:spPr>
      </p:pic>
      <p:sp>
        <p:nvSpPr>
          <p:cNvPr id="3" name="Content Placeholder 2">
            <a:extLst>
              <a:ext uri="{FF2B5EF4-FFF2-40B4-BE49-F238E27FC236}">
                <a16:creationId xmlns:a16="http://schemas.microsoft.com/office/drawing/2014/main" id="{2D356FFE-EDE2-495E-82A3-F1065E83E65B}"/>
              </a:ext>
            </a:extLst>
          </p:cNvPr>
          <p:cNvSpPr>
            <a:spLocks noGrp="1"/>
          </p:cNvSpPr>
          <p:nvPr>
            <p:ph idx="1"/>
          </p:nvPr>
        </p:nvSpPr>
        <p:spPr>
          <a:xfrm>
            <a:off x="8156351" y="2121408"/>
            <a:ext cx="3544034" cy="4050792"/>
          </a:xfrm>
        </p:spPr>
        <p:txBody>
          <a:bodyPr>
            <a:normAutofit/>
          </a:bodyPr>
          <a:lstStyle/>
          <a:p>
            <a:r>
              <a:rPr lang="vi-VN" sz="1800" dirty="0"/>
              <a:t>Section Table là thành phần ngày sau PE Header</a:t>
            </a:r>
            <a:r>
              <a:rPr lang="en-US" sz="1800" dirty="0"/>
              <a:t>.</a:t>
            </a:r>
          </a:p>
          <a:p>
            <a:r>
              <a:rPr lang="en-US" sz="1800" dirty="0"/>
              <a:t>G</a:t>
            </a:r>
            <a:r>
              <a:rPr lang="vi-VN" sz="1800" dirty="0"/>
              <a:t>ồm một mảng những cấu trúc IMAGE_SECTION_HEADER</a:t>
            </a:r>
            <a:r>
              <a:rPr lang="en-US" sz="1800" dirty="0"/>
              <a:t>.</a:t>
            </a:r>
          </a:p>
          <a:p>
            <a:r>
              <a:rPr lang="en-US" sz="1800" dirty="0"/>
              <a:t>M</a:t>
            </a:r>
            <a:r>
              <a:rPr lang="vi-VN" sz="1800" dirty="0"/>
              <a:t>ỗi phần tử chứa thông tin về một section trong PE file</a:t>
            </a:r>
            <a:r>
              <a:rPr lang="en-US" sz="1800" dirty="0"/>
              <a:t>.</a:t>
            </a:r>
          </a:p>
          <a:p>
            <a:r>
              <a:rPr lang="vi-VN" sz="1800" dirty="0"/>
              <a:t>Cấu trúc này được định nghĩ</a:t>
            </a:r>
            <a:r>
              <a:rPr lang="en-US" sz="1800" dirty="0"/>
              <a:t>a </a:t>
            </a:r>
            <a:r>
              <a:rPr lang="en-US" sz="1800" dirty="0" err="1"/>
              <a:t>nh</a:t>
            </a:r>
            <a:r>
              <a:rPr lang="vi-VN" sz="1800" dirty="0"/>
              <a:t>ư</a:t>
            </a:r>
            <a:r>
              <a:rPr lang="en-US" sz="1800" dirty="0"/>
              <a:t> </a:t>
            </a:r>
            <a:r>
              <a:rPr lang="en-US" sz="1800" dirty="0" err="1"/>
              <a:t>sau</a:t>
            </a:r>
            <a:r>
              <a:rPr lang="en-US" sz="1800" dirty="0"/>
              <a:t>:</a:t>
            </a:r>
          </a:p>
          <a:p>
            <a:endParaRPr lang="en-US" sz="1600" dirty="0"/>
          </a:p>
        </p:txBody>
      </p:sp>
      <p:grpSp>
        <p:nvGrpSpPr>
          <p:cNvPr id="11" name="Group 10">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D171BA14-4BC9-4774-8ECA-998C6A4EFFB5}"/>
              </a:ext>
            </a:extLst>
          </p:cNvPr>
          <p:cNvSpPr>
            <a:spLocks noGrp="1"/>
          </p:cNvSpPr>
          <p:nvPr>
            <p:ph type="sldNum" sz="quarter" idx="12"/>
          </p:nvPr>
        </p:nvSpPr>
        <p:spPr/>
        <p:txBody>
          <a:bodyPr/>
          <a:lstStyle/>
          <a:p>
            <a:fld id="{4FAB73BC-B049-4115-A692-8D63A059BFB8}" type="slidenum">
              <a:rPr lang="en-US" smtClean="0"/>
              <a:t>17</a:t>
            </a:fld>
            <a:endParaRPr lang="en-US" dirty="0"/>
          </a:p>
        </p:txBody>
      </p:sp>
    </p:spTree>
    <p:extLst>
      <p:ext uri="{BB962C8B-B14F-4D97-AF65-F5344CB8AC3E}">
        <p14:creationId xmlns:p14="http://schemas.microsoft.com/office/powerpoint/2010/main" val="262743242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0" dur="500"/>
                                        <p:tgtEl>
                                          <p:spTgt spid="3">
                                            <p:txEl>
                                              <p:pRg st="2" end="2"/>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heel(1)">
                                      <p:cBhvr>
                                        <p:cTn id="2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1286934" y="1465790"/>
            <a:ext cx="3860798" cy="3941345"/>
          </a:xfrm>
        </p:spPr>
        <p:txBody>
          <a:bodyPr>
            <a:normAutofit/>
          </a:bodyPr>
          <a:lstStyle/>
          <a:p>
            <a:r>
              <a:rPr lang="en-US" sz="6000" dirty="0">
                <a:solidFill>
                  <a:srgbClr val="0070C0"/>
                </a:solidFill>
              </a:rPr>
              <a:t>II.2.5 </a:t>
            </a:r>
            <a:r>
              <a:rPr lang="en-US" sz="6000" b="1" dirty="0">
                <a:solidFill>
                  <a:srgbClr val="0070C0"/>
                </a:solidFill>
              </a:rPr>
              <a:t>Section Table</a:t>
            </a:r>
            <a:endParaRPr lang="en-US" sz="6000" dirty="0">
              <a:solidFill>
                <a:srgbClr val="0070C0"/>
              </a:solidFill>
            </a:endParaRPr>
          </a:p>
        </p:txBody>
      </p:sp>
      <p:sp>
        <p:nvSpPr>
          <p:cNvPr id="3" name="Content Placeholder 2">
            <a:extLst>
              <a:ext uri="{FF2B5EF4-FFF2-40B4-BE49-F238E27FC236}">
                <a16:creationId xmlns:a16="http://schemas.microsoft.com/office/drawing/2014/main" id="{2D356FFE-EDE2-495E-82A3-F1065E83E65B}"/>
              </a:ext>
            </a:extLst>
          </p:cNvPr>
          <p:cNvSpPr>
            <a:spLocks noGrp="1"/>
          </p:cNvSpPr>
          <p:nvPr>
            <p:ph idx="1"/>
          </p:nvPr>
        </p:nvSpPr>
        <p:spPr>
          <a:xfrm>
            <a:off x="6417733" y="1359090"/>
            <a:ext cx="5132665" cy="4048046"/>
          </a:xfrm>
        </p:spPr>
        <p:txBody>
          <a:bodyPr anchor="ctr">
            <a:normAutofit/>
          </a:bodyPr>
          <a:lstStyle/>
          <a:p>
            <a:r>
              <a:rPr lang="vi-VN" sz="1900" dirty="0"/>
              <a:t>Thông tin về một số trường quan trọng:</a:t>
            </a:r>
          </a:p>
          <a:p>
            <a:r>
              <a:rPr lang="vi-VN" sz="1900" b="1" dirty="0"/>
              <a:t>VirtualSize:</a:t>
            </a:r>
            <a:r>
              <a:rPr lang="vi-VN" sz="1900" dirty="0"/>
              <a:t> Kích thước thật sự của dữ liệu trên section tính theo byte, giá trị này có thể nhỏ hơn kích thước trên ổ đĩa (SizeOfRawData)</a:t>
            </a:r>
          </a:p>
          <a:p>
            <a:r>
              <a:rPr lang="vi-VN" sz="1900" b="1" dirty="0"/>
              <a:t>VirtualAddress:</a:t>
            </a:r>
            <a:r>
              <a:rPr lang="vi-VN" sz="1900" dirty="0"/>
              <a:t> RVA của section, là giá trị để ánh xạ khi section được load lên bộ nhớ</a:t>
            </a:r>
          </a:p>
          <a:p>
            <a:r>
              <a:rPr lang="vi-VN" sz="1900" b="1" dirty="0"/>
              <a:t>SizeOfRawData:</a:t>
            </a:r>
            <a:r>
              <a:rPr lang="vi-VN" sz="1900" dirty="0"/>
              <a:t> Kích thước section data trên ổ đĩa</a:t>
            </a:r>
          </a:p>
          <a:p>
            <a:r>
              <a:rPr lang="vi-VN" sz="1900" b="1" dirty="0"/>
              <a:t>PointerToRawData:</a:t>
            </a:r>
            <a:r>
              <a:rPr lang="vi-VN" sz="1900" dirty="0"/>
              <a:t> là offset từ vị trí đầu file tới section data.</a:t>
            </a:r>
          </a:p>
          <a:p>
            <a:r>
              <a:rPr lang="vi-VN" sz="1900" b="1" dirty="0"/>
              <a:t>Characteristics:</a:t>
            </a:r>
            <a:r>
              <a:rPr lang="vi-VN" sz="1900" dirty="0"/>
              <a:t> đặc tính của section: thực thi, dữ liệu khởi tạo …</a:t>
            </a:r>
          </a:p>
          <a:p>
            <a:endParaRPr lang="en-US" sz="1900" dirty="0"/>
          </a:p>
        </p:txBody>
      </p:sp>
      <p:sp>
        <p:nvSpPr>
          <p:cNvPr id="19"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DA88736-A4EB-4EF7-A7A1-48AD9A091148}"/>
              </a:ext>
            </a:extLst>
          </p:cNvPr>
          <p:cNvSpPr>
            <a:spLocks noGrp="1"/>
          </p:cNvSpPr>
          <p:nvPr>
            <p:ph type="sldNum" sz="quarter" idx="12"/>
          </p:nvPr>
        </p:nvSpPr>
        <p:spPr/>
        <p:txBody>
          <a:bodyPr/>
          <a:lstStyle/>
          <a:p>
            <a:fld id="{4FAB73BC-B049-4115-A692-8D63A059BFB8}" type="slidenum">
              <a:rPr lang="en-US" smtClean="0"/>
              <a:t>18</a:t>
            </a:fld>
            <a:endParaRPr lang="en-US" dirty="0"/>
          </a:p>
        </p:txBody>
      </p:sp>
    </p:spTree>
    <p:extLst>
      <p:ext uri="{BB962C8B-B14F-4D97-AF65-F5344CB8AC3E}">
        <p14:creationId xmlns:p14="http://schemas.microsoft.com/office/powerpoint/2010/main" val="34421845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wipe(down)">
                                      <p:cBhvr>
                                        <p:cTn id="13" dur="500"/>
                                        <p:tgtEl>
                                          <p:spTgt spid="3">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down)">
                                      <p:cBhvr>
                                        <p:cTn id="16" dur="500"/>
                                        <p:tgtEl>
                                          <p:spTgt spid="3">
                                            <p:txEl>
                                              <p:pRg st="1" end="1"/>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4" dur="500"/>
                                        <p:tgtEl>
                                          <p:spTgt spid="3">
                                            <p:txEl>
                                              <p:pRg st="3" end="3"/>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500"/>
                                        <p:tgtEl>
                                          <p:spTgt spid="3">
                                            <p:txEl>
                                              <p:pRg st="4" end="4"/>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1069848" y="484632"/>
            <a:ext cx="10058400" cy="1609344"/>
          </a:xfrm>
        </p:spPr>
        <p:txBody>
          <a:bodyPr>
            <a:normAutofit/>
          </a:bodyPr>
          <a:lstStyle/>
          <a:p>
            <a:r>
              <a:rPr lang="en-US" dirty="0">
                <a:solidFill>
                  <a:srgbClr val="0070C0"/>
                </a:solidFill>
              </a:rPr>
              <a:t>II.2.6 </a:t>
            </a:r>
            <a:r>
              <a:rPr lang="en-US" b="1" dirty="0">
                <a:solidFill>
                  <a:srgbClr val="0070C0"/>
                </a:solidFill>
              </a:rPr>
              <a:t>File </a:t>
            </a:r>
            <a:r>
              <a:rPr lang="en-US" b="1" dirty="0" err="1">
                <a:solidFill>
                  <a:srgbClr val="0070C0"/>
                </a:solidFill>
              </a:rPr>
              <a:t>pE</a:t>
            </a:r>
            <a:r>
              <a:rPr lang="en-US" b="1" dirty="0">
                <a:solidFill>
                  <a:srgbClr val="0070C0"/>
                </a:solidFill>
              </a:rPr>
              <a:t> sections</a:t>
            </a:r>
            <a:endParaRPr lang="en-US" dirty="0">
              <a:solidFill>
                <a:srgbClr val="0070C0"/>
              </a:solidFill>
            </a:endParaRPr>
          </a:p>
        </p:txBody>
      </p:sp>
      <p:sp>
        <p:nvSpPr>
          <p:cNvPr id="3" name="Content Placeholder 2">
            <a:extLst>
              <a:ext uri="{FF2B5EF4-FFF2-40B4-BE49-F238E27FC236}">
                <a16:creationId xmlns:a16="http://schemas.microsoft.com/office/drawing/2014/main" id="{2D356FFE-EDE2-495E-82A3-F1065E83E65B}"/>
              </a:ext>
            </a:extLst>
          </p:cNvPr>
          <p:cNvSpPr>
            <a:spLocks noGrp="1"/>
          </p:cNvSpPr>
          <p:nvPr>
            <p:ph idx="1"/>
          </p:nvPr>
        </p:nvSpPr>
        <p:spPr>
          <a:xfrm>
            <a:off x="984504" y="2752212"/>
            <a:ext cx="10058400" cy="2657987"/>
          </a:xfrm>
        </p:spPr>
        <p:txBody>
          <a:bodyPr>
            <a:normAutofit/>
          </a:bodyPr>
          <a:lstStyle/>
          <a:p>
            <a:r>
              <a:rPr lang="en-US" dirty="0"/>
              <a:t>Code section : </a:t>
            </a:r>
            <a:r>
              <a:rPr lang="en-US" b="1" dirty="0"/>
              <a:t>.text </a:t>
            </a:r>
            <a:r>
              <a:rPr lang="en-US" dirty="0" err="1"/>
              <a:t>chứa</a:t>
            </a:r>
            <a:r>
              <a:rPr lang="en-US" dirty="0"/>
              <a:t> code của </a:t>
            </a:r>
            <a:r>
              <a:rPr lang="en-US" dirty="0" err="1"/>
              <a:t>ch</a:t>
            </a:r>
            <a:r>
              <a:rPr lang="vi-VN" dirty="0"/>
              <a:t>ư</a:t>
            </a:r>
            <a:r>
              <a:rPr lang="en-US" dirty="0" err="1"/>
              <a:t>ơng</a:t>
            </a:r>
            <a:r>
              <a:rPr lang="en-US" dirty="0"/>
              <a:t> </a:t>
            </a:r>
            <a:r>
              <a:rPr lang="en-US" dirty="0" err="1"/>
              <a:t>trình</a:t>
            </a:r>
            <a:r>
              <a:rPr lang="en-US" dirty="0"/>
              <a:t>.</a:t>
            </a:r>
          </a:p>
          <a:p>
            <a:r>
              <a:rPr lang="en-US" dirty="0"/>
              <a:t>Data sections: </a:t>
            </a:r>
          </a:p>
          <a:p>
            <a:pPr lvl="1"/>
            <a:r>
              <a:rPr lang="en-US" dirty="0"/>
              <a:t>Section .</a:t>
            </a:r>
            <a:r>
              <a:rPr lang="en-US" dirty="0" err="1"/>
              <a:t>bss</a:t>
            </a:r>
            <a:r>
              <a:rPr lang="en-US" dirty="0"/>
              <a:t>: </a:t>
            </a:r>
            <a:r>
              <a:rPr lang="vi-VN" dirty="0"/>
              <a:t>biểu thị dữ liệu </a:t>
            </a:r>
            <a:r>
              <a:rPr lang="en-US" dirty="0"/>
              <a:t>không</a:t>
            </a:r>
            <a:r>
              <a:rPr lang="vi-VN" dirty="0"/>
              <a:t> được khởi tạo cho ứng dụng, bao gồm tất cả các biến được khai báo là tĩnh trong một </a:t>
            </a:r>
            <a:r>
              <a:rPr lang="en-US" dirty="0"/>
              <a:t>function </a:t>
            </a:r>
            <a:r>
              <a:rPr lang="en-US" dirty="0" err="1"/>
              <a:t>hoặc</a:t>
            </a:r>
            <a:r>
              <a:rPr lang="en-US" dirty="0"/>
              <a:t>  source module</a:t>
            </a:r>
            <a:r>
              <a:rPr lang="vi-VN" dirty="0"/>
              <a:t>.</a:t>
            </a:r>
            <a:endParaRPr lang="en-US" dirty="0"/>
          </a:p>
          <a:p>
            <a:pPr lvl="1"/>
            <a:r>
              <a:rPr lang="vi-VN" dirty="0"/>
              <a:t> </a:t>
            </a:r>
            <a:r>
              <a:rPr lang="en-US" dirty="0"/>
              <a:t> section </a:t>
            </a:r>
            <a:r>
              <a:rPr lang="vi-VN" dirty="0"/>
              <a:t>.rdata biểu thị dữ liệu chỉ đọc, chẳng hạn như chuỗi ký tự, hằng </a:t>
            </a:r>
            <a:r>
              <a:rPr lang="en-US" dirty="0"/>
              <a:t>..</a:t>
            </a:r>
            <a:r>
              <a:rPr lang="vi-VN" dirty="0"/>
              <a:t>.</a:t>
            </a:r>
            <a:endParaRPr lang="en-US" dirty="0"/>
          </a:p>
          <a:p>
            <a:pPr lvl="1"/>
            <a:endParaRPr lang="en-US" dirty="0"/>
          </a:p>
          <a:p>
            <a:pPr marL="274320" lvl="1" indent="0">
              <a:buNone/>
            </a:pPr>
            <a:r>
              <a:rPr lang="en-US" dirty="0">
                <a:sym typeface="Wingdings" panose="05000000000000000000" pitchFamily="2" charset="2"/>
              </a:rPr>
              <a:t> </a:t>
            </a:r>
            <a:r>
              <a:rPr lang="vi-VN" dirty="0"/>
              <a:t>Tất cả các biến khác (ngoại trừ biến tự động, xuất hiện trên ngăn xếp) được lưu trữ trong phần .data. Về cơ bản, đây là các biến toàn cầu.</a:t>
            </a:r>
            <a:endParaRPr lang="en-US" dirty="0"/>
          </a:p>
          <a:p>
            <a:pPr marL="274320" lvl="1" indent="0">
              <a:buNone/>
            </a:pPr>
            <a:endParaRPr lang="en-US" dirty="0"/>
          </a:p>
        </p:txBody>
      </p:sp>
      <p:sp>
        <p:nvSpPr>
          <p:cNvPr id="4" name="Slide Number Placeholder 3">
            <a:extLst>
              <a:ext uri="{FF2B5EF4-FFF2-40B4-BE49-F238E27FC236}">
                <a16:creationId xmlns:a16="http://schemas.microsoft.com/office/drawing/2014/main" id="{DA006A13-11A3-4FE9-B02C-9BC13033BDFE}"/>
              </a:ext>
            </a:extLst>
          </p:cNvPr>
          <p:cNvSpPr>
            <a:spLocks noGrp="1"/>
          </p:cNvSpPr>
          <p:nvPr>
            <p:ph type="sldNum" sz="quarter" idx="12"/>
          </p:nvPr>
        </p:nvSpPr>
        <p:spPr/>
        <p:txBody>
          <a:bodyPr/>
          <a:lstStyle/>
          <a:p>
            <a:fld id="{4FAB73BC-B049-4115-A692-8D63A059BFB8}" type="slidenum">
              <a:rPr lang="en-US" smtClean="0"/>
              <a:t>19</a:t>
            </a:fld>
            <a:endParaRPr lang="en-US" dirty="0"/>
          </a:p>
        </p:txBody>
      </p:sp>
    </p:spTree>
    <p:extLst>
      <p:ext uri="{BB962C8B-B14F-4D97-AF65-F5344CB8AC3E}">
        <p14:creationId xmlns:p14="http://schemas.microsoft.com/office/powerpoint/2010/main" val="386814812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barn(inVertical)">
                                      <p:cBhvr>
                                        <p:cTn id="23" dur="500"/>
                                        <p:tgtEl>
                                          <p:spTgt spid="3">
                                            <p:txEl>
                                              <p:pRg st="3" end="3"/>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arn(inVertical)">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7D0A2-ED3C-4391-B3E1-87AA70C79A57}"/>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II.2.6 </a:t>
            </a:r>
            <a:r>
              <a:rPr lang="en-US" sz="3200" b="1" dirty="0">
                <a:solidFill>
                  <a:srgbClr val="0070C0"/>
                </a:solidFill>
              </a:rPr>
              <a:t>File </a:t>
            </a:r>
            <a:r>
              <a:rPr lang="en-US" sz="3200" b="1" dirty="0" err="1">
                <a:solidFill>
                  <a:srgbClr val="0070C0"/>
                </a:solidFill>
              </a:rPr>
              <a:t>pE</a:t>
            </a:r>
            <a:r>
              <a:rPr lang="en-US" sz="3200" b="1" dirty="0">
                <a:solidFill>
                  <a:srgbClr val="0070C0"/>
                </a:solidFill>
              </a:rPr>
              <a:t> sections</a:t>
            </a:r>
            <a:endParaRPr lang="en-US" sz="3200" dirty="0">
              <a:solidFill>
                <a:srgbClr val="0070C0"/>
              </a:solidFill>
            </a:endParaRPr>
          </a:p>
        </p:txBody>
      </p:sp>
      <p:pic>
        <p:nvPicPr>
          <p:cNvPr id="4" name="Picture 3">
            <a:extLst>
              <a:ext uri="{FF2B5EF4-FFF2-40B4-BE49-F238E27FC236}">
                <a16:creationId xmlns:a16="http://schemas.microsoft.com/office/drawing/2014/main" id="{8F9E6330-87CB-4F5F-83F5-16B26ACA70BC}"/>
              </a:ext>
            </a:extLst>
          </p:cNvPr>
          <p:cNvPicPr>
            <a:picLocks noChangeAspect="1"/>
          </p:cNvPicPr>
          <p:nvPr/>
        </p:nvPicPr>
        <p:blipFill>
          <a:blip r:embed="rId4"/>
          <a:stretch>
            <a:fillRect/>
          </a:stretch>
        </p:blipFill>
        <p:spPr>
          <a:xfrm>
            <a:off x="633999" y="1806567"/>
            <a:ext cx="6882269" cy="3255127"/>
          </a:xfrm>
          <a:prstGeom prst="rect">
            <a:avLst/>
          </a:prstGeom>
        </p:spPr>
      </p:pic>
      <p:sp>
        <p:nvSpPr>
          <p:cNvPr id="3" name="Content Placeholder 2">
            <a:extLst>
              <a:ext uri="{FF2B5EF4-FFF2-40B4-BE49-F238E27FC236}">
                <a16:creationId xmlns:a16="http://schemas.microsoft.com/office/drawing/2014/main" id="{2D356FFE-EDE2-495E-82A3-F1065E83E65B}"/>
              </a:ext>
            </a:extLst>
          </p:cNvPr>
          <p:cNvSpPr>
            <a:spLocks noGrp="1"/>
          </p:cNvSpPr>
          <p:nvPr>
            <p:ph idx="1"/>
          </p:nvPr>
        </p:nvSpPr>
        <p:spPr>
          <a:xfrm>
            <a:off x="8156351" y="2121408"/>
            <a:ext cx="3544034" cy="4050792"/>
          </a:xfrm>
        </p:spPr>
        <p:txBody>
          <a:bodyPr>
            <a:normAutofit/>
          </a:bodyPr>
          <a:lstStyle/>
          <a:p>
            <a:r>
              <a:rPr lang="en-US" sz="1600" b="1" dirty="0"/>
              <a:t>Resources section: .</a:t>
            </a:r>
            <a:r>
              <a:rPr lang="en-US" sz="1600" b="1" dirty="0" err="1"/>
              <a:t>rsrc</a:t>
            </a:r>
            <a:r>
              <a:rPr lang="en-US" sz="1600" b="1" dirty="0"/>
              <a:t> </a:t>
            </a:r>
            <a:r>
              <a:rPr lang="vi-VN" sz="1600" dirty="0"/>
              <a:t>chứa thông tin </a:t>
            </a:r>
            <a:r>
              <a:rPr lang="en-US" sz="1600" dirty="0"/>
              <a:t>resources</a:t>
            </a:r>
            <a:r>
              <a:rPr lang="en-US" sz="1600" b="1" dirty="0"/>
              <a:t>  </a:t>
            </a:r>
            <a:r>
              <a:rPr lang="vi-VN" sz="1600" dirty="0"/>
              <a:t>cho một mô-đun. </a:t>
            </a:r>
            <a:endParaRPr lang="en-US" sz="1600" dirty="0"/>
          </a:p>
          <a:p>
            <a:r>
              <a:rPr lang="en-US" sz="1600" dirty="0"/>
              <a:t>B</a:t>
            </a:r>
            <a:r>
              <a:rPr lang="vi-VN" sz="1600" dirty="0"/>
              <a:t>ắt đầu với một cấu trúc thư mục </a:t>
            </a:r>
            <a:r>
              <a:rPr lang="en-US" sz="1600" dirty="0"/>
              <a:t>resource</a:t>
            </a:r>
            <a:r>
              <a:rPr lang="vi-VN" sz="1600" dirty="0"/>
              <a:t> như hầu hết các </a:t>
            </a:r>
            <a:r>
              <a:rPr lang="en-US" sz="1600" dirty="0" err="1"/>
              <a:t>secsion</a:t>
            </a:r>
            <a:r>
              <a:rPr lang="vi-VN" sz="1600" dirty="0"/>
              <a:t> khác, nhưng dữ liệu của </a:t>
            </a:r>
            <a:r>
              <a:rPr lang="en-US" sz="1600" dirty="0"/>
              <a:t>section</a:t>
            </a:r>
            <a:r>
              <a:rPr lang="vi-VN" sz="1600" dirty="0"/>
              <a:t> này được cấu trúc thêm vào một cây tài nguyên.</a:t>
            </a:r>
            <a:endParaRPr lang="en-US" sz="1600" dirty="0"/>
          </a:p>
          <a:p>
            <a:r>
              <a:rPr lang="vi-VN" sz="1600" dirty="0"/>
              <a:t>IMAGE_RESOURCE_DIRECTORY, được hiển thị bên dưới, tạo thành gốc và các nút của cây.</a:t>
            </a:r>
            <a:endParaRPr lang="en-US" sz="1600" dirty="0"/>
          </a:p>
          <a:p>
            <a:pPr marL="0" indent="0">
              <a:buNone/>
            </a:pPr>
            <a:endParaRPr lang="en-US" sz="1600" b="1" dirty="0"/>
          </a:p>
          <a:p>
            <a:endParaRPr lang="en-US" sz="1600" dirty="0"/>
          </a:p>
        </p:txBody>
      </p:sp>
      <p:grpSp>
        <p:nvGrpSpPr>
          <p:cNvPr id="20" name="Group 19">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EC7343FA-8A4F-4884-ABC5-16B20D70C587}"/>
              </a:ext>
            </a:extLst>
          </p:cNvPr>
          <p:cNvSpPr>
            <a:spLocks noGrp="1"/>
          </p:cNvSpPr>
          <p:nvPr>
            <p:ph type="sldNum" sz="quarter" idx="12"/>
          </p:nvPr>
        </p:nvSpPr>
        <p:spPr/>
        <p:txBody>
          <a:bodyPr/>
          <a:lstStyle/>
          <a:p>
            <a:fld id="{4FAB73BC-B049-4115-A692-8D63A059BFB8}" type="slidenum">
              <a:rPr lang="en-US" smtClean="0"/>
              <a:t>20</a:t>
            </a:fld>
            <a:endParaRPr lang="en-US" dirty="0"/>
          </a:p>
        </p:txBody>
      </p:sp>
    </p:spTree>
    <p:extLst>
      <p:ext uri="{BB962C8B-B14F-4D97-AF65-F5344CB8AC3E}">
        <p14:creationId xmlns:p14="http://schemas.microsoft.com/office/powerpoint/2010/main" val="126863650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arn(inVertical)">
                                      <p:cBhvr>
                                        <p:cTn id="15" dur="500"/>
                                        <p:tgtEl>
                                          <p:spTgt spid="3">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arn(inVertic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80">
                                          <p:stCondLst>
                                            <p:cond delay="0"/>
                                          </p:stCondLst>
                                        </p:cTn>
                                        <p:tgtEl>
                                          <p:spTgt spid="4"/>
                                        </p:tgtEl>
                                      </p:cBhvr>
                                    </p:animEffect>
                                    <p:anim calcmode="lin" valueType="num">
                                      <p:cBhvr>
                                        <p:cTn id="2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9" dur="26">
                                          <p:stCondLst>
                                            <p:cond delay="650"/>
                                          </p:stCondLst>
                                        </p:cTn>
                                        <p:tgtEl>
                                          <p:spTgt spid="4"/>
                                        </p:tgtEl>
                                      </p:cBhvr>
                                      <p:to x="100000" y="60000"/>
                                    </p:animScale>
                                    <p:animScale>
                                      <p:cBhvr>
                                        <p:cTn id="30" dur="166" decel="50000">
                                          <p:stCondLst>
                                            <p:cond delay="676"/>
                                          </p:stCondLst>
                                        </p:cTn>
                                        <p:tgtEl>
                                          <p:spTgt spid="4"/>
                                        </p:tgtEl>
                                      </p:cBhvr>
                                      <p:to x="100000" y="100000"/>
                                    </p:animScale>
                                    <p:animScale>
                                      <p:cBhvr>
                                        <p:cTn id="31" dur="26">
                                          <p:stCondLst>
                                            <p:cond delay="1312"/>
                                          </p:stCondLst>
                                        </p:cTn>
                                        <p:tgtEl>
                                          <p:spTgt spid="4"/>
                                        </p:tgtEl>
                                      </p:cBhvr>
                                      <p:to x="100000" y="80000"/>
                                    </p:animScale>
                                    <p:animScale>
                                      <p:cBhvr>
                                        <p:cTn id="32" dur="166" decel="50000">
                                          <p:stCondLst>
                                            <p:cond delay="1338"/>
                                          </p:stCondLst>
                                        </p:cTn>
                                        <p:tgtEl>
                                          <p:spTgt spid="4"/>
                                        </p:tgtEl>
                                      </p:cBhvr>
                                      <p:to x="100000" y="100000"/>
                                    </p:animScale>
                                    <p:animScale>
                                      <p:cBhvr>
                                        <p:cTn id="33" dur="26">
                                          <p:stCondLst>
                                            <p:cond delay="1642"/>
                                          </p:stCondLst>
                                        </p:cTn>
                                        <p:tgtEl>
                                          <p:spTgt spid="4"/>
                                        </p:tgtEl>
                                      </p:cBhvr>
                                      <p:to x="100000" y="90000"/>
                                    </p:animScale>
                                    <p:animScale>
                                      <p:cBhvr>
                                        <p:cTn id="34" dur="166" decel="50000">
                                          <p:stCondLst>
                                            <p:cond delay="1668"/>
                                          </p:stCondLst>
                                        </p:cTn>
                                        <p:tgtEl>
                                          <p:spTgt spid="4"/>
                                        </p:tgtEl>
                                      </p:cBhvr>
                                      <p:to x="100000" y="100000"/>
                                    </p:animScale>
                                    <p:animScale>
                                      <p:cBhvr>
                                        <p:cTn id="35" dur="26">
                                          <p:stCondLst>
                                            <p:cond delay="1808"/>
                                          </p:stCondLst>
                                        </p:cTn>
                                        <p:tgtEl>
                                          <p:spTgt spid="4"/>
                                        </p:tgtEl>
                                      </p:cBhvr>
                                      <p:to x="100000" y="95000"/>
                                    </p:animScale>
                                    <p:animScale>
                                      <p:cBhvr>
                                        <p:cTn id="36"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1066800" y="4511898"/>
            <a:ext cx="10058400" cy="1609344"/>
          </a:xfrm>
        </p:spPr>
        <p:txBody>
          <a:bodyPr>
            <a:normAutofit/>
          </a:bodyPr>
          <a:lstStyle/>
          <a:p>
            <a:r>
              <a:rPr lang="en-US" dirty="0">
                <a:solidFill>
                  <a:srgbClr val="0070C0"/>
                </a:solidFill>
              </a:rPr>
              <a:t>II.2.6 </a:t>
            </a:r>
            <a:r>
              <a:rPr lang="en-US" b="1" dirty="0">
                <a:solidFill>
                  <a:srgbClr val="0070C0"/>
                </a:solidFill>
              </a:rPr>
              <a:t>File </a:t>
            </a:r>
            <a:r>
              <a:rPr lang="en-US" b="1" dirty="0" err="1">
                <a:solidFill>
                  <a:srgbClr val="0070C0"/>
                </a:solidFill>
              </a:rPr>
              <a:t>pE</a:t>
            </a:r>
            <a:r>
              <a:rPr lang="en-US" b="1" dirty="0">
                <a:solidFill>
                  <a:srgbClr val="0070C0"/>
                </a:solidFill>
              </a:rPr>
              <a:t> sections</a:t>
            </a:r>
            <a:endParaRPr lang="en-US" dirty="0">
              <a:solidFill>
                <a:srgbClr val="0070C0"/>
              </a:solidFill>
            </a:endParaRPr>
          </a:p>
        </p:txBody>
      </p:sp>
      <p:pic>
        <p:nvPicPr>
          <p:cNvPr id="11" name="Content Placeholder 3">
            <a:extLst>
              <a:ext uri="{FF2B5EF4-FFF2-40B4-BE49-F238E27FC236}">
                <a16:creationId xmlns:a16="http://schemas.microsoft.com/office/drawing/2014/main" id="{1EB8F27E-31FE-4F8A-9C85-EA37E8348F11}"/>
              </a:ext>
            </a:extLst>
          </p:cNvPr>
          <p:cNvPicPr>
            <a:picLocks noChangeAspect="1"/>
          </p:cNvPicPr>
          <p:nvPr/>
        </p:nvPicPr>
        <p:blipFill>
          <a:blip r:embed="rId2"/>
          <a:stretch>
            <a:fillRect/>
          </a:stretch>
        </p:blipFill>
        <p:spPr>
          <a:xfrm>
            <a:off x="1088136" y="1583709"/>
            <a:ext cx="6135454" cy="1576708"/>
          </a:xfrm>
          <a:prstGeom prst="rect">
            <a:avLst/>
          </a:prstGeom>
        </p:spPr>
      </p:pic>
      <p:sp>
        <p:nvSpPr>
          <p:cNvPr id="13" name="Content Placeholder 8">
            <a:extLst>
              <a:ext uri="{FF2B5EF4-FFF2-40B4-BE49-F238E27FC236}">
                <a16:creationId xmlns:a16="http://schemas.microsoft.com/office/drawing/2014/main" id="{04439272-40F2-4848-BA15-B964E148FE6B}"/>
              </a:ext>
            </a:extLst>
          </p:cNvPr>
          <p:cNvSpPr>
            <a:spLocks noGrp="1"/>
          </p:cNvSpPr>
          <p:nvPr>
            <p:ph idx="1"/>
          </p:nvPr>
        </p:nvSpPr>
        <p:spPr>
          <a:xfrm>
            <a:off x="7102929" y="1602010"/>
            <a:ext cx="4784271" cy="3385638"/>
          </a:xfrm>
        </p:spPr>
        <p:txBody>
          <a:bodyPr>
            <a:normAutofit/>
          </a:bodyPr>
          <a:lstStyle/>
          <a:p>
            <a:r>
              <a:rPr lang="vi-VN" sz="1800" dirty="0"/>
              <a:t>Một </a:t>
            </a:r>
            <a:r>
              <a:rPr lang="en-US" sz="1800" dirty="0"/>
              <a:t>entry directory </a:t>
            </a:r>
            <a:r>
              <a:rPr lang="vi-VN" sz="1800" dirty="0"/>
              <a:t>bao gồm hai trường, như được mô tả trong cấu trúc IMAGE_RESOURCE_DIRECTORY_ENTRY</a:t>
            </a:r>
            <a:r>
              <a:rPr lang="en-US" sz="1800" dirty="0"/>
              <a:t>:</a:t>
            </a:r>
          </a:p>
          <a:p>
            <a:r>
              <a:rPr lang="vi-VN" sz="1800" dirty="0"/>
              <a:t>Trường Tên được sử dụng để xác định một loại </a:t>
            </a:r>
            <a:r>
              <a:rPr lang="en-US" sz="1800" dirty="0"/>
              <a:t>resource</a:t>
            </a:r>
            <a:r>
              <a:rPr lang="vi-VN" sz="1800" dirty="0"/>
              <a:t>, tên </a:t>
            </a:r>
            <a:r>
              <a:rPr lang="en-US" sz="1800" dirty="0"/>
              <a:t>resource.</a:t>
            </a:r>
          </a:p>
          <a:p>
            <a:r>
              <a:rPr lang="vi-VN" sz="1800" dirty="0"/>
              <a:t>Trường OffersetToData luôn được sử dụng để trỏ đến anh chị em trong cây, </a:t>
            </a:r>
            <a:r>
              <a:rPr lang="en-US" sz="1800" dirty="0"/>
              <a:t>directory node </a:t>
            </a:r>
            <a:r>
              <a:rPr lang="en-US" sz="1800" dirty="0" err="1"/>
              <a:t>hoặc</a:t>
            </a:r>
            <a:r>
              <a:rPr lang="en-US" sz="1800" dirty="0"/>
              <a:t> a leaf node.</a:t>
            </a:r>
          </a:p>
        </p:txBody>
      </p:sp>
      <p:sp>
        <p:nvSpPr>
          <p:cNvPr id="18" name="Rectangle 17">
            <a:extLst>
              <a:ext uri="{FF2B5EF4-FFF2-40B4-BE49-F238E27FC236}">
                <a16:creationId xmlns:a16="http://schemas.microsoft.com/office/drawing/2014/main" id="{CAC6F186-990E-4A9E-9C75-88580953E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4431215"/>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141747DD-13AD-4EF3-96BE-B58549CFE853}"/>
              </a:ext>
            </a:extLst>
          </p:cNvPr>
          <p:cNvSpPr>
            <a:spLocks noGrp="1"/>
          </p:cNvSpPr>
          <p:nvPr>
            <p:ph type="sldNum" sz="quarter" idx="12"/>
          </p:nvPr>
        </p:nvSpPr>
        <p:spPr/>
        <p:txBody>
          <a:bodyPr/>
          <a:lstStyle/>
          <a:p>
            <a:fld id="{4FAB73BC-B049-4115-A692-8D63A059BFB8}" type="slidenum">
              <a:rPr lang="en-US" smtClean="0"/>
              <a:t>21</a:t>
            </a:fld>
            <a:endParaRPr lang="en-US" dirty="0"/>
          </a:p>
        </p:txBody>
      </p:sp>
    </p:spTree>
    <p:extLst>
      <p:ext uri="{BB962C8B-B14F-4D97-AF65-F5344CB8AC3E}">
        <p14:creationId xmlns:p14="http://schemas.microsoft.com/office/powerpoint/2010/main" val="35049751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fade">
                                      <p:cBhvr>
                                        <p:cTn id="15" dur="500"/>
                                        <p:tgtEl>
                                          <p:spTgt spid="1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fade">
                                      <p:cBhvr>
                                        <p:cTn id="20" dur="500"/>
                                        <p:tgtEl>
                                          <p:spTgt spid="1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Effect transition="in" filter="fade">
                                      <p:cBhvr>
                                        <p:cTn id="25" dur="500"/>
                                        <p:tgtEl>
                                          <p:spTgt spid="1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randombar(horizontal)">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548D01-86BC-4A04-9A19-23363A0A5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53C06F-02C4-42B7-AAB4-056E8ECC6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9583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1069848" y="4846002"/>
            <a:ext cx="10058400" cy="1522993"/>
          </a:xfrm>
        </p:spPr>
        <p:txBody>
          <a:bodyPr>
            <a:normAutofit/>
          </a:bodyPr>
          <a:lstStyle/>
          <a:p>
            <a:r>
              <a:rPr lang="en-US" sz="6000" dirty="0">
                <a:solidFill>
                  <a:srgbClr val="0070C0"/>
                </a:solidFill>
              </a:rPr>
              <a:t>II.2.6 </a:t>
            </a:r>
            <a:r>
              <a:rPr lang="en-US" sz="6000" b="1" dirty="0">
                <a:solidFill>
                  <a:srgbClr val="0070C0"/>
                </a:solidFill>
              </a:rPr>
              <a:t>File </a:t>
            </a:r>
            <a:r>
              <a:rPr lang="en-US" sz="6000" b="1" dirty="0" err="1">
                <a:solidFill>
                  <a:srgbClr val="0070C0"/>
                </a:solidFill>
              </a:rPr>
              <a:t>pE</a:t>
            </a:r>
            <a:r>
              <a:rPr lang="en-US" sz="6000" b="1" dirty="0">
                <a:solidFill>
                  <a:srgbClr val="0070C0"/>
                </a:solidFill>
              </a:rPr>
              <a:t> sections</a:t>
            </a:r>
            <a:endParaRPr lang="en-US" sz="6000" dirty="0">
              <a:solidFill>
                <a:srgbClr val="0070C0"/>
              </a:solidFill>
            </a:endParaRPr>
          </a:p>
        </p:txBody>
      </p:sp>
      <p:sp>
        <p:nvSpPr>
          <p:cNvPr id="3" name="Content Placeholder 2">
            <a:extLst>
              <a:ext uri="{FF2B5EF4-FFF2-40B4-BE49-F238E27FC236}">
                <a16:creationId xmlns:a16="http://schemas.microsoft.com/office/drawing/2014/main" id="{F08AC3DB-3E56-4058-B3E0-02271B20EDC8}"/>
              </a:ext>
            </a:extLst>
          </p:cNvPr>
          <p:cNvSpPr>
            <a:spLocks noGrp="1"/>
          </p:cNvSpPr>
          <p:nvPr>
            <p:ph idx="1"/>
          </p:nvPr>
        </p:nvSpPr>
        <p:spPr>
          <a:xfrm>
            <a:off x="1069848" y="965199"/>
            <a:ext cx="4704419" cy="3488445"/>
          </a:xfrm>
        </p:spPr>
        <p:txBody>
          <a:bodyPr>
            <a:normAutofit/>
          </a:bodyPr>
          <a:lstStyle/>
          <a:p>
            <a:endParaRPr lang="en-US" sz="1800" dirty="0"/>
          </a:p>
          <a:p>
            <a:endParaRPr lang="en-US" sz="1800" dirty="0"/>
          </a:p>
          <a:p>
            <a:endParaRPr lang="en-US" sz="1800" dirty="0"/>
          </a:p>
          <a:p>
            <a:r>
              <a:rPr lang="vi-VN" sz="1800" dirty="0"/>
              <a:t>Các </a:t>
            </a:r>
            <a:r>
              <a:rPr lang="en-US" sz="1800" dirty="0"/>
              <a:t>Leaf nodes</a:t>
            </a:r>
            <a:r>
              <a:rPr lang="vi-VN" sz="1800" dirty="0"/>
              <a:t> là nút thấp nhất trong cây tài nguyên. Họ xác định kích thước và vị trí của dữ liệu tài nguyên thực tế. Mỗi nút lá được biểu diễn bằng cấu trúc sau</a:t>
            </a:r>
            <a:r>
              <a:rPr lang="en-US" sz="1800" dirty="0"/>
              <a:t> </a:t>
            </a:r>
            <a:r>
              <a:rPr lang="vi-VN" sz="1800" dirty="0"/>
              <a:t>IMAGE_RESOURCE_DATA_ENTRY:</a:t>
            </a:r>
            <a:endParaRPr lang="en-US" sz="1800" dirty="0"/>
          </a:p>
          <a:p>
            <a:endParaRPr lang="en-US" sz="1800" dirty="0"/>
          </a:p>
        </p:txBody>
      </p:sp>
      <p:pic>
        <p:nvPicPr>
          <p:cNvPr id="4" name="Picture 3">
            <a:extLst>
              <a:ext uri="{FF2B5EF4-FFF2-40B4-BE49-F238E27FC236}">
                <a16:creationId xmlns:a16="http://schemas.microsoft.com/office/drawing/2014/main" id="{2AD90C81-9D01-41EE-9F61-649FDBFEE51E}"/>
              </a:ext>
            </a:extLst>
          </p:cNvPr>
          <p:cNvPicPr>
            <a:picLocks noChangeAspect="1"/>
          </p:cNvPicPr>
          <p:nvPr/>
        </p:nvPicPr>
        <p:blipFill>
          <a:blip r:embed="rId4"/>
          <a:stretch>
            <a:fillRect/>
          </a:stretch>
        </p:blipFill>
        <p:spPr>
          <a:xfrm>
            <a:off x="6417732" y="1667537"/>
            <a:ext cx="4761324" cy="1853966"/>
          </a:xfrm>
          <a:prstGeom prst="rect">
            <a:avLst/>
          </a:prstGeom>
        </p:spPr>
      </p:pic>
      <p:grpSp>
        <p:nvGrpSpPr>
          <p:cNvPr id="13" name="Group 12">
            <a:extLst>
              <a:ext uri="{FF2B5EF4-FFF2-40B4-BE49-F238E27FC236}">
                <a16:creationId xmlns:a16="http://schemas.microsoft.com/office/drawing/2014/main" id="{F0B2D325-F52B-42D3-B95B-0B567E1B21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4" name="Oval 13">
              <a:extLst>
                <a:ext uri="{FF2B5EF4-FFF2-40B4-BE49-F238E27FC236}">
                  <a16:creationId xmlns:a16="http://schemas.microsoft.com/office/drawing/2014/main" id="{564412BC-E554-4709-B783-CCD157054F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5" name="Oval 14">
              <a:extLst>
                <a:ext uri="{FF2B5EF4-FFF2-40B4-BE49-F238E27FC236}">
                  <a16:creationId xmlns:a16="http://schemas.microsoft.com/office/drawing/2014/main" id="{4111AF4E-4C22-4675-8450-1A2447ECB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sp>
      </p:grpSp>
      <p:sp>
        <p:nvSpPr>
          <p:cNvPr id="5" name="Slide Number Placeholder 4">
            <a:extLst>
              <a:ext uri="{FF2B5EF4-FFF2-40B4-BE49-F238E27FC236}">
                <a16:creationId xmlns:a16="http://schemas.microsoft.com/office/drawing/2014/main" id="{371AC37E-7374-4C40-8F0F-C00CE243771A}"/>
              </a:ext>
            </a:extLst>
          </p:cNvPr>
          <p:cNvSpPr>
            <a:spLocks noGrp="1"/>
          </p:cNvSpPr>
          <p:nvPr>
            <p:ph type="sldNum" sz="quarter" idx="12"/>
          </p:nvPr>
        </p:nvSpPr>
        <p:spPr/>
        <p:txBody>
          <a:bodyPr/>
          <a:lstStyle/>
          <a:p>
            <a:fld id="{4FAB73BC-B049-4115-A692-8D63A059BFB8}" type="slidenum">
              <a:rPr lang="en-US" smtClean="0"/>
              <a:t>22</a:t>
            </a:fld>
            <a:endParaRPr lang="en-US" dirty="0"/>
          </a:p>
        </p:txBody>
      </p:sp>
    </p:spTree>
    <p:extLst>
      <p:ext uri="{BB962C8B-B14F-4D97-AF65-F5344CB8AC3E}">
        <p14:creationId xmlns:p14="http://schemas.microsoft.com/office/powerpoint/2010/main" val="19191273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randombar(horizont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7865806" y="484632"/>
            <a:ext cx="3677264" cy="1609344"/>
          </a:xfrm>
        </p:spPr>
        <p:txBody>
          <a:bodyPr>
            <a:normAutofit/>
          </a:bodyPr>
          <a:lstStyle/>
          <a:p>
            <a:r>
              <a:rPr lang="en-US" sz="3600" dirty="0">
                <a:solidFill>
                  <a:srgbClr val="0070C0"/>
                </a:solidFill>
              </a:rPr>
              <a:t>II.2.6 </a:t>
            </a:r>
            <a:r>
              <a:rPr lang="en-US" sz="3600" b="1" dirty="0">
                <a:solidFill>
                  <a:srgbClr val="0070C0"/>
                </a:solidFill>
              </a:rPr>
              <a:t>File </a:t>
            </a:r>
            <a:r>
              <a:rPr lang="en-US" sz="3600" b="1" dirty="0" err="1">
                <a:solidFill>
                  <a:srgbClr val="0070C0"/>
                </a:solidFill>
              </a:rPr>
              <a:t>pE</a:t>
            </a:r>
            <a:r>
              <a:rPr lang="en-US" sz="3600" b="1" dirty="0">
                <a:solidFill>
                  <a:srgbClr val="0070C0"/>
                </a:solidFill>
              </a:rPr>
              <a:t> sections</a:t>
            </a:r>
            <a:endParaRPr lang="en-US" sz="3600" dirty="0">
              <a:solidFill>
                <a:srgbClr val="0070C0"/>
              </a:solidFill>
            </a:endParaRPr>
          </a:p>
        </p:txBody>
      </p:sp>
      <p:pic>
        <p:nvPicPr>
          <p:cNvPr id="14" name="Content Placeholder 3">
            <a:extLst>
              <a:ext uri="{FF2B5EF4-FFF2-40B4-BE49-F238E27FC236}">
                <a16:creationId xmlns:a16="http://schemas.microsoft.com/office/drawing/2014/main" id="{360C723A-EBB3-4988-8D3D-04EA0D632854}"/>
              </a:ext>
            </a:extLst>
          </p:cNvPr>
          <p:cNvPicPr>
            <a:picLocks noChangeAspect="1"/>
          </p:cNvPicPr>
          <p:nvPr/>
        </p:nvPicPr>
        <p:blipFill>
          <a:blip r:embed="rId2"/>
          <a:stretch>
            <a:fillRect/>
          </a:stretch>
        </p:blipFill>
        <p:spPr>
          <a:xfrm>
            <a:off x="633999" y="1092617"/>
            <a:ext cx="6912217" cy="4683026"/>
          </a:xfrm>
          <a:prstGeom prst="rect">
            <a:avLst/>
          </a:prstGeom>
        </p:spPr>
      </p:pic>
      <p:sp>
        <p:nvSpPr>
          <p:cNvPr id="15" name="Content Placeholder 8">
            <a:extLst>
              <a:ext uri="{FF2B5EF4-FFF2-40B4-BE49-F238E27FC236}">
                <a16:creationId xmlns:a16="http://schemas.microsoft.com/office/drawing/2014/main" id="{BEA1BF9F-BE78-46F6-8193-9AF5186B6A9C}"/>
              </a:ext>
            </a:extLst>
          </p:cNvPr>
          <p:cNvSpPr>
            <a:spLocks noGrp="1"/>
          </p:cNvSpPr>
          <p:nvPr>
            <p:ph idx="1"/>
          </p:nvPr>
        </p:nvSpPr>
        <p:spPr>
          <a:xfrm>
            <a:off x="7865805" y="2121408"/>
            <a:ext cx="3677263" cy="4092579"/>
          </a:xfrm>
        </p:spPr>
        <p:txBody>
          <a:bodyPr>
            <a:normAutofit/>
          </a:bodyPr>
          <a:lstStyle/>
          <a:p>
            <a:endParaRPr lang="en-US" sz="1600" dirty="0"/>
          </a:p>
        </p:txBody>
      </p:sp>
      <p:sp>
        <p:nvSpPr>
          <p:cNvPr id="3" name="Slide Number Placeholder 2">
            <a:extLst>
              <a:ext uri="{FF2B5EF4-FFF2-40B4-BE49-F238E27FC236}">
                <a16:creationId xmlns:a16="http://schemas.microsoft.com/office/drawing/2014/main" id="{D1D8C6C9-F568-4CFD-950B-92B180492444}"/>
              </a:ext>
            </a:extLst>
          </p:cNvPr>
          <p:cNvSpPr>
            <a:spLocks noGrp="1"/>
          </p:cNvSpPr>
          <p:nvPr>
            <p:ph type="sldNum" sz="quarter" idx="12"/>
          </p:nvPr>
        </p:nvSpPr>
        <p:spPr/>
        <p:txBody>
          <a:bodyPr/>
          <a:lstStyle/>
          <a:p>
            <a:fld id="{4FAB73BC-B049-4115-A692-8D63A059BFB8}" type="slidenum">
              <a:rPr lang="en-US" smtClean="0"/>
              <a:t>23</a:t>
            </a:fld>
            <a:endParaRPr lang="en-US" dirty="0"/>
          </a:p>
        </p:txBody>
      </p:sp>
    </p:spTree>
    <p:extLst>
      <p:ext uri="{BB962C8B-B14F-4D97-AF65-F5344CB8AC3E}">
        <p14:creationId xmlns:p14="http://schemas.microsoft.com/office/powerpoint/2010/main" val="19838612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II.2.6 </a:t>
            </a:r>
            <a:r>
              <a:rPr lang="en-US" sz="3200" b="1" dirty="0">
                <a:solidFill>
                  <a:srgbClr val="0070C0"/>
                </a:solidFill>
              </a:rPr>
              <a:t>File </a:t>
            </a:r>
            <a:r>
              <a:rPr lang="en-US" sz="3200" b="1" dirty="0" err="1">
                <a:solidFill>
                  <a:srgbClr val="0070C0"/>
                </a:solidFill>
              </a:rPr>
              <a:t>pE</a:t>
            </a:r>
            <a:r>
              <a:rPr lang="en-US" sz="3200" b="1" dirty="0">
                <a:solidFill>
                  <a:srgbClr val="0070C0"/>
                </a:solidFill>
              </a:rPr>
              <a:t> sections</a:t>
            </a:r>
            <a:endParaRPr lang="en-US" sz="3200" dirty="0">
              <a:solidFill>
                <a:srgbClr val="0070C0"/>
              </a:solidFill>
            </a:endParaRPr>
          </a:p>
        </p:txBody>
      </p:sp>
      <p:pic>
        <p:nvPicPr>
          <p:cNvPr id="4" name="Picture 3">
            <a:extLst>
              <a:ext uri="{FF2B5EF4-FFF2-40B4-BE49-F238E27FC236}">
                <a16:creationId xmlns:a16="http://schemas.microsoft.com/office/drawing/2014/main" id="{4899B2A1-4960-42AD-B32C-612F89FE6BC7}"/>
              </a:ext>
            </a:extLst>
          </p:cNvPr>
          <p:cNvPicPr>
            <a:picLocks noChangeAspect="1"/>
          </p:cNvPicPr>
          <p:nvPr/>
        </p:nvPicPr>
        <p:blipFill>
          <a:blip r:embed="rId4"/>
          <a:stretch>
            <a:fillRect/>
          </a:stretch>
        </p:blipFill>
        <p:spPr>
          <a:xfrm>
            <a:off x="633999" y="937307"/>
            <a:ext cx="6882269" cy="4993646"/>
          </a:xfrm>
          <a:prstGeom prst="rect">
            <a:avLst/>
          </a:prstGeom>
        </p:spPr>
      </p:pic>
      <p:sp>
        <p:nvSpPr>
          <p:cNvPr id="3" name="Content Placeholder 2">
            <a:extLst>
              <a:ext uri="{FF2B5EF4-FFF2-40B4-BE49-F238E27FC236}">
                <a16:creationId xmlns:a16="http://schemas.microsoft.com/office/drawing/2014/main" id="{F08AC3DB-3E56-4058-B3E0-02271B20EDC8}"/>
              </a:ext>
            </a:extLst>
          </p:cNvPr>
          <p:cNvSpPr>
            <a:spLocks noGrp="1"/>
          </p:cNvSpPr>
          <p:nvPr>
            <p:ph idx="1"/>
          </p:nvPr>
        </p:nvSpPr>
        <p:spPr>
          <a:xfrm>
            <a:off x="8156351" y="2121408"/>
            <a:ext cx="3544034" cy="4050792"/>
          </a:xfrm>
        </p:spPr>
        <p:txBody>
          <a:bodyPr>
            <a:normAutofit/>
          </a:bodyPr>
          <a:lstStyle/>
          <a:p>
            <a:r>
              <a:rPr lang="en-US" sz="1800" b="1" dirty="0"/>
              <a:t>Export data section: .</a:t>
            </a:r>
            <a:r>
              <a:rPr lang="en-US" sz="1800" b="1" dirty="0" err="1"/>
              <a:t>edata</a:t>
            </a:r>
            <a:r>
              <a:rPr lang="en-US" sz="1800" b="1" dirty="0"/>
              <a:t> - section</a:t>
            </a:r>
            <a:r>
              <a:rPr lang="vi-VN" sz="1800" dirty="0"/>
              <a:t>.edata chứa dữ liệu </a:t>
            </a:r>
            <a:r>
              <a:rPr lang="en-US" sz="1800" dirty="0"/>
              <a:t>export</a:t>
            </a:r>
            <a:r>
              <a:rPr lang="vi-VN" sz="1800" dirty="0"/>
              <a:t> cho ứng dụng hoặc DLL. </a:t>
            </a:r>
            <a:r>
              <a:rPr lang="en-US" sz="1800" dirty="0"/>
              <a:t>Section </a:t>
            </a:r>
            <a:r>
              <a:rPr lang="vi-VN" sz="1800" dirty="0"/>
              <a:t>này chứa một </a:t>
            </a:r>
            <a:r>
              <a:rPr lang="en-US" sz="1800" dirty="0"/>
              <a:t> export directory</a:t>
            </a:r>
            <a:r>
              <a:rPr lang="vi-VN" sz="1800" dirty="0"/>
              <a:t> để lấy thông tin </a:t>
            </a:r>
            <a:r>
              <a:rPr lang="en-US" sz="1800" dirty="0"/>
              <a:t>export</a:t>
            </a:r>
            <a:r>
              <a:rPr lang="vi-VN" sz="1800" dirty="0"/>
              <a:t>.</a:t>
            </a:r>
            <a:endParaRPr lang="en-US" sz="1800" dirty="0"/>
          </a:p>
          <a:p>
            <a:r>
              <a:rPr lang="vi-VN" sz="1800" dirty="0"/>
              <a:t>NumberOfFifts và NumberOfNames cho biết có bao nhiêu </a:t>
            </a:r>
            <a:r>
              <a:rPr lang="en-US" sz="1800" dirty="0"/>
              <a:t>function</a:t>
            </a:r>
            <a:r>
              <a:rPr lang="vi-VN" sz="1800" dirty="0"/>
              <a:t> và tên </a:t>
            </a:r>
            <a:r>
              <a:rPr lang="en-US" sz="1800" dirty="0"/>
              <a:t>functions</a:t>
            </a:r>
            <a:r>
              <a:rPr lang="vi-VN" sz="1800" dirty="0"/>
              <a:t> đang được </a:t>
            </a:r>
            <a:r>
              <a:rPr lang="en-US" sz="1800" dirty="0"/>
              <a:t>export</a:t>
            </a:r>
            <a:r>
              <a:rPr lang="vi-VN" sz="1800" dirty="0"/>
              <a:t> từ ​​mô-đun.</a:t>
            </a:r>
            <a:endParaRPr lang="en-US" sz="1800" dirty="0"/>
          </a:p>
          <a:p>
            <a:r>
              <a:rPr lang="vi-VN" sz="1800" dirty="0"/>
              <a:t>addressOfFifts là </a:t>
            </a:r>
            <a:r>
              <a:rPr lang="en-US" sz="1800" dirty="0"/>
              <a:t>một RVA </a:t>
            </a:r>
            <a:r>
              <a:rPr lang="en-US" sz="1800" dirty="0" err="1"/>
              <a:t>mảng</a:t>
            </a:r>
            <a:r>
              <a:rPr lang="vi-VN" sz="1800" dirty="0"/>
              <a:t> các </a:t>
            </a:r>
            <a:r>
              <a:rPr lang="en-US" sz="1800" dirty="0"/>
              <a:t>entry point</a:t>
            </a:r>
            <a:r>
              <a:rPr lang="vi-VN" sz="1800" dirty="0"/>
              <a:t> được </a:t>
            </a:r>
            <a:r>
              <a:rPr lang="en-US" sz="1800" dirty="0"/>
              <a:t>exported</a:t>
            </a:r>
            <a:r>
              <a:rPr lang="vi-VN" sz="1800" dirty="0"/>
              <a:t>. </a:t>
            </a:r>
            <a:endParaRPr lang="en-US" sz="1800" dirty="0"/>
          </a:p>
        </p:txBody>
      </p:sp>
      <p:grpSp>
        <p:nvGrpSpPr>
          <p:cNvPr id="29" name="Group 28">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30" name="Oval 29">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1" name="Oval 30">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6C9751DD-6E53-4B88-BBAE-D260F5CADEAC}"/>
              </a:ext>
            </a:extLst>
          </p:cNvPr>
          <p:cNvSpPr>
            <a:spLocks noGrp="1"/>
          </p:cNvSpPr>
          <p:nvPr>
            <p:ph type="sldNum" sz="quarter" idx="12"/>
          </p:nvPr>
        </p:nvSpPr>
        <p:spPr/>
        <p:txBody>
          <a:bodyPr/>
          <a:lstStyle/>
          <a:p>
            <a:fld id="{4FAB73BC-B049-4115-A692-8D63A059BFB8}" type="slidenum">
              <a:rPr lang="en-US" smtClean="0"/>
              <a:t>24</a:t>
            </a:fld>
            <a:endParaRPr lang="en-US" dirty="0"/>
          </a:p>
        </p:txBody>
      </p:sp>
    </p:spTree>
    <p:extLst>
      <p:ext uri="{BB962C8B-B14F-4D97-AF65-F5344CB8AC3E}">
        <p14:creationId xmlns:p14="http://schemas.microsoft.com/office/powerpoint/2010/main" val="428045816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II.2.6 </a:t>
            </a:r>
            <a:r>
              <a:rPr lang="en-US" sz="3200" b="1" dirty="0">
                <a:solidFill>
                  <a:srgbClr val="0070C0"/>
                </a:solidFill>
              </a:rPr>
              <a:t>File </a:t>
            </a:r>
            <a:r>
              <a:rPr lang="en-US" sz="3200" b="1" dirty="0" err="1">
                <a:solidFill>
                  <a:srgbClr val="0070C0"/>
                </a:solidFill>
              </a:rPr>
              <a:t>pE</a:t>
            </a:r>
            <a:r>
              <a:rPr lang="en-US" sz="3200" b="1" dirty="0">
                <a:solidFill>
                  <a:srgbClr val="0070C0"/>
                </a:solidFill>
              </a:rPr>
              <a:t> sections</a:t>
            </a:r>
            <a:endParaRPr lang="en-US" sz="3200" dirty="0">
              <a:solidFill>
                <a:srgbClr val="0070C0"/>
              </a:solidFill>
            </a:endParaRPr>
          </a:p>
        </p:txBody>
      </p:sp>
      <p:pic>
        <p:nvPicPr>
          <p:cNvPr id="5" name="Picture 4">
            <a:extLst>
              <a:ext uri="{FF2B5EF4-FFF2-40B4-BE49-F238E27FC236}">
                <a16:creationId xmlns:a16="http://schemas.microsoft.com/office/drawing/2014/main" id="{24524DA6-0616-4554-971B-21FCBFBF5DAF}"/>
              </a:ext>
            </a:extLst>
          </p:cNvPr>
          <p:cNvPicPr>
            <a:picLocks noChangeAspect="1"/>
          </p:cNvPicPr>
          <p:nvPr/>
        </p:nvPicPr>
        <p:blipFill>
          <a:blip r:embed="rId4"/>
          <a:stretch>
            <a:fillRect/>
          </a:stretch>
        </p:blipFill>
        <p:spPr>
          <a:xfrm>
            <a:off x="633999" y="861882"/>
            <a:ext cx="6882269" cy="5144496"/>
          </a:xfrm>
          <a:prstGeom prst="rect">
            <a:avLst/>
          </a:prstGeom>
        </p:spPr>
      </p:pic>
      <p:sp>
        <p:nvSpPr>
          <p:cNvPr id="3" name="Content Placeholder 2">
            <a:extLst>
              <a:ext uri="{FF2B5EF4-FFF2-40B4-BE49-F238E27FC236}">
                <a16:creationId xmlns:a16="http://schemas.microsoft.com/office/drawing/2014/main" id="{F08AC3DB-3E56-4058-B3E0-02271B20EDC8}"/>
              </a:ext>
            </a:extLst>
          </p:cNvPr>
          <p:cNvSpPr>
            <a:spLocks noGrp="1"/>
          </p:cNvSpPr>
          <p:nvPr>
            <p:ph idx="1"/>
          </p:nvPr>
        </p:nvSpPr>
        <p:spPr>
          <a:xfrm>
            <a:off x="8156351" y="2121408"/>
            <a:ext cx="3544034" cy="2642617"/>
          </a:xfrm>
        </p:spPr>
        <p:txBody>
          <a:bodyPr>
            <a:normAutofit/>
          </a:bodyPr>
          <a:lstStyle/>
          <a:p>
            <a:r>
              <a:rPr lang="vi-VN" sz="1800" dirty="0"/>
              <a:t>Trường addressOfNames là địa chỉ</a:t>
            </a:r>
            <a:r>
              <a:rPr lang="en-US" sz="1800" dirty="0"/>
              <a:t> RVA</a:t>
            </a:r>
            <a:r>
              <a:rPr lang="vi-VN" sz="1800" dirty="0"/>
              <a:t> </a:t>
            </a:r>
            <a:r>
              <a:rPr lang="en-US" sz="1800" dirty="0" err="1"/>
              <a:t>trỏ</a:t>
            </a:r>
            <a:r>
              <a:rPr lang="en-US" sz="1800" dirty="0"/>
              <a:t> </a:t>
            </a:r>
            <a:r>
              <a:rPr lang="en-US" sz="1800" dirty="0" err="1"/>
              <a:t>tới</a:t>
            </a:r>
            <a:r>
              <a:rPr lang="en-US" sz="1800" dirty="0"/>
              <a:t> một </a:t>
            </a:r>
            <a:r>
              <a:rPr lang="en-US" sz="1800" dirty="0" err="1"/>
              <a:t>mảng</a:t>
            </a:r>
            <a:r>
              <a:rPr lang="en-US" sz="1800" dirty="0"/>
              <a:t> </a:t>
            </a:r>
            <a:r>
              <a:rPr lang="en-US" sz="1800" dirty="0" err="1"/>
              <a:t>các</a:t>
            </a:r>
            <a:r>
              <a:rPr lang="en-US" sz="1800" dirty="0"/>
              <a:t> RAV của </a:t>
            </a:r>
            <a:r>
              <a:rPr lang="en-US" sz="1800" dirty="0" err="1"/>
              <a:t>tên</a:t>
            </a:r>
            <a:r>
              <a:rPr lang="en-US" sz="1800" dirty="0"/>
              <a:t> </a:t>
            </a:r>
            <a:r>
              <a:rPr lang="en-US" sz="1800" dirty="0" err="1"/>
              <a:t>các</a:t>
            </a:r>
            <a:r>
              <a:rPr lang="en-US" sz="1800" dirty="0"/>
              <a:t> </a:t>
            </a:r>
            <a:r>
              <a:rPr lang="en-US" sz="1800" dirty="0" err="1"/>
              <a:t>hàm</a:t>
            </a:r>
            <a:r>
              <a:rPr lang="en-US" sz="1800" dirty="0"/>
              <a:t> đ</a:t>
            </a:r>
            <a:r>
              <a:rPr lang="vi-VN" sz="1800" dirty="0"/>
              <a:t>ư</a:t>
            </a:r>
            <a:r>
              <a:rPr lang="en-US" sz="1800" dirty="0" err="1"/>
              <a:t>ợc</a:t>
            </a:r>
            <a:r>
              <a:rPr lang="en-US" sz="1800" dirty="0"/>
              <a:t> Export. </a:t>
            </a:r>
          </a:p>
          <a:p>
            <a:r>
              <a:rPr lang="vi-VN" sz="1800" dirty="0"/>
              <a:t>AddressOfNameOrdutions là địa chỉ</a:t>
            </a:r>
            <a:r>
              <a:rPr lang="en-US" sz="1800" dirty="0"/>
              <a:t> RVA</a:t>
            </a:r>
            <a:r>
              <a:rPr lang="vi-VN" sz="1800" dirty="0"/>
              <a:t> </a:t>
            </a:r>
            <a:r>
              <a:rPr lang="en-US" sz="1800" dirty="0" err="1"/>
              <a:t>trỏ</a:t>
            </a:r>
            <a:r>
              <a:rPr lang="en-US" sz="1800" dirty="0"/>
              <a:t> </a:t>
            </a:r>
            <a:r>
              <a:rPr lang="en-US" sz="1800" dirty="0" err="1"/>
              <a:t>tới</a:t>
            </a:r>
            <a:r>
              <a:rPr lang="en-US" sz="1800" dirty="0"/>
              <a:t> một </a:t>
            </a:r>
            <a:r>
              <a:rPr lang="en-US" sz="1800" dirty="0" err="1"/>
              <a:t>mảng</a:t>
            </a:r>
            <a:r>
              <a:rPr lang="en-US" sz="1800" dirty="0"/>
              <a:t> 2 bytes </a:t>
            </a:r>
            <a:r>
              <a:rPr lang="en-US" sz="1800" dirty="0" err="1"/>
              <a:t>chứa</a:t>
            </a:r>
            <a:r>
              <a:rPr lang="en-US" sz="1800" dirty="0"/>
              <a:t> </a:t>
            </a:r>
            <a:r>
              <a:rPr lang="en-US" sz="1800" dirty="0" err="1"/>
              <a:t>các</a:t>
            </a:r>
            <a:r>
              <a:rPr lang="en-US" sz="1800" dirty="0"/>
              <a:t> ordinal của </a:t>
            </a:r>
            <a:r>
              <a:rPr lang="en-US" sz="1800" dirty="0" err="1"/>
              <a:t>các</a:t>
            </a:r>
            <a:r>
              <a:rPr lang="en-US" sz="1800" dirty="0"/>
              <a:t> </a:t>
            </a:r>
            <a:r>
              <a:rPr lang="en-US" sz="1800" dirty="0" err="1"/>
              <a:t>tên</a:t>
            </a:r>
            <a:r>
              <a:rPr lang="en-US" sz="1800" dirty="0"/>
              <a:t> </a:t>
            </a:r>
            <a:r>
              <a:rPr lang="en-US" sz="1800" dirty="0" err="1"/>
              <a:t>hàm</a:t>
            </a:r>
            <a:r>
              <a:rPr lang="en-US" sz="1600" dirty="0"/>
              <a:t>.</a:t>
            </a:r>
          </a:p>
          <a:p>
            <a:pPr marL="0" indent="0">
              <a:buNone/>
            </a:pPr>
            <a:endParaRPr lang="en-US" sz="1600" dirty="0"/>
          </a:p>
        </p:txBody>
      </p:sp>
      <p:grpSp>
        <p:nvGrpSpPr>
          <p:cNvPr id="21" name="Group 20">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2" name="Oval 21">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3" name="Oval 22">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 name="Picture 5">
            <a:extLst>
              <a:ext uri="{FF2B5EF4-FFF2-40B4-BE49-F238E27FC236}">
                <a16:creationId xmlns:a16="http://schemas.microsoft.com/office/drawing/2014/main" id="{B571E7A1-DE15-470A-82BC-28DF7D9167BD}"/>
              </a:ext>
            </a:extLst>
          </p:cNvPr>
          <p:cNvPicPr>
            <a:picLocks noChangeAspect="1"/>
          </p:cNvPicPr>
          <p:nvPr/>
        </p:nvPicPr>
        <p:blipFill>
          <a:blip r:embed="rId6"/>
          <a:stretch>
            <a:fillRect/>
          </a:stretch>
        </p:blipFill>
        <p:spPr>
          <a:xfrm>
            <a:off x="7928179" y="4294744"/>
            <a:ext cx="4171950" cy="2457450"/>
          </a:xfrm>
          <a:prstGeom prst="rect">
            <a:avLst/>
          </a:prstGeom>
        </p:spPr>
      </p:pic>
      <p:sp>
        <p:nvSpPr>
          <p:cNvPr id="4" name="Slide Number Placeholder 3">
            <a:extLst>
              <a:ext uri="{FF2B5EF4-FFF2-40B4-BE49-F238E27FC236}">
                <a16:creationId xmlns:a16="http://schemas.microsoft.com/office/drawing/2014/main" id="{85D48275-01E6-4DBB-8435-1C0B6E0175F1}"/>
              </a:ext>
            </a:extLst>
          </p:cNvPr>
          <p:cNvSpPr>
            <a:spLocks noGrp="1"/>
          </p:cNvSpPr>
          <p:nvPr>
            <p:ph type="sldNum" sz="quarter" idx="12"/>
          </p:nvPr>
        </p:nvSpPr>
        <p:spPr/>
        <p:txBody>
          <a:bodyPr/>
          <a:lstStyle/>
          <a:p>
            <a:fld id="{4FAB73BC-B049-4115-A692-8D63A059BFB8}" type="slidenum">
              <a:rPr lang="en-US" smtClean="0"/>
              <a:t>25</a:t>
            </a:fld>
            <a:endParaRPr lang="en-US" dirty="0"/>
          </a:p>
        </p:txBody>
      </p:sp>
    </p:spTree>
    <p:extLst>
      <p:ext uri="{BB962C8B-B14F-4D97-AF65-F5344CB8AC3E}">
        <p14:creationId xmlns:p14="http://schemas.microsoft.com/office/powerpoint/2010/main" val="3722843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arn(inVertic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6310" y="0"/>
            <a:ext cx="435568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D5D5FD-A51C-4C40-A0C1-FC316E5A939A}"/>
              </a:ext>
            </a:extLst>
          </p:cNvPr>
          <p:cNvSpPr>
            <a:spLocks noGrp="1"/>
          </p:cNvSpPr>
          <p:nvPr>
            <p:ph type="title"/>
          </p:nvPr>
        </p:nvSpPr>
        <p:spPr>
          <a:xfrm>
            <a:off x="8156350" y="484632"/>
            <a:ext cx="3544035" cy="1609344"/>
          </a:xfrm>
          <a:ln>
            <a:noFill/>
          </a:ln>
        </p:spPr>
        <p:txBody>
          <a:bodyPr>
            <a:normAutofit/>
          </a:bodyPr>
          <a:lstStyle/>
          <a:p>
            <a:r>
              <a:rPr lang="en-US" sz="3200" dirty="0">
                <a:solidFill>
                  <a:srgbClr val="0070C0"/>
                </a:solidFill>
              </a:rPr>
              <a:t>II.2.6 </a:t>
            </a:r>
            <a:r>
              <a:rPr lang="en-US" sz="3200" b="1" dirty="0">
                <a:solidFill>
                  <a:srgbClr val="0070C0"/>
                </a:solidFill>
              </a:rPr>
              <a:t>File </a:t>
            </a:r>
            <a:r>
              <a:rPr lang="en-US" sz="3200" b="1" dirty="0" err="1">
                <a:solidFill>
                  <a:srgbClr val="0070C0"/>
                </a:solidFill>
              </a:rPr>
              <a:t>pE</a:t>
            </a:r>
            <a:r>
              <a:rPr lang="en-US" sz="3200" b="1" dirty="0">
                <a:solidFill>
                  <a:srgbClr val="0070C0"/>
                </a:solidFill>
              </a:rPr>
              <a:t> sections</a:t>
            </a:r>
            <a:endParaRPr lang="en-US" sz="3200" dirty="0">
              <a:solidFill>
                <a:srgbClr val="0070C0"/>
              </a:solidFill>
            </a:endParaRPr>
          </a:p>
        </p:txBody>
      </p:sp>
      <p:pic>
        <p:nvPicPr>
          <p:cNvPr id="4" name="Picture 3">
            <a:extLst>
              <a:ext uri="{FF2B5EF4-FFF2-40B4-BE49-F238E27FC236}">
                <a16:creationId xmlns:a16="http://schemas.microsoft.com/office/drawing/2014/main" id="{D2B670D7-4F07-4620-B8E4-30C343585C8C}"/>
              </a:ext>
            </a:extLst>
          </p:cNvPr>
          <p:cNvPicPr>
            <a:picLocks noChangeAspect="1"/>
          </p:cNvPicPr>
          <p:nvPr/>
        </p:nvPicPr>
        <p:blipFill>
          <a:blip r:embed="rId4"/>
          <a:stretch>
            <a:fillRect/>
          </a:stretch>
        </p:blipFill>
        <p:spPr>
          <a:xfrm>
            <a:off x="633999" y="1526874"/>
            <a:ext cx="6882269" cy="3814512"/>
          </a:xfrm>
          <a:prstGeom prst="rect">
            <a:avLst/>
          </a:prstGeom>
        </p:spPr>
      </p:pic>
      <p:sp>
        <p:nvSpPr>
          <p:cNvPr id="3" name="Content Placeholder 2">
            <a:extLst>
              <a:ext uri="{FF2B5EF4-FFF2-40B4-BE49-F238E27FC236}">
                <a16:creationId xmlns:a16="http://schemas.microsoft.com/office/drawing/2014/main" id="{F08AC3DB-3E56-4058-B3E0-02271B20EDC8}"/>
              </a:ext>
            </a:extLst>
          </p:cNvPr>
          <p:cNvSpPr>
            <a:spLocks noGrp="1"/>
          </p:cNvSpPr>
          <p:nvPr>
            <p:ph idx="1"/>
          </p:nvPr>
        </p:nvSpPr>
        <p:spPr>
          <a:xfrm>
            <a:off x="8156351" y="2121408"/>
            <a:ext cx="3544034" cy="4050792"/>
          </a:xfrm>
        </p:spPr>
        <p:txBody>
          <a:bodyPr>
            <a:normAutofit/>
          </a:bodyPr>
          <a:lstStyle/>
          <a:p>
            <a:r>
              <a:rPr lang="en-US" sz="1400" b="1" dirty="0"/>
              <a:t>Import data section: .</a:t>
            </a:r>
            <a:r>
              <a:rPr lang="en-US" sz="1400" b="1" dirty="0" err="1"/>
              <a:t>idata</a:t>
            </a:r>
            <a:r>
              <a:rPr lang="en-US" sz="1400" b="1" dirty="0"/>
              <a:t> : </a:t>
            </a:r>
            <a:r>
              <a:rPr lang="en-US" sz="1400" dirty="0"/>
              <a:t>là một </a:t>
            </a:r>
            <a:r>
              <a:rPr lang="en-US" sz="1400" dirty="0" err="1"/>
              <a:t>mảng</a:t>
            </a:r>
            <a:r>
              <a:rPr lang="en-US" sz="1400" dirty="0"/>
              <a:t> </a:t>
            </a:r>
            <a:r>
              <a:rPr lang="en-US" sz="1400" dirty="0" err="1"/>
              <a:t>cấu</a:t>
            </a:r>
            <a:r>
              <a:rPr lang="en-US" sz="1400" dirty="0"/>
              <a:t> </a:t>
            </a:r>
            <a:r>
              <a:rPr lang="en-US" sz="1400" dirty="0" err="1"/>
              <a:t>trúc</a:t>
            </a:r>
            <a:r>
              <a:rPr lang="en-US" sz="1400" dirty="0"/>
              <a:t>, mỗi </a:t>
            </a:r>
            <a:r>
              <a:rPr lang="en-US" sz="1400" dirty="0" err="1"/>
              <a:t>cấu</a:t>
            </a:r>
            <a:r>
              <a:rPr lang="en-US" sz="1400" dirty="0"/>
              <a:t> </a:t>
            </a:r>
            <a:r>
              <a:rPr lang="en-US" sz="1400" dirty="0" err="1"/>
              <a:t>trúc</a:t>
            </a:r>
            <a:r>
              <a:rPr lang="en-US" sz="1400" dirty="0"/>
              <a:t> là 20bytes </a:t>
            </a:r>
            <a:r>
              <a:rPr lang="en-US" sz="1400" dirty="0" err="1"/>
              <a:t>chứa</a:t>
            </a:r>
            <a:r>
              <a:rPr lang="en-US" sz="1400" dirty="0"/>
              <a:t> thông tin </a:t>
            </a:r>
            <a:r>
              <a:rPr lang="en-US" sz="1400" dirty="0" err="1"/>
              <a:t>về</a:t>
            </a:r>
            <a:r>
              <a:rPr lang="en-US" sz="1400" dirty="0"/>
              <a:t> 1 </a:t>
            </a:r>
            <a:r>
              <a:rPr lang="en-US" sz="1400" dirty="0" err="1"/>
              <a:t>dll</a:t>
            </a:r>
            <a:r>
              <a:rPr lang="en-US" sz="1400" dirty="0"/>
              <a:t> </a:t>
            </a:r>
            <a:r>
              <a:rPr lang="en-US" sz="1400" dirty="0" err="1"/>
              <a:t>mà</a:t>
            </a:r>
            <a:r>
              <a:rPr lang="en-US" sz="1400" dirty="0"/>
              <a:t> PE import vào</a:t>
            </a:r>
            <a:r>
              <a:rPr lang="vi-VN" sz="1400" dirty="0"/>
              <a:t>.</a:t>
            </a:r>
            <a:endParaRPr lang="en-US" sz="1400" dirty="0"/>
          </a:p>
          <a:p>
            <a:r>
              <a:rPr lang="vi-VN" sz="1400" dirty="0"/>
              <a:t> Mặc dù IMAGE_DIRECTORY_ENTRY_IMPORT được </a:t>
            </a:r>
            <a:r>
              <a:rPr lang="en-US" sz="1400" dirty="0"/>
              <a:t>defined</a:t>
            </a:r>
            <a:r>
              <a:rPr lang="vi-VN" sz="1400" dirty="0"/>
              <a:t>, không có cấu </a:t>
            </a:r>
            <a:r>
              <a:rPr lang="en-US" sz="1400" dirty="0" err="1"/>
              <a:t>nào</a:t>
            </a:r>
            <a:r>
              <a:rPr lang="en-US" sz="1400" dirty="0"/>
              <a:t> </a:t>
            </a:r>
            <a:r>
              <a:rPr lang="vi-VN" sz="1400" dirty="0"/>
              <a:t>ứng nào được bao gồm trong tệp WINNT.H. </a:t>
            </a:r>
            <a:endParaRPr lang="en-US" sz="1400" dirty="0"/>
          </a:p>
          <a:p>
            <a:r>
              <a:rPr lang="vi-VN" sz="1400" dirty="0"/>
              <a:t>Thay vào đó, có một số cấu trúc khác được gọi là IMAGE_IMPORT_BY_NAME, IMAGE_THUNK_DATA và IMAGE_IMPORT_DESCRIPTOR. </a:t>
            </a:r>
            <a:r>
              <a:rPr lang="en-US" sz="1400" dirty="0" err="1"/>
              <a:t>Nó</a:t>
            </a:r>
            <a:r>
              <a:rPr lang="en-US" sz="1400" dirty="0"/>
              <a:t> sẽ có struct </a:t>
            </a:r>
            <a:r>
              <a:rPr lang="en-US" sz="1400" dirty="0" err="1"/>
              <a:t>nh</a:t>
            </a:r>
            <a:r>
              <a:rPr lang="vi-VN" sz="1400" dirty="0"/>
              <a:t>ư</a:t>
            </a:r>
            <a:r>
              <a:rPr lang="en-US" sz="1400" dirty="0"/>
              <a:t> </a:t>
            </a:r>
            <a:r>
              <a:rPr lang="en-US" sz="1400" dirty="0" err="1"/>
              <a:t>sau</a:t>
            </a:r>
            <a:r>
              <a:rPr lang="en-US" sz="1400" dirty="0"/>
              <a:t> </a:t>
            </a:r>
            <a:r>
              <a:rPr lang="vi-VN" sz="1400" dirty="0"/>
              <a:t>IMAGE_IMPORT_MODULE_DIRECTORY</a:t>
            </a:r>
            <a:r>
              <a:rPr lang="en-US" sz="1400" dirty="0"/>
              <a:t> ( </a:t>
            </a:r>
            <a:r>
              <a:rPr lang="en-US" sz="1400" dirty="0" err="1"/>
              <a:t>tên</a:t>
            </a:r>
            <a:r>
              <a:rPr lang="en-US" sz="1400" dirty="0"/>
              <a:t> này là do </a:t>
            </a:r>
            <a:r>
              <a:rPr lang="en-US" sz="1400" dirty="0" err="1"/>
              <a:t>lập</a:t>
            </a:r>
            <a:r>
              <a:rPr lang="en-US" sz="1400" dirty="0"/>
              <a:t> </a:t>
            </a:r>
            <a:r>
              <a:rPr lang="en-US" sz="1400" dirty="0" err="1"/>
              <a:t>trình</a:t>
            </a:r>
            <a:r>
              <a:rPr lang="en-US" sz="1400" dirty="0"/>
              <a:t> </a:t>
            </a:r>
            <a:r>
              <a:rPr lang="en-US" sz="1400" dirty="0" err="1"/>
              <a:t>tự</a:t>
            </a:r>
            <a:r>
              <a:rPr lang="en-US" sz="1400" dirty="0"/>
              <a:t> </a:t>
            </a:r>
            <a:r>
              <a:rPr lang="en-US" sz="1400" dirty="0" err="1"/>
              <a:t>định</a:t>
            </a:r>
            <a:r>
              <a:rPr lang="en-US" sz="1400" dirty="0"/>
              <a:t> </a:t>
            </a:r>
            <a:r>
              <a:rPr lang="en-US" sz="1400" dirty="0" err="1"/>
              <a:t>nghĩa</a:t>
            </a:r>
            <a:r>
              <a:rPr lang="en-US" sz="1400" dirty="0"/>
              <a:t>)</a:t>
            </a:r>
            <a:r>
              <a:rPr lang="vi-VN" sz="1400" dirty="0"/>
              <a:t>.</a:t>
            </a:r>
            <a:r>
              <a:rPr lang="en-US" sz="1400" dirty="0"/>
              <a:t> </a:t>
            </a:r>
          </a:p>
          <a:p>
            <a:endParaRPr lang="en-US" sz="1400" b="1" dirty="0"/>
          </a:p>
          <a:p>
            <a:endParaRPr lang="en-US" sz="1400" dirty="0"/>
          </a:p>
        </p:txBody>
      </p:sp>
      <p:grpSp>
        <p:nvGrpSpPr>
          <p:cNvPr id="20" name="Group 19">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5" name="Slide Number Placeholder 4">
            <a:extLst>
              <a:ext uri="{FF2B5EF4-FFF2-40B4-BE49-F238E27FC236}">
                <a16:creationId xmlns:a16="http://schemas.microsoft.com/office/drawing/2014/main" id="{670D4F6A-C229-43F3-BDB2-AB4AF6D100CC}"/>
              </a:ext>
            </a:extLst>
          </p:cNvPr>
          <p:cNvSpPr>
            <a:spLocks noGrp="1"/>
          </p:cNvSpPr>
          <p:nvPr>
            <p:ph type="sldNum" sz="quarter" idx="12"/>
          </p:nvPr>
        </p:nvSpPr>
        <p:spPr/>
        <p:txBody>
          <a:bodyPr/>
          <a:lstStyle/>
          <a:p>
            <a:fld id="{4FAB73BC-B049-4115-A692-8D63A059BFB8}" type="slidenum">
              <a:rPr lang="en-US" smtClean="0"/>
              <a:t>26</a:t>
            </a:fld>
            <a:endParaRPr lang="en-US" dirty="0"/>
          </a:p>
        </p:txBody>
      </p:sp>
    </p:spTree>
    <p:extLst>
      <p:ext uri="{BB962C8B-B14F-4D97-AF65-F5344CB8AC3E}">
        <p14:creationId xmlns:p14="http://schemas.microsoft.com/office/powerpoint/2010/main" val="391044903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 name="CustomShape 1"/>
          <p:cNvSpPr/>
          <p:nvPr/>
        </p:nvSpPr>
        <p:spPr>
          <a:xfrm>
            <a:off x="609480" y="273600"/>
            <a:ext cx="10971360" cy="114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a:solidFill>
                  <a:srgbClr val="000000"/>
                </a:solidFill>
                <a:latin typeface="Arial"/>
                <a:ea typeface="DejaVu Sans"/>
              </a:rPr>
              <a:t>Relocation</a:t>
            </a:r>
            <a:endParaRPr lang="vi-VN" sz="4400" b="0" strike="noStrike" spc="-1">
              <a:latin typeface="Arial"/>
            </a:endParaRPr>
          </a:p>
        </p:txBody>
      </p:sp>
      <p:sp>
        <p:nvSpPr>
          <p:cNvPr id="822" name="CustomShape 2"/>
          <p:cNvSpPr/>
          <p:nvPr/>
        </p:nvSpPr>
        <p:spPr>
          <a:xfrm>
            <a:off x="609480" y="1604520"/>
            <a:ext cx="10971360" cy="397620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marL="432000" indent="-32292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Khi build 1 file. Linker dựa vào ImageBase để xác định các địa chỉ thật buil ra file.</a:t>
            </a:r>
            <a:endParaRPr lang="vi-VN" sz="3200" b="0" strike="noStrike" spc="-1" dirty="0">
              <a:latin typeface="Arial"/>
            </a:endParaRPr>
          </a:p>
          <a:p>
            <a:pPr marL="432000" indent="-32292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Nếu file k được map đúng ImageBase? =&gt; Relocation</a:t>
            </a:r>
            <a:endParaRPr lang="vi-VN" sz="3200" b="0" strike="noStrike" spc="-1" dirty="0">
              <a:latin typeface="Arial"/>
            </a:endParaRPr>
          </a:p>
          <a:p>
            <a:pPr marL="432000" indent="-32292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Section Relocation chứa mảng các block (4KB), 1 phần tử cả block là 1 cấu trúc </a:t>
            </a:r>
            <a:r>
              <a:rPr lang="vi-VN" sz="3200" b="0" u="sng" strike="noStrike" spc="-1" dirty="0">
                <a:solidFill>
                  <a:srgbClr val="000000"/>
                </a:solidFill>
                <a:uFillTx/>
                <a:latin typeface="Arial"/>
                <a:ea typeface="DejaVu Sans"/>
              </a:rPr>
              <a:t>IMAGE_BASE_RELOCATION</a:t>
            </a:r>
            <a:endParaRPr lang="vi-VN" sz="3200" b="0" strike="noStrike" spc="-1" dirty="0">
              <a:latin typeface="Arial"/>
            </a:endParaRPr>
          </a:p>
          <a:p>
            <a:pPr marL="432000" indent="-322920">
              <a:lnSpc>
                <a:spcPct val="100000"/>
              </a:lnSpc>
              <a:spcBef>
                <a:spcPts val="1417"/>
              </a:spcBef>
              <a:buClr>
                <a:srgbClr val="000000"/>
              </a:buClr>
              <a:buSzPct val="45000"/>
              <a:buFont typeface="Wingdings" charset="2"/>
              <a:buChar char=""/>
            </a:pPr>
            <a:r>
              <a:rPr lang="vi-VN" sz="3200" b="0" u="sng" strike="noStrike" spc="-1" dirty="0">
                <a:solidFill>
                  <a:srgbClr val="000000"/>
                </a:solidFill>
                <a:uFillTx/>
                <a:latin typeface="Arial"/>
                <a:ea typeface="DejaVu Sans"/>
              </a:rPr>
              <a:t>VirtualAddress:</a:t>
            </a:r>
            <a:r>
              <a:rPr lang="vi-VN" sz="3200" b="0" strike="noStrike" spc="-1" dirty="0">
                <a:solidFill>
                  <a:srgbClr val="000000"/>
                </a:solidFill>
                <a:latin typeface="Arial"/>
                <a:ea typeface="DejaVu Sans"/>
              </a:rPr>
              <a:t> RVA địa chỉ cần relocation</a:t>
            </a:r>
            <a:endParaRPr lang="vi-VN" sz="3200" b="0" strike="noStrike" spc="-1" dirty="0">
              <a:latin typeface="Arial"/>
            </a:endParaRPr>
          </a:p>
        </p:txBody>
      </p:sp>
      <p:pic>
        <p:nvPicPr>
          <p:cNvPr id="823" name="Picture 822"/>
          <p:cNvPicPr/>
          <p:nvPr/>
        </p:nvPicPr>
        <p:blipFill>
          <a:blip r:embed="rId2"/>
          <a:stretch/>
        </p:blipFill>
        <p:spPr>
          <a:xfrm>
            <a:off x="7863840" y="4572000"/>
            <a:ext cx="3999240" cy="1341720"/>
          </a:xfrm>
          <a:prstGeom prst="rect">
            <a:avLst/>
          </a:prstGeom>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CustomShape 1"/>
          <p:cNvSpPr/>
          <p:nvPr/>
        </p:nvSpPr>
        <p:spPr>
          <a:xfrm>
            <a:off x="609480" y="273600"/>
            <a:ext cx="10969920" cy="1142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a:solidFill>
                  <a:srgbClr val="000000"/>
                </a:solidFill>
                <a:latin typeface="Arial"/>
                <a:ea typeface="DejaVu Sans"/>
              </a:rPr>
              <a:t>IAT</a:t>
            </a:r>
            <a:endParaRPr lang="vi-VN" sz="4400" b="0" strike="noStrike" spc="-1">
              <a:latin typeface="Arial"/>
            </a:endParaRPr>
          </a:p>
        </p:txBody>
      </p:sp>
      <p:sp>
        <p:nvSpPr>
          <p:cNvPr id="814" name="CustomShape 2"/>
          <p:cNvSpPr/>
          <p:nvPr/>
        </p:nvSpPr>
        <p:spPr>
          <a:xfrm>
            <a:off x="609480" y="1604520"/>
            <a:ext cx="5351760" cy="39747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fontScale="79000" lnSpcReduction="20000"/>
          </a:bodyPr>
          <a:lstStyle/>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Check MZ</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Check PE</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Ánh xạ file từ ổ đĩa vào</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bộ nhớ: ưu tiên từ imagebase,</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ánh xạ các section</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Duyệt và load các dll</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Thực thi từ EP</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1" strike="noStrike" spc="-1" dirty="0">
                <a:solidFill>
                  <a:srgbClr val="000000"/>
                </a:solidFill>
                <a:latin typeface="Arial"/>
                <a:ea typeface="DejaVu Sans"/>
              </a:rPr>
              <a:t>??? Import10 hàm của</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1" strike="noStrike" spc="-1" dirty="0">
                <a:solidFill>
                  <a:srgbClr val="000000"/>
                </a:solidFill>
                <a:latin typeface="Arial"/>
                <a:ea typeface="DejaVu Sans"/>
              </a:rPr>
              <a:t>user32.dll thì W</a:t>
            </a:r>
            <a:r>
              <a:rPr lang="en-US" sz="2800" b="1" strike="noStrike" spc="-1" dirty="0" err="1">
                <a:solidFill>
                  <a:srgbClr val="000000"/>
                </a:solidFill>
                <a:latin typeface="Arial"/>
                <a:ea typeface="DejaVu Sans"/>
              </a:rPr>
              <a:t>indows</a:t>
            </a:r>
            <a:r>
              <a:rPr lang="vi-VN" sz="2800" b="1" strike="noStrike" spc="-1" dirty="0">
                <a:solidFill>
                  <a:srgbClr val="000000"/>
                </a:solidFill>
                <a:latin typeface="Arial"/>
                <a:ea typeface="DejaVu Sans"/>
              </a:rPr>
              <a:t>L</a:t>
            </a:r>
            <a:r>
              <a:rPr lang="en-US" sz="2800" b="1" strike="noStrike" spc="-1" dirty="0" err="1">
                <a:solidFill>
                  <a:srgbClr val="000000"/>
                </a:solidFill>
                <a:latin typeface="Arial"/>
                <a:ea typeface="DejaVu Sans"/>
              </a:rPr>
              <a:t>oader</a:t>
            </a:r>
            <a:r>
              <a:rPr lang="vi-VN" sz="2800" b="1" strike="noStrike" spc="-1" dirty="0">
                <a:solidFill>
                  <a:srgbClr val="000000"/>
                </a:solidFill>
                <a:latin typeface="Arial"/>
                <a:ea typeface="DejaVu Sans"/>
              </a:rPr>
              <a:t> </a:t>
            </a:r>
            <a:endParaRPr lang="en-US" sz="2800" b="1" strike="noStrike" spc="-1" dirty="0">
              <a:solidFill>
                <a:srgbClr val="000000"/>
              </a:solidFill>
              <a:latin typeface="Arial"/>
              <a:ea typeface="DejaVu Sans"/>
            </a:endParaRPr>
          </a:p>
          <a:p>
            <a:pPr marL="542520" lvl="1">
              <a:lnSpc>
                <a:spcPct val="100000"/>
              </a:lnSpc>
              <a:spcBef>
                <a:spcPts val="1134"/>
              </a:spcBef>
              <a:buClr>
                <a:srgbClr val="000000"/>
              </a:buClr>
              <a:buSzPct val="75000"/>
            </a:pPr>
            <a:r>
              <a:rPr lang="vi-VN" sz="2800" b="1" strike="noStrike" spc="-1" dirty="0">
                <a:solidFill>
                  <a:srgbClr val="000000"/>
                </a:solidFill>
                <a:latin typeface="Arial"/>
                <a:ea typeface="DejaVu Sans"/>
              </a:rPr>
              <a:t>duyệt</a:t>
            </a:r>
            <a:r>
              <a:rPr lang="en-US" sz="2800" b="1" strike="noStrike" spc="-1" dirty="0">
                <a:solidFill>
                  <a:srgbClr val="000000"/>
                </a:solidFill>
                <a:latin typeface="Arial"/>
                <a:ea typeface="DejaVu Sans"/>
              </a:rPr>
              <a:t> </a:t>
            </a:r>
            <a:r>
              <a:rPr lang="vi-VN" sz="2800" b="1" strike="noStrike" spc="-1" dirty="0">
                <a:solidFill>
                  <a:srgbClr val="000000"/>
                </a:solidFill>
                <a:latin typeface="Arial"/>
                <a:ea typeface="DejaVu Sans"/>
              </a:rPr>
              <a:t>import như thế nào.</a:t>
            </a:r>
            <a:endParaRPr lang="vi-VN" sz="2800" b="0" strike="noStrike" spc="-1" dirty="0">
              <a:latin typeface="Arial"/>
            </a:endParaRPr>
          </a:p>
        </p:txBody>
      </p:sp>
      <p:sp>
        <p:nvSpPr>
          <p:cNvPr id="815" name="CustomShape 3"/>
          <p:cNvSpPr/>
          <p:nvPr/>
        </p:nvSpPr>
        <p:spPr>
          <a:xfrm>
            <a:off x="6231960" y="1604520"/>
            <a:ext cx="5351760" cy="3974760"/>
          </a:xfrm>
          <a:prstGeom prst="rect">
            <a:avLst/>
          </a:prstGeom>
          <a:noFill/>
          <a:ln>
            <a:noFill/>
          </a:ln>
        </p:spPr>
        <p:style>
          <a:lnRef idx="0">
            <a:scrgbClr r="0" g="0" b="0"/>
          </a:lnRef>
          <a:fillRef idx="0">
            <a:scrgbClr r="0" g="0" b="0"/>
          </a:fillRef>
          <a:effectRef idx="0">
            <a:scrgbClr r="0" g="0" b="0"/>
          </a:effectRef>
          <a:fontRef idx="minor"/>
        </p:style>
      </p:sp>
      <p:pic>
        <p:nvPicPr>
          <p:cNvPr id="816" name="Picture 815"/>
          <p:cNvPicPr/>
          <p:nvPr/>
        </p:nvPicPr>
        <p:blipFill>
          <a:blip r:embed="rId2"/>
          <a:stretch/>
        </p:blipFill>
        <p:spPr>
          <a:xfrm>
            <a:off x="4754880" y="1482480"/>
            <a:ext cx="7369560" cy="4550040"/>
          </a:xfrm>
          <a:prstGeom prst="rect">
            <a:avLst/>
          </a:prstGeom>
          <a:ln>
            <a:noFill/>
          </a:ln>
        </p:spPr>
      </p:pic>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CustomShape 1"/>
          <p:cNvSpPr/>
          <p:nvPr/>
        </p:nvSpPr>
        <p:spPr>
          <a:xfrm>
            <a:off x="609480" y="273600"/>
            <a:ext cx="10969920" cy="1142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a:solidFill>
                  <a:srgbClr val="000000"/>
                </a:solidFill>
                <a:latin typeface="Arial"/>
                <a:ea typeface="DejaVu Sans"/>
              </a:rPr>
              <a:t>IAT</a:t>
            </a:r>
            <a:endParaRPr lang="vi-VN" sz="4400" b="0" strike="noStrike" spc="-1">
              <a:latin typeface="Arial"/>
            </a:endParaRPr>
          </a:p>
        </p:txBody>
      </p:sp>
      <p:sp>
        <p:nvSpPr>
          <p:cNvPr id="818" name="CustomShape 2"/>
          <p:cNvSpPr/>
          <p:nvPr/>
        </p:nvSpPr>
        <p:spPr>
          <a:xfrm>
            <a:off x="609480" y="1604520"/>
            <a:ext cx="5351760" cy="39747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fontScale="79500" lnSpcReduction="20000"/>
          </a:bodyPr>
          <a:lstStyle/>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DejaVu Sans"/>
              </a:rPr>
              <a:t>Name1: Tên của dll cần import function (vd: kernel32.dll, user32.dll)</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DejaVu Sans"/>
              </a:rPr>
              <a:t>OrginalFirstThunk: RVA trỏ tới một mảng cấu trúc IMAGE_THUNK_DATA</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Microsoft YaHei"/>
              </a:rPr>
              <a:t>FirstThunk: RVA trỏ tới một mảng cấu trúc IMAGE_THUNK_DATA thứ 2.</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Microsoft YaHei"/>
              </a:rPr>
              <a:t>Mỗi IMAGE_THUNK_DATA tương ứng với 1 import function</a:t>
            </a:r>
            <a:endParaRPr lang="vi-VN" sz="3200" b="0" strike="noStrike" spc="-1">
              <a:latin typeface="Arial"/>
            </a:endParaRPr>
          </a:p>
        </p:txBody>
      </p:sp>
      <p:pic>
        <p:nvPicPr>
          <p:cNvPr id="819" name="Picture 818"/>
          <p:cNvPicPr/>
          <p:nvPr/>
        </p:nvPicPr>
        <p:blipFill>
          <a:blip r:embed="rId2"/>
          <a:stretch/>
        </p:blipFill>
        <p:spPr>
          <a:xfrm>
            <a:off x="5684760" y="1920240"/>
            <a:ext cx="4645440" cy="2292480"/>
          </a:xfrm>
          <a:prstGeom prst="rect">
            <a:avLst/>
          </a:prstGeom>
          <a:ln>
            <a:noFill/>
          </a:ln>
        </p:spPr>
      </p:pic>
      <p:pic>
        <p:nvPicPr>
          <p:cNvPr id="820" name="Picture 819"/>
          <p:cNvPicPr/>
          <p:nvPr/>
        </p:nvPicPr>
        <p:blipFill>
          <a:blip r:embed="rId3"/>
          <a:stretch/>
        </p:blipFill>
        <p:spPr>
          <a:xfrm>
            <a:off x="5943600" y="4389120"/>
            <a:ext cx="4007160" cy="1711800"/>
          </a:xfrm>
          <a:prstGeom prst="rect">
            <a:avLst/>
          </a:prstGeom>
          <a:ln>
            <a:noFill/>
          </a:ln>
        </p:spPr>
      </p:pic>
    </p:spTree>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 name="CustomShape 1"/>
          <p:cNvSpPr/>
          <p:nvPr/>
        </p:nvSpPr>
        <p:spPr>
          <a:xfrm>
            <a:off x="609480" y="273600"/>
            <a:ext cx="10969920" cy="1142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a:solidFill>
                  <a:srgbClr val="000000"/>
                </a:solidFill>
                <a:latin typeface="Arial"/>
                <a:ea typeface="DejaVu Sans"/>
              </a:rPr>
              <a:t>EAT </a:t>
            </a:r>
            <a:endParaRPr lang="vi-VN" sz="4400" b="0" strike="noStrike" spc="-1">
              <a:latin typeface="Arial"/>
            </a:endParaRPr>
          </a:p>
        </p:txBody>
      </p:sp>
      <p:sp>
        <p:nvSpPr>
          <p:cNvPr id="806" name="CustomShape 2"/>
          <p:cNvSpPr/>
          <p:nvPr/>
        </p:nvSpPr>
        <p:spPr>
          <a:xfrm>
            <a:off x="609480" y="1604520"/>
            <a:ext cx="5351760" cy="39747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lnSpcReduction="10000"/>
          </a:bodyPr>
          <a:lstStyle/>
          <a:p>
            <a:pPr marL="432000" indent="-32148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Các dll export các hàm</a:t>
            </a:r>
            <a:endParaRPr lang="vi-VN" sz="3200" b="0" strike="noStrike" spc="-1" dirty="0">
              <a:latin typeface="Arial"/>
            </a:endParaRPr>
          </a:p>
          <a:p>
            <a:pPr marL="110520">
              <a:lnSpc>
                <a:spcPct val="100000"/>
              </a:lnSpc>
              <a:spcBef>
                <a:spcPts val="1417"/>
              </a:spcBef>
              <a:buClr>
                <a:srgbClr val="000000"/>
              </a:buClr>
              <a:buSzPct val="45000"/>
            </a:pPr>
            <a:r>
              <a:rPr lang="vi-VN" sz="3200" b="0" strike="noStrike" spc="-1" dirty="0">
                <a:solidFill>
                  <a:srgbClr val="000000"/>
                </a:solidFill>
                <a:latin typeface="Arial"/>
                <a:ea typeface="DejaVu Sans"/>
              </a:rPr>
              <a:t>cho các EXE, Dll khác </a:t>
            </a:r>
            <a:endParaRPr lang="vi-VN" sz="3200" b="0" strike="noStrike" spc="-1" dirty="0">
              <a:latin typeface="Arial"/>
            </a:endParaRPr>
          </a:p>
          <a:p>
            <a:pPr marL="110520">
              <a:lnSpc>
                <a:spcPct val="100000"/>
              </a:lnSpc>
              <a:spcBef>
                <a:spcPts val="1417"/>
              </a:spcBef>
              <a:buClr>
                <a:srgbClr val="000000"/>
              </a:buClr>
              <a:buSzPct val="45000"/>
            </a:pPr>
            <a:r>
              <a:rPr lang="en-US" sz="3200" spc="-1" dirty="0">
                <a:solidFill>
                  <a:srgbClr val="000000"/>
                </a:solidFill>
                <a:latin typeface="Arial"/>
                <a:ea typeface="DejaVu Sans"/>
              </a:rPr>
              <a:t>d</a:t>
            </a:r>
            <a:r>
              <a:rPr lang="vi-VN" sz="3200" b="0" strike="noStrike" spc="-1" dirty="0">
                <a:solidFill>
                  <a:srgbClr val="000000"/>
                </a:solidFill>
                <a:latin typeface="Arial"/>
                <a:ea typeface="DejaVu Sans"/>
              </a:rPr>
              <a:t>ùng thông qua GetPro</a:t>
            </a:r>
            <a:r>
              <a:rPr lang="en-US" sz="3200" b="0" strike="noStrike" spc="-1" dirty="0">
                <a:solidFill>
                  <a:srgbClr val="000000"/>
                </a:solidFill>
                <a:latin typeface="Arial"/>
                <a:ea typeface="DejaVu Sans"/>
              </a:rPr>
              <a:t>c</a:t>
            </a:r>
            <a:r>
              <a:rPr lang="vi-VN" sz="3200" b="0" strike="noStrike" spc="-1" dirty="0">
                <a:solidFill>
                  <a:srgbClr val="000000"/>
                </a:solidFill>
                <a:latin typeface="Arial"/>
                <a:ea typeface="DejaVu Sans"/>
              </a:rPr>
              <a:t>Address</a:t>
            </a:r>
            <a:endParaRPr lang="vi-VN" sz="3200" b="0" strike="noStrike" spc="-1" dirty="0">
              <a:latin typeface="Arial"/>
            </a:endParaRPr>
          </a:p>
          <a:p>
            <a:pPr marL="432000" indent="-321480">
              <a:lnSpc>
                <a:spcPct val="100000"/>
              </a:lnSpc>
              <a:spcBef>
                <a:spcPts val="1417"/>
              </a:spcBef>
              <a:buClr>
                <a:srgbClr val="000000"/>
              </a:buClr>
              <a:buSzPct val="45000"/>
              <a:buFont typeface="Wingdings" charset="2"/>
              <a:buChar char=""/>
            </a:pPr>
            <a:r>
              <a:rPr lang="en-US" sz="3200" b="0" strike="noStrike" spc="-1" dirty="0" err="1">
                <a:solidFill>
                  <a:srgbClr val="000000"/>
                </a:solidFill>
                <a:latin typeface="Arial"/>
                <a:ea typeface="DejaVu Sans"/>
              </a:rPr>
              <a:t>Có</a:t>
            </a:r>
            <a:r>
              <a:rPr lang="en-US" sz="3200" b="0" strike="noStrike" spc="-1" dirty="0">
                <a:solidFill>
                  <a:srgbClr val="000000"/>
                </a:solidFill>
                <a:latin typeface="Arial"/>
                <a:ea typeface="DejaVu Sans"/>
              </a:rPr>
              <a:t> </a:t>
            </a:r>
            <a:r>
              <a:rPr lang="vi-VN" sz="3200" b="0" strike="noStrike" spc="-1" dirty="0">
                <a:solidFill>
                  <a:srgbClr val="000000"/>
                </a:solidFill>
                <a:latin typeface="Arial"/>
                <a:ea typeface="DejaVu Sans"/>
              </a:rPr>
              <a:t>2 kiểu expor</a:t>
            </a:r>
            <a:r>
              <a:rPr lang="en-US" sz="3200" spc="-1" dirty="0">
                <a:solidFill>
                  <a:srgbClr val="000000"/>
                </a:solidFill>
                <a:latin typeface="Arial"/>
                <a:ea typeface="DejaVu Sans"/>
              </a:rPr>
              <a:t>t:</a:t>
            </a:r>
            <a:endParaRPr lang="vi-VN" sz="32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Name</a:t>
            </a:r>
            <a:endParaRPr lang="vi-VN" sz="2800" b="0" strike="noStrike" spc="-1" dirty="0">
              <a:latin typeface="Arial"/>
            </a:endParaRPr>
          </a:p>
          <a:p>
            <a:pPr marL="864000" lvl="1" indent="-321480">
              <a:lnSpc>
                <a:spcPct val="100000"/>
              </a:lnSpc>
              <a:spcBef>
                <a:spcPts val="1134"/>
              </a:spcBef>
              <a:buClr>
                <a:srgbClr val="000000"/>
              </a:buClr>
              <a:buSzPct val="75000"/>
              <a:buFont typeface="Symbol"/>
              <a:buChar char=""/>
            </a:pPr>
            <a:r>
              <a:rPr lang="vi-VN" sz="2800" b="0" strike="noStrike" spc="-1" dirty="0">
                <a:solidFill>
                  <a:srgbClr val="000000"/>
                </a:solidFill>
                <a:latin typeface="Arial"/>
                <a:ea typeface="DejaVu Sans"/>
              </a:rPr>
              <a:t>ordinal</a:t>
            </a:r>
            <a:endParaRPr lang="vi-VN" sz="2800" b="0" strike="noStrike" spc="-1" dirty="0">
              <a:latin typeface="Arial"/>
            </a:endParaRPr>
          </a:p>
        </p:txBody>
      </p:sp>
      <p:sp>
        <p:nvSpPr>
          <p:cNvPr id="807" name="CustomShape 3"/>
          <p:cNvSpPr/>
          <p:nvPr/>
        </p:nvSpPr>
        <p:spPr>
          <a:xfrm>
            <a:off x="6231960" y="1604520"/>
            <a:ext cx="5351760" cy="3974760"/>
          </a:xfrm>
          <a:prstGeom prst="rect">
            <a:avLst/>
          </a:prstGeom>
          <a:noFill/>
          <a:ln>
            <a:noFill/>
          </a:ln>
        </p:spPr>
        <p:style>
          <a:lnRef idx="0">
            <a:scrgbClr r="0" g="0" b="0"/>
          </a:lnRef>
          <a:fillRef idx="0">
            <a:scrgbClr r="0" g="0" b="0"/>
          </a:fillRef>
          <a:effectRef idx="0">
            <a:scrgbClr r="0" g="0" b="0"/>
          </a:effectRef>
          <a:fontRef idx="minor"/>
        </p:style>
      </p:sp>
      <p:pic>
        <p:nvPicPr>
          <p:cNvPr id="808" name="Picture 807"/>
          <p:cNvPicPr/>
          <p:nvPr/>
        </p:nvPicPr>
        <p:blipFill>
          <a:blip r:embed="rId2"/>
          <a:srcRect l="1028"/>
          <a:stretch/>
        </p:blipFill>
        <p:spPr>
          <a:xfrm>
            <a:off x="5192784" y="1604520"/>
            <a:ext cx="6946055" cy="5016960"/>
          </a:xfrm>
          <a:prstGeom prst="rect">
            <a:avLst/>
          </a:prstGeom>
          <a:ln>
            <a:noFill/>
          </a:ln>
        </p:spPr>
      </p:pic>
    </p:spTree>
  </p:cSld>
  <p:clrMapOvr>
    <a:masterClrMapping/>
  </p:clrMapOvr>
  <p:transition spd="slow">
    <p:randomBar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CustomShape 1"/>
          <p:cNvSpPr/>
          <p:nvPr/>
        </p:nvSpPr>
        <p:spPr>
          <a:xfrm>
            <a:off x="609480" y="273600"/>
            <a:ext cx="10969920" cy="1142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dirty="0">
                <a:solidFill>
                  <a:srgbClr val="000000"/>
                </a:solidFill>
                <a:latin typeface="Arial"/>
                <a:ea typeface="DejaVu Sans"/>
              </a:rPr>
              <a:t>EAT </a:t>
            </a:r>
            <a:endParaRPr lang="vi-VN" sz="4400" b="0" strike="noStrike" spc="-1" dirty="0">
              <a:latin typeface="Arial"/>
            </a:endParaRPr>
          </a:p>
        </p:txBody>
      </p:sp>
      <p:sp>
        <p:nvSpPr>
          <p:cNvPr id="810" name="CustomShape 2"/>
          <p:cNvSpPr/>
          <p:nvPr/>
        </p:nvSpPr>
        <p:spPr>
          <a:xfrm>
            <a:off x="609480" y="1604520"/>
            <a:ext cx="5351760" cy="39747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fontScale="57000" lnSpcReduction="20000"/>
          </a:bodyPr>
          <a:lstStyle/>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DejaVu Sans"/>
              </a:rPr>
              <a:t>nName: tên của module</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DejaVu Sans"/>
              </a:rPr>
              <a:t>NumberOfFuntions: Số hàm export </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DejaVu Sans"/>
              </a:rPr>
              <a:t>NumnerOfName: Số hàm export by name</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Microsoft YaHei"/>
              </a:rPr>
              <a:t>AddressOfFuntion: RVA trỏ tới các hàm (EAT)</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Microsoft YaHei"/>
              </a:rPr>
              <a:t>AddressOfName: RVA trỏ tới mảng chứa name của các hàm  (ENT)</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a:solidFill>
                  <a:srgbClr val="000000"/>
                </a:solidFill>
                <a:latin typeface="Arial"/>
                <a:ea typeface="Microsoft YaHei"/>
              </a:rPr>
              <a:t>AddressOfNameOrdinal: RAV trỏ tới mảng 16bit chứa ordinal của các name functions</a:t>
            </a:r>
            <a:endParaRPr lang="vi-VN" sz="3200" b="0" strike="noStrike" spc="-1">
              <a:latin typeface="Arial"/>
            </a:endParaRPr>
          </a:p>
          <a:p>
            <a:pPr marL="432000" indent="-321480">
              <a:lnSpc>
                <a:spcPct val="100000"/>
              </a:lnSpc>
              <a:spcBef>
                <a:spcPts val="1417"/>
              </a:spcBef>
              <a:buClr>
                <a:srgbClr val="000000"/>
              </a:buClr>
              <a:buSzPct val="45000"/>
              <a:buFont typeface="Wingdings" charset="2"/>
              <a:buChar char=""/>
            </a:pPr>
            <a:r>
              <a:rPr lang="vi-VN" sz="3200" b="1" strike="noStrike" spc="-1">
                <a:solidFill>
                  <a:srgbClr val="000000"/>
                </a:solidFill>
                <a:latin typeface="Arial"/>
                <a:ea typeface="Microsoft YaHei"/>
              </a:rPr>
              <a:t>??? Một module export 10 hàm, các hệ điều hành tìm EAT của 1 hàm bất kỳ với tên “xyz”</a:t>
            </a:r>
            <a:r>
              <a:rPr lang="vi-VN" sz="3200" b="0" strike="noStrike" spc="-1">
                <a:solidFill>
                  <a:srgbClr val="000000"/>
                </a:solidFill>
                <a:latin typeface="Arial"/>
                <a:ea typeface="Microsoft YaHei"/>
              </a:rPr>
              <a:t>.</a:t>
            </a:r>
            <a:endParaRPr lang="vi-VN" sz="3200" b="0" strike="noStrike" spc="-1">
              <a:latin typeface="Arial"/>
            </a:endParaRPr>
          </a:p>
        </p:txBody>
      </p:sp>
      <p:sp>
        <p:nvSpPr>
          <p:cNvPr id="811" name="CustomShape 3"/>
          <p:cNvSpPr/>
          <p:nvPr/>
        </p:nvSpPr>
        <p:spPr>
          <a:xfrm>
            <a:off x="6231960" y="1604520"/>
            <a:ext cx="5351760" cy="3974760"/>
          </a:xfrm>
          <a:prstGeom prst="rect">
            <a:avLst/>
          </a:prstGeom>
          <a:noFill/>
          <a:ln>
            <a:noFill/>
          </a:ln>
        </p:spPr>
        <p:style>
          <a:lnRef idx="0">
            <a:scrgbClr r="0" g="0" b="0"/>
          </a:lnRef>
          <a:fillRef idx="0">
            <a:scrgbClr r="0" g="0" b="0"/>
          </a:fillRef>
          <a:effectRef idx="0">
            <a:scrgbClr r="0" g="0" b="0"/>
          </a:effectRef>
          <a:fontRef idx="minor"/>
        </p:style>
      </p:sp>
      <p:pic>
        <p:nvPicPr>
          <p:cNvPr id="812" name="Picture 811"/>
          <p:cNvPicPr/>
          <p:nvPr/>
        </p:nvPicPr>
        <p:blipFill>
          <a:blip r:embed="rId2"/>
          <a:stretch/>
        </p:blipFill>
        <p:spPr>
          <a:xfrm>
            <a:off x="6231960" y="1645920"/>
            <a:ext cx="5672880" cy="3933360"/>
          </a:xfrm>
          <a:prstGeom prst="rect">
            <a:avLst/>
          </a:prstGeom>
          <a:ln>
            <a:noFill/>
          </a:ln>
        </p:spPr>
      </p:pic>
    </p:spTree>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Title 2">
            <a:extLst>
              <a:ext uri="{FF2B5EF4-FFF2-40B4-BE49-F238E27FC236}">
                <a16:creationId xmlns:a16="http://schemas.microsoft.com/office/drawing/2014/main" id="{BD336696-B905-4A06-871E-BA625FF8A32A}"/>
              </a:ext>
            </a:extLst>
          </p:cNvPr>
          <p:cNvSpPr>
            <a:spLocks noGrp="1"/>
          </p:cNvSpPr>
          <p:nvPr>
            <p:ph type="title"/>
          </p:nvPr>
        </p:nvSpPr>
        <p:spPr>
          <a:xfrm>
            <a:off x="1069848" y="484632"/>
            <a:ext cx="10058400" cy="1609344"/>
          </a:xfrm>
        </p:spPr>
        <p:txBody>
          <a:bodyPr vert="horz" lIns="91440" tIns="45720" rIns="91440" bIns="45720" rtlCol="0" anchor="ctr">
            <a:normAutofit/>
          </a:bodyPr>
          <a:lstStyle/>
          <a:p>
            <a:pPr marL="514350" indent="-514350"/>
            <a:r>
              <a:rPr lang="en-US" altLang="en-US" dirty="0">
                <a:solidFill>
                  <a:srgbClr val="0070C0"/>
                </a:solidFill>
              </a:rPr>
              <a:t>II.4 Một </a:t>
            </a:r>
            <a:r>
              <a:rPr lang="en-US" altLang="en-US" dirty="0" err="1">
                <a:solidFill>
                  <a:srgbClr val="0070C0"/>
                </a:solidFill>
              </a:rPr>
              <a:t>số</a:t>
            </a:r>
            <a:r>
              <a:rPr lang="en-US" altLang="en-US" dirty="0">
                <a:solidFill>
                  <a:srgbClr val="0070C0"/>
                </a:solidFill>
              </a:rPr>
              <a:t> công </a:t>
            </a:r>
            <a:r>
              <a:rPr lang="en-US" altLang="en-US" dirty="0" err="1">
                <a:solidFill>
                  <a:srgbClr val="0070C0"/>
                </a:solidFill>
              </a:rPr>
              <a:t>thức</a:t>
            </a:r>
            <a:r>
              <a:rPr lang="en-US" altLang="en-US" dirty="0">
                <a:solidFill>
                  <a:srgbClr val="0070C0"/>
                </a:solidFill>
              </a:rPr>
              <a:t> </a:t>
            </a:r>
            <a:r>
              <a:rPr lang="en-US" altLang="en-US" dirty="0" err="1">
                <a:solidFill>
                  <a:srgbClr val="0070C0"/>
                </a:solidFill>
              </a:rPr>
              <a:t>chuyển</a:t>
            </a:r>
            <a:r>
              <a:rPr lang="en-US" altLang="en-US" dirty="0">
                <a:solidFill>
                  <a:srgbClr val="0070C0"/>
                </a:solidFill>
              </a:rPr>
              <a:t> </a:t>
            </a:r>
            <a:r>
              <a:rPr lang="en-US" altLang="en-US" dirty="0" err="1">
                <a:solidFill>
                  <a:srgbClr val="0070C0"/>
                </a:solidFill>
              </a:rPr>
              <a:t>đổi</a:t>
            </a:r>
            <a:r>
              <a:rPr lang="en-US" altLang="en-US" dirty="0">
                <a:solidFill>
                  <a:srgbClr val="0070C0"/>
                </a:solidFill>
              </a:rPr>
              <a:t> </a:t>
            </a:r>
            <a:r>
              <a:rPr lang="en-US" altLang="en-US" dirty="0" err="1">
                <a:solidFill>
                  <a:srgbClr val="0070C0"/>
                </a:solidFill>
              </a:rPr>
              <a:t>quan</a:t>
            </a:r>
            <a:r>
              <a:rPr lang="en-US" altLang="en-US" dirty="0">
                <a:solidFill>
                  <a:srgbClr val="0070C0"/>
                </a:solidFill>
              </a:rPr>
              <a:t> </a:t>
            </a:r>
            <a:r>
              <a:rPr lang="en-US" altLang="en-US" dirty="0" err="1">
                <a:solidFill>
                  <a:srgbClr val="0070C0"/>
                </a:solidFill>
              </a:rPr>
              <a:t>trọng</a:t>
            </a:r>
            <a:endParaRPr lang="en-US" altLang="en-US" dirty="0">
              <a:solidFill>
                <a:srgbClr val="0070C0"/>
              </a:solidFill>
            </a:endParaRPr>
          </a:p>
        </p:txBody>
      </p:sp>
      <p:sp>
        <p:nvSpPr>
          <p:cNvPr id="18437" name="Rectangle 72">
            <a:extLst>
              <a:ext uri="{FF2B5EF4-FFF2-40B4-BE49-F238E27FC236}">
                <a16:creationId xmlns:a16="http://schemas.microsoft.com/office/drawing/2014/main" id="{3FD711E9-7F79-40A9-8D9E-4AE293C15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6800" y="2013293"/>
            <a:ext cx="10058400"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436" name="TextBox 6">
            <a:extLst>
              <a:ext uri="{FF2B5EF4-FFF2-40B4-BE49-F238E27FC236}">
                <a16:creationId xmlns:a16="http://schemas.microsoft.com/office/drawing/2014/main" id="{06D2E0E7-242C-400B-A310-ECBAFA610BE5}"/>
              </a:ext>
            </a:extLst>
          </p:cNvPr>
          <p:cNvGraphicFramePr/>
          <p:nvPr>
            <p:extLst>
              <p:ext uri="{D42A27DB-BD31-4B8C-83A1-F6EECF244321}">
                <p14:modId xmlns:p14="http://schemas.microsoft.com/office/powerpoint/2010/main" val="3983767431"/>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35918EA1-4D57-4C64-879B-F60595AB08DE}"/>
              </a:ext>
            </a:extLst>
          </p:cNvPr>
          <p:cNvSpPr>
            <a:spLocks noGrp="1"/>
          </p:cNvSpPr>
          <p:nvPr>
            <p:ph type="sldNum" sz="quarter" idx="12"/>
          </p:nvPr>
        </p:nvSpPr>
        <p:spPr/>
        <p:txBody>
          <a:bodyPr/>
          <a:lstStyle/>
          <a:p>
            <a:fld id="{4FAB73BC-B049-4115-A692-8D63A059BFB8}" type="slidenum">
              <a:rPr lang="en-US" smtClean="0"/>
              <a:t>32</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1000"/>
                                        <p:tgtEl>
                                          <p:spTgt spid="18434"/>
                                        </p:tgtEl>
                                      </p:cBhvr>
                                    </p:animEffect>
                                    <p:anim calcmode="lin" valueType="num">
                                      <p:cBhvr>
                                        <p:cTn id="8" dur="1000" fill="hold"/>
                                        <p:tgtEl>
                                          <p:spTgt spid="18434"/>
                                        </p:tgtEl>
                                        <p:attrNameLst>
                                          <p:attrName>ppt_x</p:attrName>
                                        </p:attrNameLst>
                                      </p:cBhvr>
                                      <p:tavLst>
                                        <p:tav tm="0">
                                          <p:val>
                                            <p:strVal val="#ppt_x"/>
                                          </p:val>
                                        </p:tav>
                                        <p:tav tm="100000">
                                          <p:val>
                                            <p:strVal val="#ppt_x"/>
                                          </p:val>
                                        </p:tav>
                                      </p:tavLst>
                                    </p:anim>
                                    <p:anim calcmode="lin" valueType="num">
                                      <p:cBhvr>
                                        <p:cTn id="9" dur="1000" fill="hold"/>
                                        <p:tgtEl>
                                          <p:spTgt spid="184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8436"/>
                                        </p:tgtEl>
                                        <p:attrNameLst>
                                          <p:attrName>style.visibility</p:attrName>
                                        </p:attrNameLst>
                                      </p:cBhvr>
                                      <p:to>
                                        <p:strVal val="visible"/>
                                      </p:to>
                                    </p:set>
                                    <p:animEffect transition="in" filter="wipe(down)">
                                      <p:cBhvr>
                                        <p:cTn id="14" dur="580">
                                          <p:stCondLst>
                                            <p:cond delay="0"/>
                                          </p:stCondLst>
                                        </p:cTn>
                                        <p:tgtEl>
                                          <p:spTgt spid="18436"/>
                                        </p:tgtEl>
                                      </p:cBhvr>
                                    </p:animEffect>
                                    <p:anim calcmode="lin" valueType="num">
                                      <p:cBhvr>
                                        <p:cTn id="15" dur="1822" tmFilter="0,0; 0.14,0.36; 0.43,0.73; 0.71,0.91; 1.0,1.0">
                                          <p:stCondLst>
                                            <p:cond delay="0"/>
                                          </p:stCondLst>
                                        </p:cTn>
                                        <p:tgtEl>
                                          <p:spTgt spid="18436"/>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8436"/>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8436"/>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8436"/>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8436"/>
                                        </p:tgtEl>
                                        <p:attrNameLst>
                                          <p:attrName>ppt_y</p:attrName>
                                        </p:attrNameLst>
                                      </p:cBhvr>
                                      <p:tavLst>
                                        <p:tav tm="0" fmla="#ppt_y-sin(pi*$)/81">
                                          <p:val>
                                            <p:fltVal val="0"/>
                                          </p:val>
                                        </p:tav>
                                        <p:tav tm="100000">
                                          <p:val>
                                            <p:fltVal val="1"/>
                                          </p:val>
                                        </p:tav>
                                      </p:tavLst>
                                    </p:anim>
                                    <p:animScale>
                                      <p:cBhvr>
                                        <p:cTn id="20" dur="26">
                                          <p:stCondLst>
                                            <p:cond delay="650"/>
                                          </p:stCondLst>
                                        </p:cTn>
                                        <p:tgtEl>
                                          <p:spTgt spid="18436"/>
                                        </p:tgtEl>
                                      </p:cBhvr>
                                      <p:to x="100000" y="60000"/>
                                    </p:animScale>
                                    <p:animScale>
                                      <p:cBhvr>
                                        <p:cTn id="21" dur="166" decel="50000">
                                          <p:stCondLst>
                                            <p:cond delay="676"/>
                                          </p:stCondLst>
                                        </p:cTn>
                                        <p:tgtEl>
                                          <p:spTgt spid="18436"/>
                                        </p:tgtEl>
                                      </p:cBhvr>
                                      <p:to x="100000" y="100000"/>
                                    </p:animScale>
                                    <p:animScale>
                                      <p:cBhvr>
                                        <p:cTn id="22" dur="26">
                                          <p:stCondLst>
                                            <p:cond delay="1312"/>
                                          </p:stCondLst>
                                        </p:cTn>
                                        <p:tgtEl>
                                          <p:spTgt spid="18436"/>
                                        </p:tgtEl>
                                      </p:cBhvr>
                                      <p:to x="100000" y="80000"/>
                                    </p:animScale>
                                    <p:animScale>
                                      <p:cBhvr>
                                        <p:cTn id="23" dur="166" decel="50000">
                                          <p:stCondLst>
                                            <p:cond delay="1338"/>
                                          </p:stCondLst>
                                        </p:cTn>
                                        <p:tgtEl>
                                          <p:spTgt spid="18436"/>
                                        </p:tgtEl>
                                      </p:cBhvr>
                                      <p:to x="100000" y="100000"/>
                                    </p:animScale>
                                    <p:animScale>
                                      <p:cBhvr>
                                        <p:cTn id="24" dur="26">
                                          <p:stCondLst>
                                            <p:cond delay="1642"/>
                                          </p:stCondLst>
                                        </p:cTn>
                                        <p:tgtEl>
                                          <p:spTgt spid="18436"/>
                                        </p:tgtEl>
                                      </p:cBhvr>
                                      <p:to x="100000" y="90000"/>
                                    </p:animScale>
                                    <p:animScale>
                                      <p:cBhvr>
                                        <p:cTn id="25" dur="166" decel="50000">
                                          <p:stCondLst>
                                            <p:cond delay="1668"/>
                                          </p:stCondLst>
                                        </p:cTn>
                                        <p:tgtEl>
                                          <p:spTgt spid="18436"/>
                                        </p:tgtEl>
                                      </p:cBhvr>
                                      <p:to x="100000" y="100000"/>
                                    </p:animScale>
                                    <p:animScale>
                                      <p:cBhvr>
                                        <p:cTn id="26" dur="26">
                                          <p:stCondLst>
                                            <p:cond delay="1808"/>
                                          </p:stCondLst>
                                        </p:cTn>
                                        <p:tgtEl>
                                          <p:spTgt spid="18436"/>
                                        </p:tgtEl>
                                      </p:cBhvr>
                                      <p:to x="100000" y="95000"/>
                                    </p:animScale>
                                    <p:animScale>
                                      <p:cBhvr>
                                        <p:cTn id="27" dur="166" decel="50000">
                                          <p:stCondLst>
                                            <p:cond delay="1834"/>
                                          </p:stCondLst>
                                        </p:cTn>
                                        <p:tgtEl>
                                          <p:spTgt spid="1843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Graphic spid="18436"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9B0B6-AA43-458D-90F9-926F858A1AE1}"/>
              </a:ext>
            </a:extLst>
          </p:cNvPr>
          <p:cNvSpPr>
            <a:spLocks noGrp="1"/>
          </p:cNvSpPr>
          <p:nvPr>
            <p:ph type="title"/>
          </p:nvPr>
        </p:nvSpPr>
        <p:spPr>
          <a:xfrm>
            <a:off x="516174" y="300075"/>
            <a:ext cx="10058400" cy="1609344"/>
          </a:xfrm>
        </p:spPr>
        <p:txBody>
          <a:bodyPr/>
          <a:lstStyle/>
          <a:p>
            <a:r>
              <a:rPr lang="en-US" altLang="en-US" dirty="0"/>
              <a:t>II.5: </a:t>
            </a:r>
            <a:r>
              <a:rPr lang="en-US" altLang="en-US" dirty="0" err="1"/>
              <a:t>Kết</a:t>
            </a:r>
            <a:r>
              <a:rPr lang="en-US" altLang="en-US" dirty="0"/>
              <a:t> </a:t>
            </a:r>
            <a:r>
              <a:rPr lang="en-US" altLang="en-US" dirty="0" err="1"/>
              <a:t>Luận</a:t>
            </a:r>
            <a:endParaRPr lang="en-US" dirty="0"/>
          </a:p>
        </p:txBody>
      </p:sp>
      <p:pic>
        <p:nvPicPr>
          <p:cNvPr id="5" name="Content Placeholder 4">
            <a:extLst>
              <a:ext uri="{FF2B5EF4-FFF2-40B4-BE49-F238E27FC236}">
                <a16:creationId xmlns:a16="http://schemas.microsoft.com/office/drawing/2014/main" id="{281B5CAA-5B02-43E4-81D0-68055B42AE51}"/>
              </a:ext>
            </a:extLst>
          </p:cNvPr>
          <p:cNvPicPr>
            <a:picLocks noGrp="1" noChangeAspect="1"/>
          </p:cNvPicPr>
          <p:nvPr>
            <p:ph idx="1"/>
          </p:nvPr>
        </p:nvPicPr>
        <p:blipFill>
          <a:blip r:embed="rId2"/>
          <a:stretch>
            <a:fillRect/>
          </a:stretch>
        </p:blipFill>
        <p:spPr>
          <a:xfrm>
            <a:off x="2432958" y="30527"/>
            <a:ext cx="7217228" cy="6779348"/>
          </a:xfrm>
          <a:prstGeom prst="rect">
            <a:avLst/>
          </a:prstGeom>
        </p:spPr>
      </p:pic>
      <p:pic>
        <p:nvPicPr>
          <p:cNvPr id="6" name="Picture 5">
            <a:extLst>
              <a:ext uri="{FF2B5EF4-FFF2-40B4-BE49-F238E27FC236}">
                <a16:creationId xmlns:a16="http://schemas.microsoft.com/office/drawing/2014/main" id="{0F6DBA04-FFD2-4732-8542-3F228279F60C}"/>
              </a:ext>
            </a:extLst>
          </p:cNvPr>
          <p:cNvPicPr>
            <a:picLocks noChangeAspect="1"/>
          </p:cNvPicPr>
          <p:nvPr/>
        </p:nvPicPr>
        <p:blipFill>
          <a:blip r:embed="rId3"/>
          <a:stretch>
            <a:fillRect/>
          </a:stretch>
        </p:blipFill>
        <p:spPr>
          <a:xfrm>
            <a:off x="2771902" y="163148"/>
            <a:ext cx="8286750" cy="6677025"/>
          </a:xfrm>
          <a:prstGeom prst="rect">
            <a:avLst/>
          </a:prstGeom>
        </p:spPr>
      </p:pic>
      <p:sp>
        <p:nvSpPr>
          <p:cNvPr id="3" name="Slide Number Placeholder 2">
            <a:extLst>
              <a:ext uri="{FF2B5EF4-FFF2-40B4-BE49-F238E27FC236}">
                <a16:creationId xmlns:a16="http://schemas.microsoft.com/office/drawing/2014/main" id="{92210E66-6BFB-4AC4-945E-E5C37BB9E670}"/>
              </a:ext>
            </a:extLst>
          </p:cNvPr>
          <p:cNvSpPr>
            <a:spLocks noGrp="1"/>
          </p:cNvSpPr>
          <p:nvPr>
            <p:ph type="sldNum" sz="quarter" idx="12"/>
          </p:nvPr>
        </p:nvSpPr>
        <p:spPr/>
        <p:txBody>
          <a:bodyPr/>
          <a:lstStyle/>
          <a:p>
            <a:fld id="{4FAB73BC-B049-4115-A692-8D63A059BFB8}" type="slidenum">
              <a:rPr lang="en-US" smtClean="0"/>
              <a:t>33</a:t>
            </a:fld>
            <a:endParaRPr lang="en-US" dirty="0"/>
          </a:p>
        </p:txBody>
      </p:sp>
    </p:spTree>
    <p:extLst>
      <p:ext uri="{BB962C8B-B14F-4D97-AF65-F5344CB8AC3E}">
        <p14:creationId xmlns:p14="http://schemas.microsoft.com/office/powerpoint/2010/main" val="377894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CustomShape 1"/>
          <p:cNvSpPr/>
          <p:nvPr/>
        </p:nvSpPr>
        <p:spPr>
          <a:xfrm>
            <a:off x="609480" y="273600"/>
            <a:ext cx="10969920" cy="11422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vi-VN" sz="4400" b="0" strike="noStrike" spc="-1">
                <a:solidFill>
                  <a:srgbClr val="000000"/>
                </a:solidFill>
                <a:latin typeface="Arial"/>
                <a:ea typeface="DejaVu Sans"/>
              </a:rPr>
              <a:t>Bài tập</a:t>
            </a:r>
            <a:endParaRPr lang="vi-VN" sz="4400" b="0" strike="noStrike" spc="-1">
              <a:latin typeface="Arial"/>
            </a:endParaRPr>
          </a:p>
        </p:txBody>
      </p:sp>
      <p:sp>
        <p:nvSpPr>
          <p:cNvPr id="840" name="CustomShape 2"/>
          <p:cNvSpPr/>
          <p:nvPr/>
        </p:nvSpPr>
        <p:spPr>
          <a:xfrm>
            <a:off x="609480" y="1604520"/>
            <a:ext cx="10969920" cy="397476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marL="432000" indent="-32148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1. Fix một file đã bị lỗi cấu trúc PE file để chạy được. </a:t>
            </a:r>
            <a:endParaRPr lang="vi-VN" sz="3200" b="0" strike="noStrike" spc="-1" dirty="0">
              <a:latin typeface="Arial"/>
            </a:endParaRPr>
          </a:p>
          <a:p>
            <a:pPr marL="432000" indent="-321480">
              <a:lnSpc>
                <a:spcPct val="100000"/>
              </a:lnSpc>
              <a:spcBef>
                <a:spcPts val="1417"/>
              </a:spcBef>
              <a:buClr>
                <a:srgbClr val="000000"/>
              </a:buClr>
              <a:buSzPct val="45000"/>
              <a:buFont typeface="Wingdings" charset="2"/>
              <a:buChar char=""/>
            </a:pPr>
            <a:r>
              <a:rPr lang="vi-VN" sz="3200" b="0" strike="noStrike" spc="-1" dirty="0">
                <a:solidFill>
                  <a:srgbClr val="000000"/>
                </a:solidFill>
                <a:latin typeface="Arial"/>
                <a:ea typeface="DejaVu Sans"/>
              </a:rPr>
              <a:t>2. Viết chương trình đọc thông tin PE file: PE, NumnerOfSection, ImageBase, EP, VirtualSize, VirtualAddress, RawAddress, RawSize</a:t>
            </a:r>
            <a:r>
              <a:rPr lang="en-US" sz="3200" b="0" strike="noStrike" spc="-1" dirty="0">
                <a:solidFill>
                  <a:srgbClr val="000000"/>
                </a:solidFill>
                <a:latin typeface="Arial"/>
                <a:ea typeface="DejaVu Sans"/>
              </a:rPr>
              <a:t>, </a:t>
            </a:r>
            <a:r>
              <a:rPr lang="en-US" sz="3200" b="0" strike="noStrike" spc="-1" dirty="0" err="1">
                <a:solidFill>
                  <a:srgbClr val="000000"/>
                </a:solidFill>
                <a:latin typeface="Arial"/>
                <a:ea typeface="DejaVu Sans"/>
              </a:rPr>
              <a:t>Bảng</a:t>
            </a:r>
            <a:r>
              <a:rPr lang="en-US" sz="3200" b="0" strike="noStrike" spc="-1" dirty="0">
                <a:solidFill>
                  <a:srgbClr val="000000"/>
                </a:solidFill>
                <a:latin typeface="Arial"/>
                <a:ea typeface="DejaVu Sans"/>
              </a:rPr>
              <a:t> </a:t>
            </a:r>
            <a:r>
              <a:rPr lang="en-US" sz="3200" b="0" strike="noStrike" spc="-1" dirty="0" err="1">
                <a:solidFill>
                  <a:srgbClr val="000000"/>
                </a:solidFill>
                <a:latin typeface="Arial"/>
                <a:ea typeface="DejaVu Sans"/>
              </a:rPr>
              <a:t>reloc</a:t>
            </a:r>
            <a:r>
              <a:rPr lang="en-US" sz="3200" b="0" strike="noStrike" spc="-1" dirty="0">
                <a:solidFill>
                  <a:srgbClr val="000000"/>
                </a:solidFill>
                <a:latin typeface="Arial"/>
                <a:ea typeface="DejaVu Sans"/>
              </a:rPr>
              <a:t>, </a:t>
            </a:r>
            <a:r>
              <a:rPr lang="en-US" sz="3200" b="0" strike="noStrike" spc="-1" dirty="0" err="1">
                <a:solidFill>
                  <a:srgbClr val="000000"/>
                </a:solidFill>
                <a:latin typeface="Arial"/>
                <a:ea typeface="DejaVu Sans"/>
              </a:rPr>
              <a:t>Bảng</a:t>
            </a:r>
            <a:r>
              <a:rPr lang="en-US" sz="3200" b="0" strike="noStrike" spc="-1" dirty="0">
                <a:solidFill>
                  <a:srgbClr val="000000"/>
                </a:solidFill>
                <a:latin typeface="Arial"/>
                <a:ea typeface="DejaVu Sans"/>
              </a:rPr>
              <a:t> IAT, </a:t>
            </a:r>
            <a:r>
              <a:rPr lang="en-US" sz="3200" b="0" strike="noStrike" spc="-1" dirty="0" err="1">
                <a:solidFill>
                  <a:srgbClr val="000000"/>
                </a:solidFill>
                <a:latin typeface="Arial"/>
                <a:ea typeface="DejaVu Sans"/>
              </a:rPr>
              <a:t>Bảng</a:t>
            </a:r>
            <a:r>
              <a:rPr lang="en-US" sz="3200" b="0" strike="noStrike" spc="-1" dirty="0">
                <a:solidFill>
                  <a:srgbClr val="000000"/>
                </a:solidFill>
                <a:latin typeface="Arial"/>
                <a:ea typeface="DejaVu Sans"/>
              </a:rPr>
              <a:t> EAT </a:t>
            </a:r>
            <a:r>
              <a:rPr lang="en-US" sz="3200" b="0" strike="noStrike" spc="-1" dirty="0" err="1">
                <a:solidFill>
                  <a:srgbClr val="000000"/>
                </a:solidFill>
                <a:latin typeface="Arial"/>
                <a:ea typeface="DejaVu Sans"/>
              </a:rPr>
              <a:t>bằn</a:t>
            </a:r>
            <a:r>
              <a:rPr lang="en-US" sz="3200" spc="-1" dirty="0" err="1">
                <a:solidFill>
                  <a:srgbClr val="000000"/>
                </a:solidFill>
                <a:latin typeface="Arial"/>
                <a:ea typeface="DejaVu Sans"/>
              </a:rPr>
              <a:t>g</a:t>
            </a:r>
            <a:r>
              <a:rPr lang="en-US" sz="3200" spc="-1" dirty="0">
                <a:solidFill>
                  <a:srgbClr val="000000"/>
                </a:solidFill>
                <a:latin typeface="Arial"/>
                <a:ea typeface="DejaVu Sans"/>
              </a:rPr>
              <a:t> </a:t>
            </a:r>
            <a:r>
              <a:rPr lang="en-US" sz="3200" spc="-1" dirty="0" err="1">
                <a:solidFill>
                  <a:srgbClr val="000000"/>
                </a:solidFill>
                <a:latin typeface="Arial"/>
                <a:ea typeface="DejaVu Sans"/>
              </a:rPr>
              <a:t>ngôn</a:t>
            </a:r>
            <a:r>
              <a:rPr lang="en-US" sz="3200" spc="-1" dirty="0">
                <a:solidFill>
                  <a:srgbClr val="000000"/>
                </a:solidFill>
                <a:latin typeface="Arial"/>
                <a:ea typeface="DejaVu Sans"/>
              </a:rPr>
              <a:t> </a:t>
            </a:r>
            <a:r>
              <a:rPr lang="en-US" sz="3200" spc="-1" dirty="0" err="1">
                <a:solidFill>
                  <a:srgbClr val="000000"/>
                </a:solidFill>
                <a:latin typeface="Arial"/>
                <a:ea typeface="DejaVu Sans"/>
              </a:rPr>
              <a:t>ngữ</a:t>
            </a:r>
            <a:r>
              <a:rPr lang="en-US" sz="3200" spc="-1">
                <a:solidFill>
                  <a:srgbClr val="000000"/>
                </a:solidFill>
                <a:latin typeface="Arial"/>
                <a:ea typeface="DejaVu Sans"/>
              </a:rPr>
              <a:t> ASM</a:t>
            </a:r>
            <a:r>
              <a:rPr lang="vi-VN" sz="3200" b="0" strike="noStrike" spc="-1">
                <a:solidFill>
                  <a:srgbClr val="000000"/>
                </a:solidFill>
                <a:latin typeface="Arial"/>
                <a:ea typeface="DejaVu Sans"/>
              </a:rPr>
              <a:t>.</a:t>
            </a:r>
            <a:endParaRPr lang="en-US" sz="3200" b="0" strike="noStrike" spc="-1" dirty="0">
              <a:solidFill>
                <a:srgbClr val="000000"/>
              </a:solidFill>
              <a:latin typeface="Arial"/>
              <a:ea typeface="DejaVu Sans"/>
            </a:endParaRPr>
          </a:p>
          <a:p>
            <a:pPr marL="110520">
              <a:lnSpc>
                <a:spcPct val="100000"/>
              </a:lnSpc>
              <a:spcBef>
                <a:spcPts val="1417"/>
              </a:spcBef>
              <a:buClr>
                <a:srgbClr val="000000"/>
              </a:buClr>
              <a:buSzPct val="45000"/>
            </a:pPr>
            <a:endParaRPr lang="en-US" sz="3200" b="0" strike="noStrike" spc="-1" dirty="0">
              <a:solidFill>
                <a:srgbClr val="000000"/>
              </a:solidFill>
              <a:latin typeface="Arial"/>
              <a:ea typeface="DejaVu Sans"/>
            </a:endParaRPr>
          </a:p>
        </p:txBody>
      </p:sp>
    </p:spTree>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2">
            <a:extLst>
              <a:ext uri="{FF2B5EF4-FFF2-40B4-BE49-F238E27FC236}">
                <a16:creationId xmlns:a16="http://schemas.microsoft.com/office/drawing/2014/main" id="{189E0DB7-DFD3-4FFF-BE94-32DD39E9BE77}"/>
              </a:ext>
            </a:extLst>
          </p:cNvPr>
          <p:cNvSpPr>
            <a:spLocks noGrp="1"/>
          </p:cNvSpPr>
          <p:nvPr>
            <p:ph type="title"/>
          </p:nvPr>
        </p:nvSpPr>
        <p:spPr/>
        <p:txBody>
          <a:bodyPr/>
          <a:lstStyle/>
          <a:p>
            <a:r>
              <a:rPr lang="en-US" altLang="en-US" dirty="0">
                <a:solidFill>
                  <a:srgbClr val="0070C0"/>
                </a:solidFill>
              </a:rPr>
              <a:t>III: </a:t>
            </a:r>
            <a:r>
              <a:rPr lang="en-US" altLang="en-US" dirty="0" err="1">
                <a:solidFill>
                  <a:srgbClr val="0070C0"/>
                </a:solidFill>
              </a:rPr>
              <a:t>Kết</a:t>
            </a:r>
            <a:r>
              <a:rPr lang="en-US" altLang="en-US" dirty="0">
                <a:solidFill>
                  <a:srgbClr val="0070C0"/>
                </a:solidFill>
              </a:rPr>
              <a:t> </a:t>
            </a:r>
            <a:r>
              <a:rPr lang="en-US" altLang="en-US" dirty="0" err="1">
                <a:solidFill>
                  <a:srgbClr val="0070C0"/>
                </a:solidFill>
              </a:rPr>
              <a:t>Luận</a:t>
            </a:r>
            <a:endParaRPr lang="en-US" altLang="en-US" dirty="0">
              <a:solidFill>
                <a:srgbClr val="0070C0"/>
              </a:solidFill>
            </a:endParaRPr>
          </a:p>
        </p:txBody>
      </p:sp>
      <p:sp>
        <p:nvSpPr>
          <p:cNvPr id="4" name="TextBox 3">
            <a:extLst>
              <a:ext uri="{FF2B5EF4-FFF2-40B4-BE49-F238E27FC236}">
                <a16:creationId xmlns:a16="http://schemas.microsoft.com/office/drawing/2014/main" id="{E28699C2-FB09-4CE2-AA89-A89C500BABC1}"/>
              </a:ext>
            </a:extLst>
          </p:cNvPr>
          <p:cNvSpPr txBox="1"/>
          <p:nvPr/>
        </p:nvSpPr>
        <p:spPr bwMode="auto">
          <a:xfrm>
            <a:off x="4455894" y="5455299"/>
            <a:ext cx="2854325" cy="769938"/>
          </a:xfrm>
          <a:prstGeom prst="rect">
            <a:avLst/>
          </a:prstGeom>
          <a:noFill/>
          <a:ln w="9525">
            <a:noFill/>
            <a:miter lim="800000"/>
            <a:headEnd/>
            <a:tailEnd/>
          </a:ln>
        </p:spPr>
        <p:txBody>
          <a:bodyPr wrap="none" anchor="b">
            <a:spAutoFit/>
          </a:bodyPr>
          <a:lstStyle/>
          <a:p>
            <a:pPr eaLnBrk="0" hangingPunct="0">
              <a:defRPr/>
            </a:pPr>
            <a:r>
              <a:rPr lang="en-US" sz="4400" kern="0" dirty="0">
                <a:solidFill>
                  <a:srgbClr val="FF0000"/>
                </a:solidFill>
                <a:latin typeface="Arial Rounded MT Bold" pitchFamily="34" charset="0"/>
                <a:ea typeface="+mj-ea"/>
                <a:cs typeface="+mj-cs"/>
              </a:rPr>
              <a:t>The  end !</a:t>
            </a:r>
          </a:p>
        </p:txBody>
      </p:sp>
      <p:sp>
        <p:nvSpPr>
          <p:cNvPr id="2" name="TextBox 1">
            <a:extLst>
              <a:ext uri="{FF2B5EF4-FFF2-40B4-BE49-F238E27FC236}">
                <a16:creationId xmlns:a16="http://schemas.microsoft.com/office/drawing/2014/main" id="{7DEA32A0-6A2B-4821-8CEE-210CD9E13118}"/>
              </a:ext>
            </a:extLst>
          </p:cNvPr>
          <p:cNvSpPr txBox="1"/>
          <p:nvPr/>
        </p:nvSpPr>
        <p:spPr>
          <a:xfrm>
            <a:off x="1402915" y="1720840"/>
            <a:ext cx="8960284" cy="4247317"/>
          </a:xfrm>
          <a:prstGeom prst="rect">
            <a:avLst/>
          </a:prstGeom>
          <a:noFill/>
        </p:spPr>
        <p:txBody>
          <a:bodyPr wrap="square" rtlCol="0">
            <a:spAutoFit/>
          </a:bodyPr>
          <a:lstStyle/>
          <a:p>
            <a:r>
              <a:rPr lang="en-US" dirty="0"/>
              <a:t>Link </a:t>
            </a:r>
            <a:r>
              <a:rPr lang="en-US" dirty="0" err="1"/>
              <a:t>tài</a:t>
            </a:r>
            <a:r>
              <a:rPr lang="en-US" dirty="0"/>
              <a:t> </a:t>
            </a:r>
            <a:r>
              <a:rPr lang="en-US" dirty="0" err="1"/>
              <a:t>liệu</a:t>
            </a:r>
            <a:r>
              <a:rPr lang="en-US" dirty="0"/>
              <a:t> </a:t>
            </a:r>
            <a:r>
              <a:rPr lang="en-US" dirty="0" err="1"/>
              <a:t>tham</a:t>
            </a:r>
            <a:r>
              <a:rPr lang="en-US" dirty="0"/>
              <a:t> </a:t>
            </a:r>
            <a:r>
              <a:rPr lang="en-US" dirty="0" err="1"/>
              <a:t>khảo</a:t>
            </a:r>
            <a:r>
              <a:rPr lang="en-US" dirty="0"/>
              <a:t>:</a:t>
            </a: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https://lttqstudy.wordpress.com/2012/04/19/qu%E1%BA%A3n-ly-b%E1%BB%99-nh%E1%BB%9B-tren-windows/</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https://rootbiez.blogspot.com/2009/08/system-info.html</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https://vimentor.com/vi/lesson/bo-nho-ao-virtual-memory</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http://www.cse.hcmut.edu.vn/~hiep/SlideHDH/Slides/Chuong05.pdf</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https://securitydaily.net/tim-hieu-ve-cau-truc-pe-file/</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http://www.conmaz.net/kien-thuc/kien-thuc-co-ban-ve-dinh-dang-file-thuc-thi-trong-dieu-hanh-windows-32bit-phan-1.html</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https://docs.microsoft.com/en-us/windows/desktop/debug/pe-format</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dirty="0">
                <a:solidFill>
                  <a:schemeClr val="tx1">
                    <a:lumMod val="95000"/>
                    <a:lumOff val="5000"/>
                  </a:schemeClr>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https://blog.kowalczyk.info/articles/pefileformat.html</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u="sng">
                <a:solidFill>
                  <a:schemeClr val="tx1">
                    <a:lumMod val="95000"/>
                    <a:lumOff val="5000"/>
                  </a:schemeClr>
                </a:solidFill>
                <a:latin typeface="Times New Roman" panose="02020603050405020304" pitchFamily="18" charset="0"/>
                <a:cs typeface="Times New Roman" panose="02020603050405020304" pitchFamily="18" charset="0"/>
              </a:rPr>
              <a:t>https://kienmanowar.wordpress.com/category/my-tutorials/tim-hieu-pe-file-qua-cac-vi-du-co-ban/</a:t>
            </a:r>
            <a:endParaRPr lang="en-US" u="sng"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dirty="0"/>
          </a:p>
          <a:p>
            <a:r>
              <a:rPr lang="en-US" dirty="0"/>
              <a:t>Và một </a:t>
            </a:r>
            <a:r>
              <a:rPr lang="en-US" dirty="0" err="1"/>
              <a:t>số</a:t>
            </a:r>
            <a:r>
              <a:rPr lang="en-US" dirty="0"/>
              <a:t> </a:t>
            </a:r>
            <a:r>
              <a:rPr lang="en-US" dirty="0" err="1"/>
              <a:t>tài</a:t>
            </a:r>
            <a:r>
              <a:rPr lang="en-US" dirty="0"/>
              <a:t> </a:t>
            </a:r>
            <a:r>
              <a:rPr lang="en-US" dirty="0" err="1"/>
              <a:t>liệu</a:t>
            </a:r>
            <a:r>
              <a:rPr lang="en-US" dirty="0"/>
              <a:t> </a:t>
            </a:r>
            <a:r>
              <a:rPr lang="en-US" dirty="0" err="1"/>
              <a:t>khác</a:t>
            </a:r>
            <a:endParaRPr lang="en-US" dirty="0"/>
          </a:p>
        </p:txBody>
      </p:sp>
      <p:sp>
        <p:nvSpPr>
          <p:cNvPr id="3" name="Slide Number Placeholder 2">
            <a:extLst>
              <a:ext uri="{FF2B5EF4-FFF2-40B4-BE49-F238E27FC236}">
                <a16:creationId xmlns:a16="http://schemas.microsoft.com/office/drawing/2014/main" id="{7C49599F-D926-4944-8158-4C9C29E2D145}"/>
              </a:ext>
            </a:extLst>
          </p:cNvPr>
          <p:cNvSpPr>
            <a:spLocks noGrp="1"/>
          </p:cNvSpPr>
          <p:nvPr>
            <p:ph type="sldNum" sz="quarter" idx="12"/>
          </p:nvPr>
        </p:nvSpPr>
        <p:spPr/>
        <p:txBody>
          <a:bodyPr/>
          <a:lstStyle/>
          <a:p>
            <a:fld id="{4FAB73BC-B049-4115-A692-8D63A059BFB8}" type="slidenum">
              <a:rPr lang="en-US" smtClean="0"/>
              <a:t>35</a:t>
            </a:fld>
            <a:endParaRPr lang="en-US" dirty="0"/>
          </a:p>
        </p:txBody>
      </p:sp>
    </p:spTree>
  </p:cSld>
  <p:clrMapOvr>
    <a:masterClrMapping/>
  </p:clrMapOvr>
  <p:transition spd="slow">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2791</Words>
  <Application>Microsoft Office PowerPoint</Application>
  <PresentationFormat>Widescreen</PresentationFormat>
  <Paragraphs>245</Paragraphs>
  <Slides>35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Arial Rounded MT Bold</vt:lpstr>
      <vt:lpstr>Calibri</vt:lpstr>
      <vt:lpstr>Rockwell</vt:lpstr>
      <vt:lpstr>Rockwell Condensed</vt:lpstr>
      <vt:lpstr>Rockwell Extra Bold</vt:lpstr>
      <vt:lpstr>Symbol</vt:lpstr>
      <vt:lpstr>Times New Roman</vt:lpstr>
      <vt:lpstr>Wingdings</vt:lpstr>
      <vt:lpstr>Wood Type</vt:lpstr>
      <vt:lpstr>PE File Format</vt:lpstr>
      <vt:lpstr>II.1: Giới thiệu PE File</vt:lpstr>
      <vt:lpstr>II.2: Cấu trúc cơ bản của PE File  II.2.1: Basic structure </vt:lpstr>
      <vt:lpstr>II.2 Cấu trúc cơ bản của PE File  II.2.1 Basic structure </vt:lpstr>
      <vt:lpstr> II.2.2 DOS header </vt:lpstr>
      <vt:lpstr>II.2.2 DOS header</vt:lpstr>
      <vt:lpstr>II.2.3 DOS STUB</vt:lpstr>
      <vt:lpstr>II.2.4 PE HEader</vt:lpstr>
      <vt:lpstr>II.2.4 PE HEader</vt:lpstr>
      <vt:lpstr>II.2.4.1 FILE_HEADER</vt:lpstr>
      <vt:lpstr>II.2.4.1 FILE_HEADER</vt:lpstr>
      <vt:lpstr>II.2.4.2 Optional Header</vt:lpstr>
      <vt:lpstr>II.2.4.2 Optional Header</vt:lpstr>
      <vt:lpstr>II.2.4.2 Optional Header</vt:lpstr>
      <vt:lpstr>II.2.4.2 Optional Header - Data Directories </vt:lpstr>
      <vt:lpstr>II.2.4.2 Optional Header - Data Directories</vt:lpstr>
      <vt:lpstr>II.2.5 Section Table</vt:lpstr>
      <vt:lpstr>II.2.5 Section Table</vt:lpstr>
      <vt:lpstr>II.2.6 File pE sections</vt:lpstr>
      <vt:lpstr>II.2.6 File pE sections</vt:lpstr>
      <vt:lpstr>II.2.6 File pE sections</vt:lpstr>
      <vt:lpstr>II.2.6 File pE sections</vt:lpstr>
      <vt:lpstr>II.2.6 File pE sections</vt:lpstr>
      <vt:lpstr>II.2.6 File pE sections</vt:lpstr>
      <vt:lpstr>II.2.6 File pE sections</vt:lpstr>
      <vt:lpstr>II.2.6 File pE sections</vt:lpstr>
      <vt:lpstr>PowerPoint Presentation</vt:lpstr>
      <vt:lpstr>PowerPoint Presentation</vt:lpstr>
      <vt:lpstr>PowerPoint Presentation</vt:lpstr>
      <vt:lpstr>PowerPoint Presentation</vt:lpstr>
      <vt:lpstr>PowerPoint Presentation</vt:lpstr>
      <vt:lpstr>II.4 Một số công thức chuyển đổi quan trọng</vt:lpstr>
      <vt:lpstr>II.5: Kết Luận</vt:lpstr>
      <vt:lpstr>PowerPoint Presentation</vt:lpstr>
      <vt:lpstr>III: Kết Luận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KHÔNG GIAN ĐỊA CHỈ VÀ PE Format file</dc:title>
  <dc:creator>Khai Trần Bá</dc:creator>
  <cp:lastModifiedBy>HieuLM</cp:lastModifiedBy>
  <cp:revision>16</cp:revision>
  <dcterms:created xsi:type="dcterms:W3CDTF">2019-04-24T15:23:38Z</dcterms:created>
  <dcterms:modified xsi:type="dcterms:W3CDTF">2024-11-08T04:12:57Z</dcterms:modified>
</cp:coreProperties>
</file>